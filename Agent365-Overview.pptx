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2913bae-b68a-e539-4414-37d92c4aa2e7}">
          <p14:sldIdLst>
            <p14:sldId id="256"/>
            <p14:sldId id="257"/>
            <p14:sldId id="258"/>
          </p14:sldIdLst>
        </p14:section>
        <p14:section name="Capabilities" id="{441698c3-9f10-c853-7db4-3b1fe3bf7a09}">
          <p14:sldIdLst>
            <p14:sldId id="259"/>
            <p14:sldId id="260"/>
            <p14:sldId id="261"/>
            <p14:sldId id="262"/>
            <p14:sldId id="263"/>
            <p14:sldId id="264"/>
            <p14:sldId id="265"/>
            <p14:sldId id="266"/>
            <p14:sldId id="267"/>
          </p14:sldIdLst>
        </p14:section>
        <p14:section name="Blueprints" id="{b73a6de2-f46b-574c-31a2-7b8564d7a059}">
          <p14:sldIdLst>
            <p14:sldId id="268"/>
            <p14:sldId id="269"/>
            <p14:sldId id="270"/>
            <p14:sldId id="271"/>
          </p14:sldIdLst>
        </p14:section>
        <p14:section name="Plan" id="{0728e4d1-7097-c98d-86b8-9bf928d4f9f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share what Microsoft Agent 365 is and what each capability in the Microsoft 365 admin center will give us. One slide per capability: what it is, what it brings us, and where to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365 extends the tools we already use for people (Microsoft 365 admin center, Entra, Purview, Defender) to AI agents, wherever they were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capabilities group into pillars: Observe (see every agent), Govern (control lifecycle and access), Secure (protect data and detect threats), Optimise and Extend.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dashboard. What it is: The landing page of Agent 365 in the Microsoft 365 admin center. It summarises the agent inventory, adoption, usage trends and governance status, and highlights items that need admin attention. What it brings: One view of health – how many agents we have, how many are active and which need attention. Early warning – spot rising adoption, risky or ownerless agents before they become problems. Easy reporting – ready-made numbers for leadership and governance boards. Where: Admin center › Agent 365 ›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registry. What it is: A single, tenant-wide inventory of all agents – Microsoft, Copilot Studio, third-party and custom. Each entry shows metadata, owner, capabilities, data sources, requested permissions, risk signals and usage. Copilot Studio agents register automatically. It replaced the Entra registry in 2026. What it brings: No more shadow AI – every agent is discovered and listed, regardless of where it was built. Accountability – ownerless agents (creator left) are flagged so we can reassign them. Risk at a glance – a Risks column brings high-severity Entra alerts per agent. Where: Admin center › Agent 365 › Agent 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Map. What it is: A visual map of the agents in our tenant, grouped by the platform they were built on. Filter by status, publisher type, platform, channel, data source or usage, then drill into an agent for ownership, configuration and activity. What it brings: Understand scale – make sense of hundreds of agents without reading long lists. Find patterns – see which platforms, channels and data sources are used most. Tell the story – a clear picture for stakeholders and security reviews. Where: Admin center › Agent 365 › Agent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Lifecycle governance. What it is: Admin actions on every agent from the registry: approve and publish, deploy and pin for users or groups, block, remove, delete and reassign ownership. Blocking stops users from installing or using the agent in Microsoft 365 experiences. What it brings: Only approved agents – users get agents we have reviewed and published. Fast response – block a risky or broken agent for everyone in one click. Continuity – reassign agents when owners change role or leave. Where: Admin center › Agent 365 › Agent registry › select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Entra Agent ID. What it is: Microsoft Entra gives each agent its own identity – like a user account for the agent. We can apply Conditional Access, risk-based access, least-privilege permissions, access reviews and sponsors/owners, and see sign-in logs. What it brings: Zero Trust for agents – the same identity controls we use for people. Least privilege – agents only reach the data and apps they really need. Clear audit trail – every agent sign-in and action is attributable. Where: Entra admin center › Agent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Purview data security. What it is: Microsoft Purview applies our existing data security and compliance to agents: sensitivity labels, data loss prevention, audit, data security posture for AI, retention and eDiscovery of agent interactions. What it brings: Stop oversharing – agents respect labels and DLP, so confidential data stays protected. Compliance ready – agent activity is audited and retained for regulators. Reuse what we have – no new policy set – we extend today's Purview policies. Where: Purview portal › DSPM for AI, DLP,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Defender threat protection. What it is: Microsoft Defender adds continuous threat detection and real-time protection for agents – for example prompt-injection attempts, unusual behaviour or a compromised agent – with incidents investigated in Defender XDR. What it brings: SOC visibility – agent threats appear next to user, device and email threats. Real-time protection – unsafe agent actions can be detected and blocked. Faster response – investigate and contain an agent like any other asset. Where: Defender portal › Incidents &amp; alerts, AI security posture.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Observability &amp; telemetry. What it is: Agent 365 collects telemetry on every agent – activity, usage, errors and performance. Agents built with the Agent 365 SDK send detailed traces, and the data feeds the registry, Agent Map and dashboard. What it brings: Prove ROI – see which agents are actually used and by whom. Fix issues quickly – error and health signals help makers and IT troubleshoot. Control cost – retire unused agents and invest in the ones that work. Where: Admin center › Agent 365 › Agent registry › agent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Interoperability (MCP &amp; SDK). What it is: Agent 365 is a control plane for agents however they are built or bought. Agentic tools expose MCP servers and SDKs for Outlook, Teams, SharePoint and business systems, so agents can act in Microsoft 365 under the same governance. What it brings: No lock-in – Copilot Studio, Foundry, third-party and custom agents are all governed. Agents in the flow of work – agents join Teams, mail and documents like a colleague. Consistent controls – one set of policies, whatever the agent was built with. Where: Agent 365 SDK &amp; MCP tools (developer), registry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blueprint is the template agents are created from. It holds the credentials, the permissions every child agent inherits, and the owners and sponsors. The blueprint principal is its presence in our tenant. Each agent identity is one agent created from the blueprint and points back to it. An agent user is optional, for agents that need a mailbox or Teams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Entra Agent ID is the identity and security layer. The Agent 365 registry is the inventory and governance layer. They are linked: each registry entry stores the blueprint ID, agent identity ID and agent user ID. Our tenant export on 11 October 2026 found no blueprints or agent identities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controls live on the blueprint. Inheritable permissions: approving them approves them for every agent created from the blueprint. Credentials are held by the blueprint. A sponsor is required when the blueprint is created. Conditional Access policies can target a blueprint, covering all of its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to apply as blueprints start appearing in our tenant. Before relying on disabling a blueprint as a kill switch in an incident, test what disabling does in our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Licensing and availability change quickly – sources differ between GA and Frontier preview wording. Validate with the current Microsoft licensing page before budgeting.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phased adoption. Phase 1 needs only the admin center; later phases bring in Entra, Purview and Defender owners.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four outcomes and open the floor for questions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768096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26080"/>
            <a:ext cx="7680960" cy="8229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02920"/>
            <a:ext cx="8229600"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6"/>
                </a:solidFill>
              </a:rPr>
              <a:t>Microsoft Agent 365  |  Capability overview</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3.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 circle large"/>
          <p:cNvSpPr/>
          <p:nvPr/>
        </p:nvSpPr>
        <p:spPr>
          <a:xfrm>
            <a:off x="6492240" y="-1097280"/>
            <a:ext cx="3840480" cy="3840480"/>
          </a:xfrm>
          <a:prstGeom prst="ellipse">
            <a:avLst/>
          </a:prstGeom>
          <a:solidFill>
            <a:schemeClr val="accent1">
              <a:alpha val="45000"/>
            </a:schemeClr>
          </a:solidFill>
          <a:ln/>
        </p:spPr>
      </p:sp>
      <p:sp>
        <p:nvSpPr>
          <p:cNvPr id="3" name="Deco circle small"/>
          <p:cNvSpPr/>
          <p:nvPr/>
        </p:nvSpPr>
        <p:spPr>
          <a:xfrm>
            <a:off x="7589520" y="3291840"/>
            <a:ext cx="2011680" cy="2011680"/>
          </a:xfrm>
          <a:prstGeom prst="ellipse">
            <a:avLst/>
          </a:prstGeom>
          <a:solidFill>
            <a:schemeClr val="accent2">
              <a:alpha val="50000"/>
            </a:schemeClr>
          </a:solidFill>
          <a:ln/>
        </p:spPr>
      </p:sp>
      <p:sp>
        <p:nvSpPr>
          <p:cNvPr id="4" name="Logo circle"/>
          <p:cNvSpPr/>
          <p:nvPr/>
        </p:nvSpPr>
        <p:spPr>
          <a:xfrm>
            <a:off x="548640" y="502920"/>
            <a:ext cx="685800" cy="685800"/>
          </a:xfrm>
          <a:prstGeom prst="ellipse">
            <a:avLst/>
          </a:prstGeom>
          <a:solidFill>
            <a:schemeClr val="accent1"/>
          </a:solidFill>
          <a:ln/>
        </p:spPr>
      </p:sp>
      <p:pic>
        <p:nvPicPr>
          <p:cNvPr id="5" name="Image 0" descr="Agent icon">    </p:cNvPr>
          <p:cNvPicPr>
            <a:picLocks noChangeAspect="1"/>
          </p:cNvPicPr>
          <p:nvPr/>
        </p:nvPicPr>
        <p:blipFill>
          <a:blip r:embed="rId1"/>
          <a:stretch>
            <a:fillRect/>
          </a:stretch>
        </p:blipFill>
        <p:spPr>
          <a:xfrm>
            <a:off x="685800" y="640080"/>
            <a:ext cx="411480" cy="411480"/>
          </a:xfrm>
          <a:prstGeom prst="rect">
            <a:avLst/>
          </a:prstGeom>
        </p:spPr>
      </p:pic>
      <p:sp>
        <p:nvSpPr>
          <p:cNvPr id="6" name="Text 0"/>
          <p:cNvSpPr/>
          <p:nvPr>
            <p:ph idx="100" type="title" hasCustomPrompt="1"/>
          </p:nvPr>
        </p:nvSpPr>
        <p:spPr>
          <a:xfrm>
            <a:off x="548640" y="1417320"/>
            <a:ext cx="7680960" cy="1371600"/>
          </a:xfrm>
          <a:prstGeom prst="rect">
            <a:avLst/>
          </a:prstGeom>
          <a:noFill/>
          <a:ln/>
        </p:spPr>
        <p:txBody>
          <a:bodyPr wrap="square" lIns="0" tIns="0" rIns="0" bIns="0" rtlCol="0" anchor="b"/>
          <a:lstStyle/>
          <a:p>
            <a:pPr algn="l" indent="0" marL="0">
              <a:buNone/>
            </a:pPr>
            <a:r>
              <a:rPr lang="en-US" sz="4000" b="1" dirty="0">
                <a:solidFill>
                  <a:schemeClr val="bg1"/>
                </a:solidFill>
              </a:rPr>
              <a:t>Microsoft Agent 365</a:t>
            </a:r>
            <a:endParaRPr lang="en-US" sz="4000" dirty="0"/>
          </a:p>
        </p:txBody>
      </p:sp>
      <p:sp>
        <p:nvSpPr>
          <p:cNvPr id="7" name="Text 0"/>
          <p:cNvSpPr/>
          <p:nvPr>
            <p:ph idx="101" type="body" hasCustomPrompt="1"/>
          </p:nvPr>
        </p:nvSpPr>
        <p:spPr>
          <a:xfrm>
            <a:off x="548640" y="2926080"/>
            <a:ext cx="7680960" cy="822960"/>
          </a:xfrm>
          <a:prstGeom prst="rect">
            <a:avLst/>
          </a:prstGeom>
          <a:noFill/>
          <a:ln/>
        </p:spPr>
        <p:txBody>
          <a:bodyPr wrap="square" lIns="0" tIns="0" rIns="0" bIns="0" rtlCol="0" anchor="t"/>
          <a:lstStyle/>
          <a:p>
            <a:pPr algn="l" indent="0" marL="0">
              <a:buNone/>
            </a:pPr>
            <a:r>
              <a:rPr lang="en-US" sz="1800" dirty="0">
                <a:solidFill>
                  <a:schemeClr val="bg2"/>
                </a:solidFill>
              </a:rPr>
              <a:t>The control plane for AI agents – what it is, and what it brings to our organisation</a:t>
            </a:r>
            <a:endParaRPr lang="en-US" sz="1800" dirty="0"/>
          </a:p>
        </p:txBody>
      </p:sp>
      <p:sp>
        <p:nvSpPr>
          <p:cNvPr id="8" name="Text 5"/>
          <p:cNvSpPr txBox="1"/>
          <p:nvPr/>
        </p:nvSpPr>
        <p:spPr>
          <a:xfrm>
            <a:off x="548640" y="4343400"/>
            <a:ext cx="7315200" cy="274320"/>
          </a:xfrm>
          <a:prstGeom prst="rect">
            <a:avLst/>
          </a:prstGeom>
          <a:noFill/>
          <a:ln/>
        </p:spPr>
        <p:txBody>
          <a:bodyPr wrap="square" lIns="0" tIns="0" rIns="0" bIns="0" rtlCol="0" anchor="ctr"/>
          <a:lstStyle/>
          <a:p>
            <a:pPr indent="0" marL="0">
              <a:buNone/>
            </a:pPr>
            <a:r>
              <a:rPr lang="en-US" sz="1100" dirty="0">
                <a:solidFill>
                  <a:schemeClr val="accent6"/>
                </a:solidFill>
              </a:rPr>
              <a:t>Study &amp; planning deck  •  Based on the Agent 365 area of the Microsoft 365 admin center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Why Agent 365: agents are the new workforce</a:t>
            </a:r>
            <a:endParaRPr lang="en-US" sz="2800" dirty="0"/>
          </a:p>
        </p:txBody>
      </p:sp>
      <p:sp>
        <p:nvSpPr>
          <p:cNvPr id="3" name="Text 1"/>
          <p:cNvSpPr txBox="1"/>
          <p:nvPr/>
        </p:nvSpPr>
        <p:spPr>
          <a:xfrm>
            <a:off x="457200" y="1188720"/>
            <a:ext cx="8229600" cy="548640"/>
          </a:xfrm>
          <a:prstGeom prst="rect">
            <a:avLst/>
          </a:prstGeom>
          <a:noFill/>
          <a:ln/>
        </p:spPr>
        <p:txBody>
          <a:bodyPr wrap="square" lIns="0" tIns="0" rIns="0" bIns="0" rtlCol="0" anchor="ctr"/>
          <a:lstStyle/>
          <a:p>
            <a:pPr indent="0" marL="0">
              <a:buNone/>
            </a:pPr>
            <a:r>
              <a:rPr lang="en-US" sz="1400" dirty="0">
                <a:solidFill>
                  <a:schemeClr val="tx1"/>
                </a:solidFill>
              </a:rPr>
              <a:t>Agents are being built everywhere – Copilot Studio, Microsoft Foundry, third-party SaaS and custom code. Without a control plane we can't answer three basic questions:</a:t>
            </a:r>
            <a:endParaRPr lang="en-US" sz="1400" dirty="0"/>
          </a:p>
        </p:txBody>
      </p:sp>
      <p:sp>
        <p:nvSpPr>
          <p:cNvPr id="4" name="Question card 1"/>
          <p:cNvSpPr/>
          <p:nvPr/>
        </p:nvSpPr>
        <p:spPr>
          <a:xfrm>
            <a:off x="457200" y="1874520"/>
            <a:ext cx="2596896" cy="1874520"/>
          </a:xfrm>
          <a:prstGeom prst="roundRect">
            <a:avLst>
              <a:gd name="adj" fmla="val 5854"/>
            </a:avLst>
          </a:prstGeom>
          <a:solidFill>
            <a:schemeClr val="bg2"/>
          </a:solidFill>
          <a:ln/>
        </p:spPr>
      </p:sp>
      <p:sp>
        <p:nvSpPr>
          <p:cNvPr id="5" name="Question icon bg 1"/>
          <p:cNvSpPr/>
          <p:nvPr/>
        </p:nvSpPr>
        <p:spPr>
          <a:xfrm>
            <a:off x="685800" y="2075688"/>
            <a:ext cx="502920" cy="502920"/>
          </a:xfrm>
          <a:prstGeom prst="ellipse">
            <a:avLst/>
          </a:prstGeom>
          <a:solidFill>
            <a:schemeClr val="accent4"/>
          </a:solidFill>
          <a:ln/>
        </p:spPr>
      </p:sp>
      <p:pic>
        <p:nvPicPr>
          <p:cNvPr id="6" name="Image 0" descr="Who owns it?">    </p:cNvPr>
          <p:cNvPicPr>
            <a:picLocks noChangeAspect="1"/>
          </p:cNvPicPr>
          <p:nvPr/>
        </p:nvPicPr>
        <p:blipFill>
          <a:blip r:embed="rId1"/>
          <a:stretch>
            <a:fillRect/>
          </a:stretch>
        </p:blipFill>
        <p:spPr>
          <a:xfrm>
            <a:off x="795528" y="2185416"/>
            <a:ext cx="283464" cy="283464"/>
          </a:xfrm>
          <a:prstGeom prst="rect">
            <a:avLst/>
          </a:prstGeom>
        </p:spPr>
      </p:pic>
      <p:sp>
        <p:nvSpPr>
          <p:cNvPr id="7" name="Text 4"/>
          <p:cNvSpPr txBox="1"/>
          <p:nvPr/>
        </p:nvSpPr>
        <p:spPr>
          <a:xfrm>
            <a:off x="685800" y="2697480"/>
            <a:ext cx="2194560" cy="320040"/>
          </a:xfrm>
          <a:prstGeom prst="rect">
            <a:avLst/>
          </a:prstGeom>
          <a:noFill/>
          <a:ln/>
        </p:spPr>
        <p:txBody>
          <a:bodyPr wrap="square" lIns="0" tIns="0" rIns="0" bIns="0" rtlCol="0" anchor="ctr"/>
          <a:lstStyle/>
          <a:p>
            <a:pPr indent="0" marL="0">
              <a:buNone/>
            </a:pPr>
            <a:r>
              <a:rPr lang="en-US" sz="1500" b="1" dirty="0">
                <a:solidFill>
                  <a:schemeClr val="tx2"/>
                </a:solidFill>
              </a:rPr>
              <a:t>Who owns it?</a:t>
            </a:r>
            <a:endParaRPr lang="en-US" sz="1500" dirty="0"/>
          </a:p>
        </p:txBody>
      </p:sp>
      <p:sp>
        <p:nvSpPr>
          <p:cNvPr id="8" name="Text 5"/>
          <p:cNvSpPr txBox="1"/>
          <p:nvPr/>
        </p:nvSpPr>
        <p:spPr>
          <a:xfrm>
            <a:off x="685800" y="3035808"/>
            <a:ext cx="2194560" cy="640080"/>
          </a:xfrm>
          <a:prstGeom prst="rect">
            <a:avLst/>
          </a:prstGeom>
          <a:noFill/>
          <a:ln/>
        </p:spPr>
        <p:txBody>
          <a:bodyPr wrap="square" lIns="0" tIns="0" rIns="0" bIns="0" rtlCol="0" anchor="t"/>
          <a:lstStyle/>
          <a:p>
            <a:pPr indent="0" marL="0">
              <a:buNone/>
            </a:pPr>
            <a:r>
              <a:rPr lang="en-US" sz="1200" dirty="0">
                <a:solidFill>
                  <a:schemeClr val="tx1"/>
                </a:solidFill>
              </a:rPr>
              <a:t>Agents appear in many tools; owners leave and agents become orphaned.</a:t>
            </a:r>
            <a:endParaRPr lang="en-US" sz="1200" dirty="0"/>
          </a:p>
        </p:txBody>
      </p:sp>
      <p:sp>
        <p:nvSpPr>
          <p:cNvPr id="9" name="Question card 2"/>
          <p:cNvSpPr/>
          <p:nvPr/>
        </p:nvSpPr>
        <p:spPr>
          <a:xfrm>
            <a:off x="3273552" y="1874520"/>
            <a:ext cx="2596896" cy="1874520"/>
          </a:xfrm>
          <a:prstGeom prst="roundRect">
            <a:avLst>
              <a:gd name="adj" fmla="val 5854"/>
            </a:avLst>
          </a:prstGeom>
          <a:solidFill>
            <a:schemeClr val="bg2"/>
          </a:solidFill>
          <a:ln/>
        </p:spPr>
      </p:sp>
      <p:sp>
        <p:nvSpPr>
          <p:cNvPr id="10" name="Question icon bg 2"/>
          <p:cNvSpPr/>
          <p:nvPr/>
        </p:nvSpPr>
        <p:spPr>
          <a:xfrm>
            <a:off x="3502152" y="2075688"/>
            <a:ext cx="502920" cy="502920"/>
          </a:xfrm>
          <a:prstGeom prst="ellipse">
            <a:avLst/>
          </a:prstGeom>
          <a:solidFill>
            <a:schemeClr val="accent4"/>
          </a:solidFill>
          <a:ln/>
        </p:spPr>
      </p:sp>
      <p:pic>
        <p:nvPicPr>
          <p:cNvPr id="11" name="Image 1" descr="What can it access?">    </p:cNvPr>
          <p:cNvPicPr>
            <a:picLocks noChangeAspect="1"/>
          </p:cNvPicPr>
          <p:nvPr/>
        </p:nvPicPr>
        <p:blipFill>
          <a:blip r:embed="rId2"/>
          <a:stretch>
            <a:fillRect/>
          </a:stretch>
        </p:blipFill>
        <p:spPr>
          <a:xfrm>
            <a:off x="3611880" y="2185416"/>
            <a:ext cx="283464" cy="283464"/>
          </a:xfrm>
          <a:prstGeom prst="rect">
            <a:avLst/>
          </a:prstGeom>
        </p:spPr>
      </p:pic>
      <p:sp>
        <p:nvSpPr>
          <p:cNvPr id="12" name="Text 8"/>
          <p:cNvSpPr txBox="1"/>
          <p:nvPr/>
        </p:nvSpPr>
        <p:spPr>
          <a:xfrm>
            <a:off x="3502152" y="2697480"/>
            <a:ext cx="2194560" cy="320040"/>
          </a:xfrm>
          <a:prstGeom prst="rect">
            <a:avLst/>
          </a:prstGeom>
          <a:noFill/>
          <a:ln/>
        </p:spPr>
        <p:txBody>
          <a:bodyPr wrap="square" lIns="0" tIns="0" rIns="0" bIns="0" rtlCol="0" anchor="ctr"/>
          <a:lstStyle/>
          <a:p>
            <a:pPr indent="0" marL="0">
              <a:buNone/>
            </a:pPr>
            <a:r>
              <a:rPr lang="en-US" sz="1500" b="1" dirty="0">
                <a:solidFill>
                  <a:schemeClr val="tx2"/>
                </a:solidFill>
              </a:rPr>
              <a:t>What can it access?</a:t>
            </a:r>
            <a:endParaRPr lang="en-US" sz="1500" dirty="0"/>
          </a:p>
        </p:txBody>
      </p:sp>
      <p:sp>
        <p:nvSpPr>
          <p:cNvPr id="13" name="Text 9"/>
          <p:cNvSpPr txBox="1"/>
          <p:nvPr/>
        </p:nvSpPr>
        <p:spPr>
          <a:xfrm>
            <a:off x="3502152" y="3035808"/>
            <a:ext cx="2194560" cy="640080"/>
          </a:xfrm>
          <a:prstGeom prst="rect">
            <a:avLst/>
          </a:prstGeom>
          <a:noFill/>
          <a:ln/>
        </p:spPr>
        <p:txBody>
          <a:bodyPr wrap="square" lIns="0" tIns="0" rIns="0" bIns="0" rtlCol="0" anchor="t"/>
          <a:lstStyle/>
          <a:p>
            <a:pPr indent="0" marL="0">
              <a:buNone/>
            </a:pPr>
            <a:r>
              <a:rPr lang="en-US" sz="1200" dirty="0">
                <a:solidFill>
                  <a:schemeClr val="tx1"/>
                </a:solidFill>
              </a:rPr>
              <a:t>Agents read mail, files and business data – often with broad permissions.</a:t>
            </a:r>
            <a:endParaRPr lang="en-US" sz="1200" dirty="0"/>
          </a:p>
        </p:txBody>
      </p:sp>
      <p:sp>
        <p:nvSpPr>
          <p:cNvPr id="14" name="Question card 3"/>
          <p:cNvSpPr/>
          <p:nvPr/>
        </p:nvSpPr>
        <p:spPr>
          <a:xfrm>
            <a:off x="6089904" y="1874520"/>
            <a:ext cx="2596896" cy="1874520"/>
          </a:xfrm>
          <a:prstGeom prst="roundRect">
            <a:avLst>
              <a:gd name="adj" fmla="val 5854"/>
            </a:avLst>
          </a:prstGeom>
          <a:solidFill>
            <a:schemeClr val="bg2"/>
          </a:solidFill>
          <a:ln/>
        </p:spPr>
      </p:sp>
      <p:sp>
        <p:nvSpPr>
          <p:cNvPr id="15" name="Question icon bg 3"/>
          <p:cNvSpPr/>
          <p:nvPr/>
        </p:nvSpPr>
        <p:spPr>
          <a:xfrm>
            <a:off x="6318504" y="2075688"/>
            <a:ext cx="502920" cy="502920"/>
          </a:xfrm>
          <a:prstGeom prst="ellipse">
            <a:avLst/>
          </a:prstGeom>
          <a:solidFill>
            <a:schemeClr val="accent4"/>
          </a:solidFill>
          <a:ln/>
        </p:spPr>
      </p:sp>
      <p:pic>
        <p:nvPicPr>
          <p:cNvPr id="16" name="Image 2" descr="Is it safe and worth it?">    </p:cNvPr>
          <p:cNvPicPr>
            <a:picLocks noChangeAspect="1"/>
          </p:cNvPicPr>
          <p:nvPr/>
        </p:nvPicPr>
        <p:blipFill>
          <a:blip r:embed="rId3"/>
          <a:stretch>
            <a:fillRect/>
          </a:stretch>
        </p:blipFill>
        <p:spPr>
          <a:xfrm>
            <a:off x="6428232" y="2185416"/>
            <a:ext cx="283464" cy="283464"/>
          </a:xfrm>
          <a:prstGeom prst="rect">
            <a:avLst/>
          </a:prstGeom>
        </p:spPr>
      </p:pic>
      <p:sp>
        <p:nvSpPr>
          <p:cNvPr id="17" name="Text 12"/>
          <p:cNvSpPr txBox="1"/>
          <p:nvPr/>
        </p:nvSpPr>
        <p:spPr>
          <a:xfrm>
            <a:off x="6318504" y="2697480"/>
            <a:ext cx="2194560" cy="320040"/>
          </a:xfrm>
          <a:prstGeom prst="rect">
            <a:avLst/>
          </a:prstGeom>
          <a:noFill/>
          <a:ln/>
        </p:spPr>
        <p:txBody>
          <a:bodyPr wrap="square" lIns="0" tIns="0" rIns="0" bIns="0" rtlCol="0" anchor="ctr"/>
          <a:lstStyle/>
          <a:p>
            <a:pPr indent="0" marL="0">
              <a:buNone/>
            </a:pPr>
            <a:r>
              <a:rPr lang="en-US" sz="1500" b="1" dirty="0">
                <a:solidFill>
                  <a:schemeClr val="tx2"/>
                </a:solidFill>
              </a:rPr>
              <a:t>Is it safe and worth it?</a:t>
            </a:r>
            <a:endParaRPr lang="en-US" sz="1500" dirty="0"/>
          </a:p>
        </p:txBody>
      </p:sp>
      <p:sp>
        <p:nvSpPr>
          <p:cNvPr id="18" name="Text 13"/>
          <p:cNvSpPr txBox="1"/>
          <p:nvPr/>
        </p:nvSpPr>
        <p:spPr>
          <a:xfrm>
            <a:off x="6318504" y="3035808"/>
            <a:ext cx="2194560" cy="640080"/>
          </a:xfrm>
          <a:prstGeom prst="rect">
            <a:avLst/>
          </a:prstGeom>
          <a:noFill/>
          <a:ln/>
        </p:spPr>
        <p:txBody>
          <a:bodyPr wrap="square" lIns="0" tIns="0" rIns="0" bIns="0" rtlCol="0" anchor="t"/>
          <a:lstStyle/>
          <a:p>
            <a:pPr indent="0" marL="0">
              <a:buNone/>
            </a:pPr>
            <a:r>
              <a:rPr lang="en-US" sz="1200" dirty="0">
                <a:solidFill>
                  <a:schemeClr val="tx1"/>
                </a:solidFill>
              </a:rPr>
              <a:t>No common view of risk, usage, errors or business value.</a:t>
            </a:r>
            <a:endParaRPr lang="en-US" sz="1200" dirty="0"/>
          </a:p>
        </p:txBody>
      </p:sp>
      <p:sp>
        <p:nvSpPr>
          <p:cNvPr id="19" name="Answer banner"/>
          <p:cNvSpPr/>
          <p:nvPr/>
        </p:nvSpPr>
        <p:spPr>
          <a:xfrm>
            <a:off x="457200" y="3931920"/>
            <a:ext cx="8229600" cy="640080"/>
          </a:xfrm>
          <a:prstGeom prst="roundRect">
            <a:avLst>
              <a:gd name="adj" fmla="val 14286"/>
            </a:avLst>
          </a:prstGeom>
          <a:solidFill>
            <a:schemeClr val="tx2"/>
          </a:solidFill>
          <a:ln/>
        </p:spPr>
      </p:sp>
      <p:sp>
        <p:nvSpPr>
          <p:cNvPr id="20" name="Text 15"/>
          <p:cNvSpPr txBox="1"/>
          <p:nvPr/>
        </p:nvSpPr>
        <p:spPr>
          <a:xfrm>
            <a:off x="685800" y="3931920"/>
            <a:ext cx="7772400" cy="640080"/>
          </a:xfrm>
          <a:prstGeom prst="rect">
            <a:avLst/>
          </a:prstGeom>
          <a:noFill/>
          <a:ln/>
        </p:spPr>
        <p:txBody>
          <a:bodyPr wrap="square" lIns="0" tIns="0" rIns="0" bIns="0" rtlCol="0" anchor="ctr"/>
          <a:lstStyle/>
          <a:p>
            <a:pPr indent="0" marL="0">
              <a:buNone/>
            </a:pPr>
            <a:r>
              <a:rPr lang="en-US" sz="1400" b="1" dirty="0">
                <a:solidFill>
                  <a:schemeClr val="bg1"/>
                </a:solidFill>
              </a:rPr>
              <a:t>Agent 365 answers them: </a:t>
            </a:r>
            <a:pPr indent="0" marL="0">
              <a:buNone/>
            </a:pPr>
            <a:r>
              <a:rPr lang="en-US" sz="1400" dirty="0">
                <a:solidFill>
                  <a:schemeClr val="bg2"/>
                </a:solidFill>
              </a:rPr>
              <a:t>manage agents the way we already manage users – one registry, an identity, access control, data protection and threat protection.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What we will cover: nine capabilities</a:t>
            </a:r>
            <a:endParaRPr lang="en-US" sz="2800" dirty="0"/>
          </a:p>
        </p:txBody>
      </p:sp>
      <p:sp>
        <p:nvSpPr>
          <p:cNvPr id="3" name="Capability 1"/>
          <p:cNvSpPr/>
          <p:nvPr/>
        </p:nvSpPr>
        <p:spPr>
          <a:xfrm>
            <a:off x="457200" y="1280160"/>
            <a:ext cx="2596896" cy="960120"/>
          </a:xfrm>
          <a:prstGeom prst="roundRect">
            <a:avLst>
              <a:gd name="adj" fmla="val 9524"/>
            </a:avLst>
          </a:prstGeom>
          <a:solidFill>
            <a:schemeClr val="bg2"/>
          </a:solidFill>
          <a:ln/>
        </p:spPr>
      </p:sp>
      <p:sp>
        <p:nvSpPr>
          <p:cNvPr id="4" name="Capability icon bg 1"/>
          <p:cNvSpPr/>
          <p:nvPr/>
        </p:nvSpPr>
        <p:spPr>
          <a:xfrm>
            <a:off x="640080" y="1508760"/>
            <a:ext cx="502920" cy="502920"/>
          </a:xfrm>
          <a:prstGeom prst="ellipse">
            <a:avLst/>
          </a:prstGeom>
          <a:solidFill>
            <a:schemeClr val="accent1"/>
          </a:solidFill>
          <a:ln/>
        </p:spPr>
      </p:sp>
      <p:pic>
        <p:nvPicPr>
          <p:cNvPr id="5" name="Image 0" descr="Overview dashboard">    </p:cNvPr>
          <p:cNvPicPr>
            <a:picLocks noChangeAspect="1"/>
          </p:cNvPicPr>
          <p:nvPr/>
        </p:nvPicPr>
        <p:blipFill>
          <a:blip r:embed="rId1"/>
          <a:stretch>
            <a:fillRect/>
          </a:stretch>
        </p:blipFill>
        <p:spPr>
          <a:xfrm>
            <a:off x="749808" y="1618488"/>
            <a:ext cx="283464" cy="283464"/>
          </a:xfrm>
          <a:prstGeom prst="rect">
            <a:avLst/>
          </a:prstGeom>
        </p:spPr>
      </p:pic>
      <p:sp>
        <p:nvSpPr>
          <p:cNvPr id="6" name="Text 3"/>
          <p:cNvSpPr txBox="1"/>
          <p:nvPr/>
        </p:nvSpPr>
        <p:spPr>
          <a:xfrm>
            <a:off x="1280160" y="1481328"/>
            <a:ext cx="1645920" cy="201168"/>
          </a:xfrm>
          <a:prstGeom prst="rect">
            <a:avLst/>
          </a:prstGeom>
          <a:noFill/>
          <a:ln/>
        </p:spPr>
        <p:txBody>
          <a:bodyPr wrap="square" lIns="0" tIns="0" rIns="0" bIns="0" rtlCol="0" anchor="ctr"/>
          <a:lstStyle/>
          <a:p>
            <a:pPr indent="0" marL="0">
              <a:buNone/>
            </a:pPr>
            <a:r>
              <a:rPr lang="en-US" sz="1000" b="1" spc="200" kern="0" dirty="0">
                <a:solidFill>
                  <a:schemeClr val="accent1"/>
                </a:solidFill>
              </a:rPr>
              <a:t>OBSERVE</a:t>
            </a:r>
            <a:endParaRPr lang="en-US" sz="1000" dirty="0"/>
          </a:p>
        </p:txBody>
      </p:sp>
      <p:sp>
        <p:nvSpPr>
          <p:cNvPr id="7" name="Text 4"/>
          <p:cNvSpPr txBox="1"/>
          <p:nvPr/>
        </p:nvSpPr>
        <p:spPr>
          <a:xfrm>
            <a:off x="1280160" y="1691640"/>
            <a:ext cx="1691640" cy="411480"/>
          </a:xfrm>
          <a:prstGeom prst="rect">
            <a:avLst/>
          </a:prstGeom>
          <a:noFill/>
          <a:ln/>
        </p:spPr>
        <p:txBody>
          <a:bodyPr wrap="square" lIns="0" tIns="0" rIns="0" bIns="0" rtlCol="0" anchor="t"/>
          <a:lstStyle/>
          <a:p>
            <a:pPr indent="0" marL="0">
              <a:buNone/>
            </a:pPr>
            <a:r>
              <a:rPr lang="en-US" sz="1300" b="1" dirty="0">
                <a:solidFill>
                  <a:schemeClr val="tx2"/>
                </a:solidFill>
              </a:rPr>
              <a:t>1. Overview dashboard</a:t>
            </a:r>
            <a:endParaRPr lang="en-US" sz="1300" dirty="0"/>
          </a:p>
        </p:txBody>
      </p:sp>
      <p:sp>
        <p:nvSpPr>
          <p:cNvPr id="8" name="Capability 2"/>
          <p:cNvSpPr/>
          <p:nvPr/>
        </p:nvSpPr>
        <p:spPr>
          <a:xfrm>
            <a:off x="3273552" y="1280160"/>
            <a:ext cx="2596896" cy="960120"/>
          </a:xfrm>
          <a:prstGeom prst="roundRect">
            <a:avLst>
              <a:gd name="adj" fmla="val 9524"/>
            </a:avLst>
          </a:prstGeom>
          <a:solidFill>
            <a:schemeClr val="bg2"/>
          </a:solidFill>
          <a:ln/>
        </p:spPr>
      </p:sp>
      <p:sp>
        <p:nvSpPr>
          <p:cNvPr id="9" name="Capability icon bg 2"/>
          <p:cNvSpPr/>
          <p:nvPr/>
        </p:nvSpPr>
        <p:spPr>
          <a:xfrm>
            <a:off x="3456432" y="1508760"/>
            <a:ext cx="502920" cy="502920"/>
          </a:xfrm>
          <a:prstGeom prst="ellipse">
            <a:avLst/>
          </a:prstGeom>
          <a:solidFill>
            <a:schemeClr val="accent1"/>
          </a:solidFill>
          <a:ln/>
        </p:spPr>
      </p:sp>
      <p:pic>
        <p:nvPicPr>
          <p:cNvPr id="10" name="Image 1" descr="Agent registry">    </p:cNvPr>
          <p:cNvPicPr>
            <a:picLocks noChangeAspect="1"/>
          </p:cNvPicPr>
          <p:nvPr/>
        </p:nvPicPr>
        <p:blipFill>
          <a:blip r:embed="rId2"/>
          <a:stretch>
            <a:fillRect/>
          </a:stretch>
        </p:blipFill>
        <p:spPr>
          <a:xfrm>
            <a:off x="3566160" y="1618488"/>
            <a:ext cx="283464" cy="283464"/>
          </a:xfrm>
          <a:prstGeom prst="rect">
            <a:avLst/>
          </a:prstGeom>
        </p:spPr>
      </p:pic>
      <p:sp>
        <p:nvSpPr>
          <p:cNvPr id="11" name="Text 7"/>
          <p:cNvSpPr txBox="1"/>
          <p:nvPr/>
        </p:nvSpPr>
        <p:spPr>
          <a:xfrm>
            <a:off x="4096512" y="1481328"/>
            <a:ext cx="1645920" cy="201168"/>
          </a:xfrm>
          <a:prstGeom prst="rect">
            <a:avLst/>
          </a:prstGeom>
          <a:noFill/>
          <a:ln/>
        </p:spPr>
        <p:txBody>
          <a:bodyPr wrap="square" lIns="0" tIns="0" rIns="0" bIns="0" rtlCol="0" anchor="ctr"/>
          <a:lstStyle/>
          <a:p>
            <a:pPr indent="0" marL="0">
              <a:buNone/>
            </a:pPr>
            <a:r>
              <a:rPr lang="en-US" sz="1000" b="1" spc="200" kern="0" dirty="0">
                <a:solidFill>
                  <a:schemeClr val="accent1"/>
                </a:solidFill>
              </a:rPr>
              <a:t>OBSERVE</a:t>
            </a:r>
            <a:endParaRPr lang="en-US" sz="1000" dirty="0"/>
          </a:p>
        </p:txBody>
      </p:sp>
      <p:sp>
        <p:nvSpPr>
          <p:cNvPr id="12" name="Text 8"/>
          <p:cNvSpPr txBox="1"/>
          <p:nvPr/>
        </p:nvSpPr>
        <p:spPr>
          <a:xfrm>
            <a:off x="4096512" y="1691640"/>
            <a:ext cx="1691640" cy="411480"/>
          </a:xfrm>
          <a:prstGeom prst="rect">
            <a:avLst/>
          </a:prstGeom>
          <a:noFill/>
          <a:ln/>
        </p:spPr>
        <p:txBody>
          <a:bodyPr wrap="square" lIns="0" tIns="0" rIns="0" bIns="0" rtlCol="0" anchor="t"/>
          <a:lstStyle/>
          <a:p>
            <a:pPr indent="0" marL="0">
              <a:buNone/>
            </a:pPr>
            <a:r>
              <a:rPr lang="en-US" sz="1300" b="1" dirty="0">
                <a:solidFill>
                  <a:schemeClr val="tx2"/>
                </a:solidFill>
              </a:rPr>
              <a:t>2. Agent registry</a:t>
            </a:r>
            <a:endParaRPr lang="en-US" sz="1300" dirty="0"/>
          </a:p>
        </p:txBody>
      </p:sp>
      <p:sp>
        <p:nvSpPr>
          <p:cNvPr id="13" name="Capability 3"/>
          <p:cNvSpPr/>
          <p:nvPr/>
        </p:nvSpPr>
        <p:spPr>
          <a:xfrm>
            <a:off x="6089904" y="1280160"/>
            <a:ext cx="2596896" cy="960120"/>
          </a:xfrm>
          <a:prstGeom prst="roundRect">
            <a:avLst>
              <a:gd name="adj" fmla="val 9524"/>
            </a:avLst>
          </a:prstGeom>
          <a:solidFill>
            <a:schemeClr val="bg2"/>
          </a:solidFill>
          <a:ln/>
        </p:spPr>
      </p:sp>
      <p:sp>
        <p:nvSpPr>
          <p:cNvPr id="14" name="Capability icon bg 3"/>
          <p:cNvSpPr/>
          <p:nvPr/>
        </p:nvSpPr>
        <p:spPr>
          <a:xfrm>
            <a:off x="6272784" y="1508760"/>
            <a:ext cx="502920" cy="502920"/>
          </a:xfrm>
          <a:prstGeom prst="ellipse">
            <a:avLst/>
          </a:prstGeom>
          <a:solidFill>
            <a:schemeClr val="accent1"/>
          </a:solidFill>
          <a:ln/>
        </p:spPr>
      </p:sp>
      <p:pic>
        <p:nvPicPr>
          <p:cNvPr id="15" name="Image 2" descr="Agent Map">    </p:cNvPr>
          <p:cNvPicPr>
            <a:picLocks noChangeAspect="1"/>
          </p:cNvPicPr>
          <p:nvPr/>
        </p:nvPicPr>
        <p:blipFill>
          <a:blip r:embed="rId3"/>
          <a:stretch>
            <a:fillRect/>
          </a:stretch>
        </p:blipFill>
        <p:spPr>
          <a:xfrm>
            <a:off x="6382512" y="1618488"/>
            <a:ext cx="283464" cy="283464"/>
          </a:xfrm>
          <a:prstGeom prst="rect">
            <a:avLst/>
          </a:prstGeom>
        </p:spPr>
      </p:pic>
      <p:sp>
        <p:nvSpPr>
          <p:cNvPr id="16" name="Text 11"/>
          <p:cNvSpPr txBox="1"/>
          <p:nvPr/>
        </p:nvSpPr>
        <p:spPr>
          <a:xfrm>
            <a:off x="6912864" y="1481328"/>
            <a:ext cx="1645920" cy="201168"/>
          </a:xfrm>
          <a:prstGeom prst="rect">
            <a:avLst/>
          </a:prstGeom>
          <a:noFill/>
          <a:ln/>
        </p:spPr>
        <p:txBody>
          <a:bodyPr wrap="square" lIns="0" tIns="0" rIns="0" bIns="0" rtlCol="0" anchor="ctr"/>
          <a:lstStyle/>
          <a:p>
            <a:pPr indent="0" marL="0">
              <a:buNone/>
            </a:pPr>
            <a:r>
              <a:rPr lang="en-US" sz="1000" b="1" spc="200" kern="0" dirty="0">
                <a:solidFill>
                  <a:schemeClr val="accent1"/>
                </a:solidFill>
              </a:rPr>
              <a:t>OBSERVE</a:t>
            </a:r>
            <a:endParaRPr lang="en-US" sz="1000" dirty="0"/>
          </a:p>
        </p:txBody>
      </p:sp>
      <p:sp>
        <p:nvSpPr>
          <p:cNvPr id="17" name="Text 12"/>
          <p:cNvSpPr txBox="1"/>
          <p:nvPr/>
        </p:nvSpPr>
        <p:spPr>
          <a:xfrm>
            <a:off x="6912864" y="1691640"/>
            <a:ext cx="1691640" cy="411480"/>
          </a:xfrm>
          <a:prstGeom prst="rect">
            <a:avLst/>
          </a:prstGeom>
          <a:noFill/>
          <a:ln/>
        </p:spPr>
        <p:txBody>
          <a:bodyPr wrap="square" lIns="0" tIns="0" rIns="0" bIns="0" rtlCol="0" anchor="t"/>
          <a:lstStyle/>
          <a:p>
            <a:pPr indent="0" marL="0">
              <a:buNone/>
            </a:pPr>
            <a:r>
              <a:rPr lang="en-US" sz="1300" b="1" dirty="0">
                <a:solidFill>
                  <a:schemeClr val="tx2"/>
                </a:solidFill>
              </a:rPr>
              <a:t>3. Agent Map</a:t>
            </a:r>
            <a:endParaRPr lang="en-US" sz="1300" dirty="0"/>
          </a:p>
        </p:txBody>
      </p:sp>
      <p:sp>
        <p:nvSpPr>
          <p:cNvPr id="18" name="Capability 4"/>
          <p:cNvSpPr/>
          <p:nvPr/>
        </p:nvSpPr>
        <p:spPr>
          <a:xfrm>
            <a:off x="457200" y="2423160"/>
            <a:ext cx="2596896" cy="960120"/>
          </a:xfrm>
          <a:prstGeom prst="roundRect">
            <a:avLst>
              <a:gd name="adj" fmla="val 9524"/>
            </a:avLst>
          </a:prstGeom>
          <a:solidFill>
            <a:schemeClr val="bg2"/>
          </a:solidFill>
          <a:ln/>
        </p:spPr>
      </p:sp>
      <p:sp>
        <p:nvSpPr>
          <p:cNvPr id="19" name="Capability icon bg 4"/>
          <p:cNvSpPr/>
          <p:nvPr/>
        </p:nvSpPr>
        <p:spPr>
          <a:xfrm>
            <a:off x="640080" y="2651760"/>
            <a:ext cx="502920" cy="502920"/>
          </a:xfrm>
          <a:prstGeom prst="ellipse">
            <a:avLst/>
          </a:prstGeom>
          <a:solidFill>
            <a:schemeClr val="accent5"/>
          </a:solidFill>
          <a:ln/>
        </p:spPr>
      </p:sp>
      <p:pic>
        <p:nvPicPr>
          <p:cNvPr id="20" name="Image 3" descr="Lifecycle governance">    </p:cNvPr>
          <p:cNvPicPr>
            <a:picLocks noChangeAspect="1"/>
          </p:cNvPicPr>
          <p:nvPr/>
        </p:nvPicPr>
        <p:blipFill>
          <a:blip r:embed="rId4"/>
          <a:stretch>
            <a:fillRect/>
          </a:stretch>
        </p:blipFill>
        <p:spPr>
          <a:xfrm>
            <a:off x="749808" y="2761488"/>
            <a:ext cx="283464" cy="283464"/>
          </a:xfrm>
          <a:prstGeom prst="rect">
            <a:avLst/>
          </a:prstGeom>
        </p:spPr>
      </p:pic>
      <p:sp>
        <p:nvSpPr>
          <p:cNvPr id="21" name="Text 15"/>
          <p:cNvSpPr txBox="1"/>
          <p:nvPr/>
        </p:nvSpPr>
        <p:spPr>
          <a:xfrm>
            <a:off x="1280160" y="2624328"/>
            <a:ext cx="1645920" cy="201168"/>
          </a:xfrm>
          <a:prstGeom prst="rect">
            <a:avLst/>
          </a:prstGeom>
          <a:noFill/>
          <a:ln/>
        </p:spPr>
        <p:txBody>
          <a:bodyPr wrap="square" lIns="0" tIns="0" rIns="0" bIns="0" rtlCol="0" anchor="ctr"/>
          <a:lstStyle/>
          <a:p>
            <a:pPr indent="0" marL="0">
              <a:buNone/>
            </a:pPr>
            <a:r>
              <a:rPr lang="en-US" sz="1000" b="1" spc="200" kern="0" dirty="0">
                <a:solidFill>
                  <a:schemeClr val="accent5"/>
                </a:solidFill>
              </a:rPr>
              <a:t>GOVERN</a:t>
            </a:r>
            <a:endParaRPr lang="en-US" sz="1000" dirty="0"/>
          </a:p>
        </p:txBody>
      </p:sp>
      <p:sp>
        <p:nvSpPr>
          <p:cNvPr id="22" name="Text 16"/>
          <p:cNvSpPr txBox="1"/>
          <p:nvPr/>
        </p:nvSpPr>
        <p:spPr>
          <a:xfrm>
            <a:off x="1280160" y="2834640"/>
            <a:ext cx="1691640" cy="411480"/>
          </a:xfrm>
          <a:prstGeom prst="rect">
            <a:avLst/>
          </a:prstGeom>
          <a:noFill/>
          <a:ln/>
        </p:spPr>
        <p:txBody>
          <a:bodyPr wrap="square" lIns="0" tIns="0" rIns="0" bIns="0" rtlCol="0" anchor="t"/>
          <a:lstStyle/>
          <a:p>
            <a:pPr indent="0" marL="0">
              <a:buNone/>
            </a:pPr>
            <a:r>
              <a:rPr lang="en-US" sz="1300" b="1" dirty="0">
                <a:solidFill>
                  <a:schemeClr val="tx2"/>
                </a:solidFill>
              </a:rPr>
              <a:t>4. Lifecycle governance</a:t>
            </a:r>
            <a:endParaRPr lang="en-US" sz="1300" dirty="0"/>
          </a:p>
        </p:txBody>
      </p:sp>
      <p:sp>
        <p:nvSpPr>
          <p:cNvPr id="23" name="Capability 5"/>
          <p:cNvSpPr/>
          <p:nvPr/>
        </p:nvSpPr>
        <p:spPr>
          <a:xfrm>
            <a:off x="3273552" y="2423160"/>
            <a:ext cx="2596896" cy="960120"/>
          </a:xfrm>
          <a:prstGeom prst="roundRect">
            <a:avLst>
              <a:gd name="adj" fmla="val 9524"/>
            </a:avLst>
          </a:prstGeom>
          <a:solidFill>
            <a:schemeClr val="bg2"/>
          </a:solidFill>
          <a:ln/>
        </p:spPr>
      </p:sp>
      <p:sp>
        <p:nvSpPr>
          <p:cNvPr id="24" name="Capability icon bg 5"/>
          <p:cNvSpPr/>
          <p:nvPr/>
        </p:nvSpPr>
        <p:spPr>
          <a:xfrm>
            <a:off x="3456432" y="2651760"/>
            <a:ext cx="502920" cy="502920"/>
          </a:xfrm>
          <a:prstGeom prst="ellipse">
            <a:avLst/>
          </a:prstGeom>
          <a:solidFill>
            <a:schemeClr val="accent5"/>
          </a:solidFill>
          <a:ln/>
        </p:spPr>
      </p:sp>
      <p:pic>
        <p:nvPicPr>
          <p:cNvPr id="25" name="Image 4" descr="Entra Agent ID">    </p:cNvPr>
          <p:cNvPicPr>
            <a:picLocks noChangeAspect="1"/>
          </p:cNvPicPr>
          <p:nvPr/>
        </p:nvPicPr>
        <p:blipFill>
          <a:blip r:embed="rId5"/>
          <a:stretch>
            <a:fillRect/>
          </a:stretch>
        </p:blipFill>
        <p:spPr>
          <a:xfrm>
            <a:off x="3566160" y="2761488"/>
            <a:ext cx="283464" cy="283464"/>
          </a:xfrm>
          <a:prstGeom prst="rect">
            <a:avLst/>
          </a:prstGeom>
        </p:spPr>
      </p:pic>
      <p:sp>
        <p:nvSpPr>
          <p:cNvPr id="26" name="Text 19"/>
          <p:cNvSpPr txBox="1"/>
          <p:nvPr/>
        </p:nvSpPr>
        <p:spPr>
          <a:xfrm>
            <a:off x="4096512" y="2624328"/>
            <a:ext cx="1645920" cy="201168"/>
          </a:xfrm>
          <a:prstGeom prst="rect">
            <a:avLst/>
          </a:prstGeom>
          <a:noFill/>
          <a:ln/>
        </p:spPr>
        <p:txBody>
          <a:bodyPr wrap="square" lIns="0" tIns="0" rIns="0" bIns="0" rtlCol="0" anchor="ctr"/>
          <a:lstStyle/>
          <a:p>
            <a:pPr indent="0" marL="0">
              <a:buNone/>
            </a:pPr>
            <a:r>
              <a:rPr lang="en-US" sz="1000" b="1" spc="200" kern="0" dirty="0">
                <a:solidFill>
                  <a:schemeClr val="accent5"/>
                </a:solidFill>
              </a:rPr>
              <a:t>GOVERN</a:t>
            </a:r>
            <a:endParaRPr lang="en-US" sz="1000" dirty="0"/>
          </a:p>
        </p:txBody>
      </p:sp>
      <p:sp>
        <p:nvSpPr>
          <p:cNvPr id="27" name="Text 20"/>
          <p:cNvSpPr txBox="1"/>
          <p:nvPr/>
        </p:nvSpPr>
        <p:spPr>
          <a:xfrm>
            <a:off x="4096512" y="2834640"/>
            <a:ext cx="1691640" cy="411480"/>
          </a:xfrm>
          <a:prstGeom prst="rect">
            <a:avLst/>
          </a:prstGeom>
          <a:noFill/>
          <a:ln/>
        </p:spPr>
        <p:txBody>
          <a:bodyPr wrap="square" lIns="0" tIns="0" rIns="0" bIns="0" rtlCol="0" anchor="t"/>
          <a:lstStyle/>
          <a:p>
            <a:pPr indent="0" marL="0">
              <a:buNone/>
            </a:pPr>
            <a:r>
              <a:rPr lang="en-US" sz="1300" b="1" dirty="0">
                <a:solidFill>
                  <a:schemeClr val="tx2"/>
                </a:solidFill>
              </a:rPr>
              <a:t>5. Entra Agent ID</a:t>
            </a:r>
            <a:endParaRPr lang="en-US" sz="1300" dirty="0"/>
          </a:p>
        </p:txBody>
      </p:sp>
      <p:sp>
        <p:nvSpPr>
          <p:cNvPr id="28" name="Capability 6"/>
          <p:cNvSpPr/>
          <p:nvPr/>
        </p:nvSpPr>
        <p:spPr>
          <a:xfrm>
            <a:off x="6089904" y="2423160"/>
            <a:ext cx="2596896" cy="960120"/>
          </a:xfrm>
          <a:prstGeom prst="roundRect">
            <a:avLst>
              <a:gd name="adj" fmla="val 9524"/>
            </a:avLst>
          </a:prstGeom>
          <a:solidFill>
            <a:schemeClr val="bg2"/>
          </a:solidFill>
          <a:ln/>
        </p:spPr>
      </p:sp>
      <p:sp>
        <p:nvSpPr>
          <p:cNvPr id="29" name="Capability icon bg 6"/>
          <p:cNvSpPr/>
          <p:nvPr/>
        </p:nvSpPr>
        <p:spPr>
          <a:xfrm>
            <a:off x="6272784" y="2651760"/>
            <a:ext cx="502920" cy="502920"/>
          </a:xfrm>
          <a:prstGeom prst="ellipse">
            <a:avLst/>
          </a:prstGeom>
          <a:solidFill>
            <a:schemeClr val="accent4"/>
          </a:solidFill>
          <a:ln/>
        </p:spPr>
      </p:sp>
      <p:pic>
        <p:nvPicPr>
          <p:cNvPr id="30" name="Image 5" descr="Purview data security">    </p:cNvPr>
          <p:cNvPicPr>
            <a:picLocks noChangeAspect="1"/>
          </p:cNvPicPr>
          <p:nvPr/>
        </p:nvPicPr>
        <p:blipFill>
          <a:blip r:embed="rId6"/>
          <a:stretch>
            <a:fillRect/>
          </a:stretch>
        </p:blipFill>
        <p:spPr>
          <a:xfrm>
            <a:off x="6382512" y="2761488"/>
            <a:ext cx="283464" cy="283464"/>
          </a:xfrm>
          <a:prstGeom prst="rect">
            <a:avLst/>
          </a:prstGeom>
        </p:spPr>
      </p:pic>
      <p:sp>
        <p:nvSpPr>
          <p:cNvPr id="31" name="Text 23"/>
          <p:cNvSpPr txBox="1"/>
          <p:nvPr/>
        </p:nvSpPr>
        <p:spPr>
          <a:xfrm>
            <a:off x="6912864" y="2624328"/>
            <a:ext cx="1645920" cy="201168"/>
          </a:xfrm>
          <a:prstGeom prst="rect">
            <a:avLst/>
          </a:prstGeom>
          <a:noFill/>
          <a:ln/>
        </p:spPr>
        <p:txBody>
          <a:bodyPr wrap="square" lIns="0" tIns="0" rIns="0" bIns="0" rtlCol="0" anchor="ctr"/>
          <a:lstStyle/>
          <a:p>
            <a:pPr indent="0" marL="0">
              <a:buNone/>
            </a:pPr>
            <a:r>
              <a:rPr lang="en-US" sz="1000" b="1" spc="200" kern="0" dirty="0">
                <a:solidFill>
                  <a:schemeClr val="accent4"/>
                </a:solidFill>
              </a:rPr>
              <a:t>SECURE</a:t>
            </a:r>
            <a:endParaRPr lang="en-US" sz="1000" dirty="0"/>
          </a:p>
        </p:txBody>
      </p:sp>
      <p:sp>
        <p:nvSpPr>
          <p:cNvPr id="32" name="Text 24"/>
          <p:cNvSpPr txBox="1"/>
          <p:nvPr/>
        </p:nvSpPr>
        <p:spPr>
          <a:xfrm>
            <a:off x="6912864" y="2834640"/>
            <a:ext cx="1691640" cy="411480"/>
          </a:xfrm>
          <a:prstGeom prst="rect">
            <a:avLst/>
          </a:prstGeom>
          <a:noFill/>
          <a:ln/>
        </p:spPr>
        <p:txBody>
          <a:bodyPr wrap="square" lIns="0" tIns="0" rIns="0" bIns="0" rtlCol="0" anchor="t"/>
          <a:lstStyle/>
          <a:p>
            <a:pPr indent="0" marL="0">
              <a:buNone/>
            </a:pPr>
            <a:r>
              <a:rPr lang="en-US" sz="1300" b="1" dirty="0">
                <a:solidFill>
                  <a:schemeClr val="tx2"/>
                </a:solidFill>
              </a:rPr>
              <a:t>6. Purview data security</a:t>
            </a:r>
            <a:endParaRPr lang="en-US" sz="1300" dirty="0"/>
          </a:p>
        </p:txBody>
      </p:sp>
      <p:sp>
        <p:nvSpPr>
          <p:cNvPr id="33" name="Capability 7"/>
          <p:cNvSpPr/>
          <p:nvPr/>
        </p:nvSpPr>
        <p:spPr>
          <a:xfrm>
            <a:off x="457200" y="3566160"/>
            <a:ext cx="2596896" cy="960120"/>
          </a:xfrm>
          <a:prstGeom prst="roundRect">
            <a:avLst>
              <a:gd name="adj" fmla="val 9524"/>
            </a:avLst>
          </a:prstGeom>
          <a:solidFill>
            <a:schemeClr val="bg2"/>
          </a:solidFill>
          <a:ln/>
        </p:spPr>
      </p:sp>
      <p:sp>
        <p:nvSpPr>
          <p:cNvPr id="34" name="Capability icon bg 7"/>
          <p:cNvSpPr/>
          <p:nvPr/>
        </p:nvSpPr>
        <p:spPr>
          <a:xfrm>
            <a:off x="640080" y="3794760"/>
            <a:ext cx="502920" cy="502920"/>
          </a:xfrm>
          <a:prstGeom prst="ellipse">
            <a:avLst/>
          </a:prstGeom>
          <a:solidFill>
            <a:schemeClr val="accent4"/>
          </a:solidFill>
          <a:ln/>
        </p:spPr>
      </p:sp>
      <p:pic>
        <p:nvPicPr>
          <p:cNvPr id="35" name="Image 6" descr="Defender threat protection">    </p:cNvPr>
          <p:cNvPicPr>
            <a:picLocks noChangeAspect="1"/>
          </p:cNvPicPr>
          <p:nvPr/>
        </p:nvPicPr>
        <p:blipFill>
          <a:blip r:embed="rId7"/>
          <a:stretch>
            <a:fillRect/>
          </a:stretch>
        </p:blipFill>
        <p:spPr>
          <a:xfrm>
            <a:off x="749808" y="3904488"/>
            <a:ext cx="283464" cy="283464"/>
          </a:xfrm>
          <a:prstGeom prst="rect">
            <a:avLst/>
          </a:prstGeom>
        </p:spPr>
      </p:pic>
      <p:sp>
        <p:nvSpPr>
          <p:cNvPr id="36" name="Text 27"/>
          <p:cNvSpPr txBox="1"/>
          <p:nvPr/>
        </p:nvSpPr>
        <p:spPr>
          <a:xfrm>
            <a:off x="1280160" y="3767328"/>
            <a:ext cx="1645920" cy="201168"/>
          </a:xfrm>
          <a:prstGeom prst="rect">
            <a:avLst/>
          </a:prstGeom>
          <a:noFill/>
          <a:ln/>
        </p:spPr>
        <p:txBody>
          <a:bodyPr wrap="square" lIns="0" tIns="0" rIns="0" bIns="0" rtlCol="0" anchor="ctr"/>
          <a:lstStyle/>
          <a:p>
            <a:pPr indent="0" marL="0">
              <a:buNone/>
            </a:pPr>
            <a:r>
              <a:rPr lang="en-US" sz="1000" b="1" spc="200" kern="0" dirty="0">
                <a:solidFill>
                  <a:schemeClr val="accent4"/>
                </a:solidFill>
              </a:rPr>
              <a:t>SECURE</a:t>
            </a:r>
            <a:endParaRPr lang="en-US" sz="1000" dirty="0"/>
          </a:p>
        </p:txBody>
      </p:sp>
      <p:sp>
        <p:nvSpPr>
          <p:cNvPr id="37" name="Text 28"/>
          <p:cNvSpPr txBox="1"/>
          <p:nvPr/>
        </p:nvSpPr>
        <p:spPr>
          <a:xfrm>
            <a:off x="1280160" y="3977640"/>
            <a:ext cx="1691640" cy="411480"/>
          </a:xfrm>
          <a:prstGeom prst="rect">
            <a:avLst/>
          </a:prstGeom>
          <a:noFill/>
          <a:ln/>
        </p:spPr>
        <p:txBody>
          <a:bodyPr wrap="square" lIns="0" tIns="0" rIns="0" bIns="0" rtlCol="0" anchor="t"/>
          <a:lstStyle/>
          <a:p>
            <a:pPr indent="0" marL="0">
              <a:buNone/>
            </a:pPr>
            <a:r>
              <a:rPr lang="en-US" sz="1300" b="1" dirty="0">
                <a:solidFill>
                  <a:schemeClr val="tx2"/>
                </a:solidFill>
              </a:rPr>
              <a:t>7. Defender threat protection</a:t>
            </a:r>
            <a:endParaRPr lang="en-US" sz="1300" dirty="0"/>
          </a:p>
        </p:txBody>
      </p:sp>
      <p:sp>
        <p:nvSpPr>
          <p:cNvPr id="38" name="Capability 8"/>
          <p:cNvSpPr/>
          <p:nvPr/>
        </p:nvSpPr>
        <p:spPr>
          <a:xfrm>
            <a:off x="3273552" y="3566160"/>
            <a:ext cx="2596896" cy="960120"/>
          </a:xfrm>
          <a:prstGeom prst="roundRect">
            <a:avLst>
              <a:gd name="adj" fmla="val 9524"/>
            </a:avLst>
          </a:prstGeom>
          <a:solidFill>
            <a:schemeClr val="bg2"/>
          </a:solidFill>
          <a:ln/>
        </p:spPr>
      </p:sp>
      <p:sp>
        <p:nvSpPr>
          <p:cNvPr id="39" name="Capability icon bg 8"/>
          <p:cNvSpPr/>
          <p:nvPr/>
        </p:nvSpPr>
        <p:spPr>
          <a:xfrm>
            <a:off x="3456432" y="3794760"/>
            <a:ext cx="502920" cy="502920"/>
          </a:xfrm>
          <a:prstGeom prst="ellipse">
            <a:avLst/>
          </a:prstGeom>
          <a:solidFill>
            <a:schemeClr val="accent2"/>
          </a:solidFill>
          <a:ln/>
        </p:spPr>
      </p:sp>
      <p:pic>
        <p:nvPicPr>
          <p:cNvPr id="40" name="Image 7" descr="Observability &amp; telemetry">    </p:cNvPr>
          <p:cNvPicPr>
            <a:picLocks noChangeAspect="1"/>
          </p:cNvPicPr>
          <p:nvPr/>
        </p:nvPicPr>
        <p:blipFill>
          <a:blip r:embed="rId8"/>
          <a:stretch>
            <a:fillRect/>
          </a:stretch>
        </p:blipFill>
        <p:spPr>
          <a:xfrm>
            <a:off x="3566160" y="3904488"/>
            <a:ext cx="283464" cy="283464"/>
          </a:xfrm>
          <a:prstGeom prst="rect">
            <a:avLst/>
          </a:prstGeom>
        </p:spPr>
      </p:pic>
      <p:sp>
        <p:nvSpPr>
          <p:cNvPr id="41" name="Text 31"/>
          <p:cNvSpPr txBox="1"/>
          <p:nvPr/>
        </p:nvSpPr>
        <p:spPr>
          <a:xfrm>
            <a:off x="4096512" y="3767328"/>
            <a:ext cx="1645920" cy="201168"/>
          </a:xfrm>
          <a:prstGeom prst="rect">
            <a:avLst/>
          </a:prstGeom>
          <a:noFill/>
          <a:ln/>
        </p:spPr>
        <p:txBody>
          <a:bodyPr wrap="square" lIns="0" tIns="0" rIns="0" bIns="0" rtlCol="0" anchor="ctr"/>
          <a:lstStyle/>
          <a:p>
            <a:pPr indent="0" marL="0">
              <a:buNone/>
            </a:pPr>
            <a:r>
              <a:rPr lang="en-US" sz="1000" b="1" spc="200" kern="0" dirty="0">
                <a:solidFill>
                  <a:schemeClr val="accent2"/>
                </a:solidFill>
              </a:rPr>
              <a:t>OPTIMISE</a:t>
            </a:r>
            <a:endParaRPr lang="en-US" sz="1000" dirty="0"/>
          </a:p>
        </p:txBody>
      </p:sp>
      <p:sp>
        <p:nvSpPr>
          <p:cNvPr id="42" name="Text 32"/>
          <p:cNvSpPr txBox="1"/>
          <p:nvPr/>
        </p:nvSpPr>
        <p:spPr>
          <a:xfrm>
            <a:off x="4096512" y="3977640"/>
            <a:ext cx="1691640" cy="411480"/>
          </a:xfrm>
          <a:prstGeom prst="rect">
            <a:avLst/>
          </a:prstGeom>
          <a:noFill/>
          <a:ln/>
        </p:spPr>
        <p:txBody>
          <a:bodyPr wrap="square" lIns="0" tIns="0" rIns="0" bIns="0" rtlCol="0" anchor="t"/>
          <a:lstStyle/>
          <a:p>
            <a:pPr indent="0" marL="0">
              <a:buNone/>
            </a:pPr>
            <a:r>
              <a:rPr lang="en-US" sz="1300" b="1" dirty="0">
                <a:solidFill>
                  <a:schemeClr val="tx2"/>
                </a:solidFill>
              </a:rPr>
              <a:t>8. Observability &amp; telemetry</a:t>
            </a:r>
            <a:endParaRPr lang="en-US" sz="1300" dirty="0"/>
          </a:p>
        </p:txBody>
      </p:sp>
      <p:sp>
        <p:nvSpPr>
          <p:cNvPr id="43" name="Capability 9"/>
          <p:cNvSpPr/>
          <p:nvPr/>
        </p:nvSpPr>
        <p:spPr>
          <a:xfrm>
            <a:off x="6089904" y="3566160"/>
            <a:ext cx="2596896" cy="960120"/>
          </a:xfrm>
          <a:prstGeom prst="roundRect">
            <a:avLst>
              <a:gd name="adj" fmla="val 9524"/>
            </a:avLst>
          </a:prstGeom>
          <a:solidFill>
            <a:schemeClr val="bg2"/>
          </a:solidFill>
          <a:ln/>
        </p:spPr>
      </p:sp>
      <p:sp>
        <p:nvSpPr>
          <p:cNvPr id="44" name="Capability icon bg 9"/>
          <p:cNvSpPr/>
          <p:nvPr/>
        </p:nvSpPr>
        <p:spPr>
          <a:xfrm>
            <a:off x="6272784" y="3794760"/>
            <a:ext cx="502920" cy="502920"/>
          </a:xfrm>
          <a:prstGeom prst="ellipse">
            <a:avLst/>
          </a:prstGeom>
          <a:solidFill>
            <a:schemeClr val="accent2"/>
          </a:solidFill>
          <a:ln/>
        </p:spPr>
      </p:sp>
      <p:pic>
        <p:nvPicPr>
          <p:cNvPr id="45" name="Image 8" descr="Interoperability (MCP &amp; SDK)">    </p:cNvPr>
          <p:cNvPicPr>
            <a:picLocks noChangeAspect="1"/>
          </p:cNvPicPr>
          <p:nvPr/>
        </p:nvPicPr>
        <p:blipFill>
          <a:blip r:embed="rId9"/>
          <a:stretch>
            <a:fillRect/>
          </a:stretch>
        </p:blipFill>
        <p:spPr>
          <a:xfrm>
            <a:off x="6382512" y="3904488"/>
            <a:ext cx="283464" cy="283464"/>
          </a:xfrm>
          <a:prstGeom prst="rect">
            <a:avLst/>
          </a:prstGeom>
        </p:spPr>
      </p:pic>
      <p:sp>
        <p:nvSpPr>
          <p:cNvPr id="46" name="Text 35"/>
          <p:cNvSpPr txBox="1"/>
          <p:nvPr/>
        </p:nvSpPr>
        <p:spPr>
          <a:xfrm>
            <a:off x="6912864" y="3767328"/>
            <a:ext cx="1645920" cy="201168"/>
          </a:xfrm>
          <a:prstGeom prst="rect">
            <a:avLst/>
          </a:prstGeom>
          <a:noFill/>
          <a:ln/>
        </p:spPr>
        <p:txBody>
          <a:bodyPr wrap="square" lIns="0" tIns="0" rIns="0" bIns="0" rtlCol="0" anchor="ctr"/>
          <a:lstStyle/>
          <a:p>
            <a:pPr indent="0" marL="0">
              <a:buNone/>
            </a:pPr>
            <a:r>
              <a:rPr lang="en-US" sz="1000" b="1" spc="200" kern="0" dirty="0">
                <a:solidFill>
                  <a:schemeClr val="accent2"/>
                </a:solidFill>
              </a:rPr>
              <a:t>EXTEND</a:t>
            </a:r>
            <a:endParaRPr lang="en-US" sz="1000" dirty="0"/>
          </a:p>
        </p:txBody>
      </p:sp>
      <p:sp>
        <p:nvSpPr>
          <p:cNvPr id="47" name="Text 36"/>
          <p:cNvSpPr txBox="1"/>
          <p:nvPr/>
        </p:nvSpPr>
        <p:spPr>
          <a:xfrm>
            <a:off x="6912864" y="3977640"/>
            <a:ext cx="1691640" cy="411480"/>
          </a:xfrm>
          <a:prstGeom prst="rect">
            <a:avLst/>
          </a:prstGeom>
          <a:noFill/>
          <a:ln/>
        </p:spPr>
        <p:txBody>
          <a:bodyPr wrap="square" lIns="0" tIns="0" rIns="0" bIns="0" rtlCol="0" anchor="t"/>
          <a:lstStyle/>
          <a:p>
            <a:pPr indent="0" marL="0">
              <a:buNone/>
            </a:pPr>
            <a:r>
              <a:rPr lang="en-US" sz="1300" b="1" dirty="0">
                <a:solidFill>
                  <a:schemeClr val="tx2"/>
                </a:solidFill>
              </a:rPr>
              <a:t>9. Interoperability (MCP &amp; SDK)</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1"/>
                </a:solidFill>
              </a:rPr>
              <a:t>01  ·  OBSERVE</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Overview dashboard: our agents at a glance</a:t>
            </a:r>
            <a:endParaRPr lang="en-US" sz="2800" dirty="0"/>
          </a:p>
        </p:txBody>
      </p:sp>
      <p:sp>
        <p:nvSpPr>
          <p:cNvPr id="4" name="Feature icon bg"/>
          <p:cNvSpPr/>
          <p:nvPr/>
        </p:nvSpPr>
        <p:spPr>
          <a:xfrm>
            <a:off x="457200" y="1325880"/>
            <a:ext cx="640080" cy="640080"/>
          </a:xfrm>
          <a:prstGeom prst="ellipse">
            <a:avLst/>
          </a:prstGeom>
          <a:solidFill>
            <a:schemeClr val="accent1"/>
          </a:solidFill>
          <a:ln/>
        </p:spPr>
      </p:sp>
      <p:pic>
        <p:nvPicPr>
          <p:cNvPr id="5" name="Image 0" descr="Overview dashboard">    </p:cNvPr>
          <p:cNvPicPr>
            <a:picLocks noChangeAspect="1"/>
          </p:cNvPicPr>
          <p:nvPr/>
        </p:nvPicPr>
        <p:blipFill>
          <a:blip r:embed="rId1"/>
          <a:stretch>
            <a:fillRect/>
          </a:stretch>
        </p:blipFill>
        <p:spPr>
          <a:xfrm>
            <a:off x="594360" y="1463040"/>
            <a:ext cx="365760" cy="365760"/>
          </a:xfrm>
          <a:prstGeom prst="rect">
            <a:avLst/>
          </a:prstGeom>
        </p:spPr>
      </p:pic>
      <p:sp>
        <p:nvSpPr>
          <p:cNvPr id="6" name="Text 3"/>
          <p:cNvSpPr txBox="1"/>
          <p:nvPr/>
        </p:nvSpPr>
        <p:spPr>
          <a:xfrm>
            <a:off x="1280160" y="1325880"/>
            <a:ext cx="2926080" cy="640080"/>
          </a:xfrm>
          <a:prstGeom prst="rect">
            <a:avLst/>
          </a:prstGeom>
          <a:noFill/>
          <a:ln/>
        </p:spPr>
        <p:txBody>
          <a:bodyPr wrap="square" lIns="0" tIns="0" rIns="0" bIns="0" rtlCol="0" anchor="ctr"/>
          <a:lstStyle/>
          <a:p>
            <a:pPr indent="0" marL="0">
              <a:buNone/>
            </a:pPr>
            <a:r>
              <a:rPr lang="en-US" sz="1800" b="1" dirty="0">
                <a:solidFill>
                  <a:schemeClr val="tx2"/>
                </a:solidFill>
              </a:rPr>
              <a:t>What it is</a:t>
            </a:r>
            <a:endParaRPr lang="en-US" sz="1800" dirty="0"/>
          </a:p>
        </p:txBody>
      </p:sp>
      <p:sp>
        <p:nvSpPr>
          <p:cNvPr id="7" name="Text 4"/>
          <p:cNvSpPr txBox="1"/>
          <p:nvPr/>
        </p:nvSpPr>
        <p:spPr>
          <a:xfrm>
            <a:off x="457200" y="2148840"/>
            <a:ext cx="3840480" cy="17830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The landing page of Agent 365 in the Microsoft 365 admin center. It summarises the agent inventory, adoption, usage trends and governance status, and highlights items that need admin attention.</a:t>
            </a:r>
            <a:endParaRPr lang="en-US" sz="1400" dirty="0"/>
          </a:p>
        </p:txBody>
      </p:sp>
      <p:sp>
        <p:nvSpPr>
          <p:cNvPr id="8" name="Portal path chip"/>
          <p:cNvSpPr/>
          <p:nvPr/>
        </p:nvSpPr>
        <p:spPr>
          <a:xfrm>
            <a:off x="457200" y="4069080"/>
            <a:ext cx="3840480" cy="457200"/>
          </a:xfrm>
          <a:prstGeom prst="roundRect">
            <a:avLst>
              <a:gd name="adj" fmla="val 50000"/>
            </a:avLst>
          </a:prstGeom>
          <a:solidFill>
            <a:schemeClr val="bg2"/>
          </a:solidFill>
          <a:ln/>
        </p:spPr>
      </p:sp>
      <p:pic>
        <p:nvPicPr>
          <p:cNvPr id="9" name="Image 1" descr="Location">    </p:cNvPr>
          <p:cNvPicPr>
            <a:picLocks noChangeAspect="1"/>
          </p:cNvPicPr>
          <p:nvPr/>
        </p:nvPicPr>
        <p:blipFill>
          <a:blip r:embed="rId2"/>
          <a:stretch>
            <a:fillRect/>
          </a:stretch>
        </p:blipFill>
        <p:spPr>
          <a:xfrm>
            <a:off x="594360" y="4160520"/>
            <a:ext cx="274320" cy="274320"/>
          </a:xfrm>
          <a:prstGeom prst="rect">
            <a:avLst/>
          </a:prstGeom>
        </p:spPr>
      </p:pic>
      <p:sp>
        <p:nvSpPr>
          <p:cNvPr id="10" name="Text 6"/>
          <p:cNvSpPr txBox="1"/>
          <p:nvPr/>
        </p:nvSpPr>
        <p:spPr>
          <a:xfrm>
            <a:off x="960120" y="4069080"/>
            <a:ext cx="3246120" cy="457200"/>
          </a:xfrm>
          <a:prstGeom prst="rect">
            <a:avLst/>
          </a:prstGeom>
          <a:noFill/>
          <a:ln/>
        </p:spPr>
        <p:txBody>
          <a:bodyPr wrap="square" lIns="0" tIns="0" rIns="0" bIns="0" rtlCol="0" anchor="ctr"/>
          <a:lstStyle/>
          <a:p>
            <a:pPr indent="0" marL="0">
              <a:buNone/>
            </a:pPr>
            <a:r>
              <a:rPr lang="en-US" sz="1100" dirty="0">
                <a:solidFill>
                  <a:schemeClr val="tx2"/>
                </a:solidFill>
              </a:rPr>
              <a:t>Admin center › Agent 365 › Overview</a:t>
            </a:r>
            <a:endParaRPr lang="en-US" sz="1100" dirty="0"/>
          </a:p>
        </p:txBody>
      </p:sp>
      <p:sp>
        <p:nvSpPr>
          <p:cNvPr id="11" name="Benefits card"/>
          <p:cNvSpPr/>
          <p:nvPr/>
        </p:nvSpPr>
        <p:spPr>
          <a:xfrm>
            <a:off x="4663440" y="1325880"/>
            <a:ext cx="4023360" cy="3200400"/>
          </a:xfrm>
          <a:prstGeom prst="roundRect">
            <a:avLst>
              <a:gd name="adj" fmla="val 3429"/>
            </a:avLst>
          </a:prstGeom>
          <a:solidFill>
            <a:schemeClr val="tx2"/>
          </a:solidFill>
          <a:ln/>
        </p:spPr>
      </p:sp>
      <p:sp>
        <p:nvSpPr>
          <p:cNvPr id="12" name="Text 8"/>
          <p:cNvSpPr txBox="1"/>
          <p:nvPr/>
        </p:nvSpPr>
        <p:spPr>
          <a:xfrm>
            <a:off x="4937760" y="1463040"/>
            <a:ext cx="3566160" cy="457200"/>
          </a:xfrm>
          <a:prstGeom prst="rect">
            <a:avLst/>
          </a:prstGeom>
          <a:noFill/>
          <a:ln/>
        </p:spPr>
        <p:txBody>
          <a:bodyPr wrap="square" lIns="0" tIns="0" rIns="0" bIns="0" rtlCol="0" anchor="ctr"/>
          <a:lstStyle/>
          <a:p>
            <a:pPr indent="0" marL="0">
              <a:buNone/>
            </a:pPr>
            <a:r>
              <a:rPr lang="en-US" sz="1800" b="1" dirty="0">
                <a:solidFill>
                  <a:schemeClr val="bg1"/>
                </a:solidFill>
              </a:rPr>
              <a:t>What it brings us</a:t>
            </a:r>
            <a:endParaRPr lang="en-US" sz="1800" dirty="0"/>
          </a:p>
        </p:txBody>
      </p:sp>
      <p:pic>
        <p:nvPicPr>
          <p:cNvPr id="13" name="Image 2" descr="Benefit">    </p:cNvPr>
          <p:cNvPicPr>
            <a:picLocks noChangeAspect="1"/>
          </p:cNvPicPr>
          <p:nvPr/>
        </p:nvPicPr>
        <p:blipFill>
          <a:blip r:embed="rId3"/>
          <a:stretch>
            <a:fillRect/>
          </a:stretch>
        </p:blipFill>
        <p:spPr>
          <a:xfrm>
            <a:off x="4937760" y="2084832"/>
            <a:ext cx="256032" cy="256032"/>
          </a:xfrm>
          <a:prstGeom prst="rect">
            <a:avLst/>
          </a:prstGeom>
        </p:spPr>
      </p:pic>
      <p:sp>
        <p:nvSpPr>
          <p:cNvPr id="14" name="Text 9"/>
          <p:cNvSpPr txBox="1"/>
          <p:nvPr/>
        </p:nvSpPr>
        <p:spPr>
          <a:xfrm>
            <a:off x="5349240" y="2057400"/>
            <a:ext cx="3154680" cy="731520"/>
          </a:xfrm>
          <a:prstGeom prst="rect">
            <a:avLst/>
          </a:prstGeom>
          <a:noFill/>
          <a:ln/>
        </p:spPr>
        <p:txBody>
          <a:bodyPr wrap="square" lIns="0" tIns="0" rIns="0" bIns="0" rtlCol="0" anchor="t"/>
          <a:lstStyle/>
          <a:p>
            <a:pPr indent="0" marL="0">
              <a:buNone/>
            </a:pPr>
            <a:r>
              <a:rPr lang="en-US" sz="1300" b="1" dirty="0">
                <a:solidFill>
                  <a:schemeClr val="bg1"/>
                </a:solidFill>
              </a:rPr>
              <a:t>One view of health</a:t>
            </a:r>
            <a:endParaRPr lang="en-US" sz="1300" dirty="0"/>
          </a:p>
          <a:p>
            <a:pPr indent="0" marL="0">
              <a:buNone/>
            </a:pPr>
            <a:r>
              <a:rPr lang="en-US" sz="1300" dirty="0">
                <a:solidFill>
                  <a:schemeClr val="bg2"/>
                </a:solidFill>
              </a:rPr>
              <a:t>how many agents we have, how many are active and which need attention.</a:t>
            </a:r>
            <a:endParaRPr lang="en-US" sz="1300" dirty="0"/>
          </a:p>
        </p:txBody>
      </p:sp>
      <p:pic>
        <p:nvPicPr>
          <p:cNvPr id="15" name="Image 3" descr="Benefit">    </p:cNvPr>
          <p:cNvPicPr>
            <a:picLocks noChangeAspect="1"/>
          </p:cNvPicPr>
          <p:nvPr/>
        </p:nvPicPr>
        <p:blipFill>
          <a:blip r:embed="rId4"/>
          <a:stretch>
            <a:fillRect/>
          </a:stretch>
        </p:blipFill>
        <p:spPr>
          <a:xfrm>
            <a:off x="4937760" y="2889504"/>
            <a:ext cx="256032" cy="256032"/>
          </a:xfrm>
          <a:prstGeom prst="rect">
            <a:avLst/>
          </a:prstGeom>
        </p:spPr>
      </p:pic>
      <p:sp>
        <p:nvSpPr>
          <p:cNvPr id="16" name="Text 10"/>
          <p:cNvSpPr txBox="1"/>
          <p:nvPr/>
        </p:nvSpPr>
        <p:spPr>
          <a:xfrm>
            <a:off x="5349240" y="2862072"/>
            <a:ext cx="3154680" cy="731520"/>
          </a:xfrm>
          <a:prstGeom prst="rect">
            <a:avLst/>
          </a:prstGeom>
          <a:noFill/>
          <a:ln/>
        </p:spPr>
        <p:txBody>
          <a:bodyPr wrap="square" lIns="0" tIns="0" rIns="0" bIns="0" rtlCol="0" anchor="t"/>
          <a:lstStyle/>
          <a:p>
            <a:pPr indent="0" marL="0">
              <a:buNone/>
            </a:pPr>
            <a:r>
              <a:rPr lang="en-US" sz="1300" b="1" dirty="0">
                <a:solidFill>
                  <a:schemeClr val="bg1"/>
                </a:solidFill>
              </a:rPr>
              <a:t>Early warning</a:t>
            </a:r>
            <a:endParaRPr lang="en-US" sz="1300" dirty="0"/>
          </a:p>
          <a:p>
            <a:pPr indent="0" marL="0">
              <a:buNone/>
            </a:pPr>
            <a:r>
              <a:rPr lang="en-US" sz="1300" dirty="0">
                <a:solidFill>
                  <a:schemeClr val="bg2"/>
                </a:solidFill>
              </a:rPr>
              <a:t>spot rising adoption, risky or ownerless agents before they become problems.</a:t>
            </a:r>
            <a:endParaRPr lang="en-US" sz="1300" dirty="0"/>
          </a:p>
        </p:txBody>
      </p:sp>
      <p:pic>
        <p:nvPicPr>
          <p:cNvPr id="17" name="Image 4" descr="Benefit">    </p:cNvPr>
          <p:cNvPicPr>
            <a:picLocks noChangeAspect="1"/>
          </p:cNvPicPr>
          <p:nvPr/>
        </p:nvPicPr>
        <p:blipFill>
          <a:blip r:embed="rId5"/>
          <a:stretch>
            <a:fillRect/>
          </a:stretch>
        </p:blipFill>
        <p:spPr>
          <a:xfrm>
            <a:off x="4937760" y="3694176"/>
            <a:ext cx="256032" cy="256032"/>
          </a:xfrm>
          <a:prstGeom prst="rect">
            <a:avLst/>
          </a:prstGeom>
        </p:spPr>
      </p:pic>
      <p:sp>
        <p:nvSpPr>
          <p:cNvPr id="18" name="Text 11"/>
          <p:cNvSpPr txBox="1"/>
          <p:nvPr/>
        </p:nvSpPr>
        <p:spPr>
          <a:xfrm>
            <a:off x="5349240" y="3666744"/>
            <a:ext cx="3154680" cy="731520"/>
          </a:xfrm>
          <a:prstGeom prst="rect">
            <a:avLst/>
          </a:prstGeom>
          <a:noFill/>
          <a:ln/>
        </p:spPr>
        <p:txBody>
          <a:bodyPr wrap="square" lIns="0" tIns="0" rIns="0" bIns="0" rtlCol="0" anchor="t"/>
          <a:lstStyle/>
          <a:p>
            <a:pPr indent="0" marL="0">
              <a:buNone/>
            </a:pPr>
            <a:r>
              <a:rPr lang="en-US" sz="1300" b="1" dirty="0">
                <a:solidFill>
                  <a:schemeClr val="bg1"/>
                </a:solidFill>
              </a:rPr>
              <a:t>Easy reporting</a:t>
            </a:r>
            <a:endParaRPr lang="en-US" sz="1300" dirty="0"/>
          </a:p>
          <a:p>
            <a:pPr indent="0" marL="0">
              <a:buNone/>
            </a:pPr>
            <a:r>
              <a:rPr lang="en-US" sz="1300" dirty="0">
                <a:solidFill>
                  <a:schemeClr val="bg2"/>
                </a:solidFill>
              </a:rPr>
              <a:t>ready-made numbers for leadership and governance boards.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1"/>
                </a:solidFill>
              </a:rPr>
              <a:t>02  ·  OBSERVE</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Agent registry: one inventory of every agent</a:t>
            </a:r>
            <a:endParaRPr lang="en-US" sz="2800" dirty="0"/>
          </a:p>
        </p:txBody>
      </p:sp>
      <p:sp>
        <p:nvSpPr>
          <p:cNvPr id="4" name="Feature icon bg"/>
          <p:cNvSpPr/>
          <p:nvPr/>
        </p:nvSpPr>
        <p:spPr>
          <a:xfrm>
            <a:off x="457200" y="1325880"/>
            <a:ext cx="640080" cy="640080"/>
          </a:xfrm>
          <a:prstGeom prst="ellipse">
            <a:avLst/>
          </a:prstGeom>
          <a:solidFill>
            <a:schemeClr val="accent1"/>
          </a:solidFill>
          <a:ln/>
        </p:spPr>
      </p:sp>
      <p:pic>
        <p:nvPicPr>
          <p:cNvPr id="5" name="Image 0" descr="Agent registry">    </p:cNvPr>
          <p:cNvPicPr>
            <a:picLocks noChangeAspect="1"/>
          </p:cNvPicPr>
          <p:nvPr/>
        </p:nvPicPr>
        <p:blipFill>
          <a:blip r:embed="rId1"/>
          <a:stretch>
            <a:fillRect/>
          </a:stretch>
        </p:blipFill>
        <p:spPr>
          <a:xfrm>
            <a:off x="594360" y="1463040"/>
            <a:ext cx="365760" cy="365760"/>
          </a:xfrm>
          <a:prstGeom prst="rect">
            <a:avLst/>
          </a:prstGeom>
        </p:spPr>
      </p:pic>
      <p:sp>
        <p:nvSpPr>
          <p:cNvPr id="6" name="Text 3"/>
          <p:cNvSpPr txBox="1"/>
          <p:nvPr/>
        </p:nvSpPr>
        <p:spPr>
          <a:xfrm>
            <a:off x="1280160" y="1325880"/>
            <a:ext cx="2926080" cy="640080"/>
          </a:xfrm>
          <a:prstGeom prst="rect">
            <a:avLst/>
          </a:prstGeom>
          <a:noFill/>
          <a:ln/>
        </p:spPr>
        <p:txBody>
          <a:bodyPr wrap="square" lIns="0" tIns="0" rIns="0" bIns="0" rtlCol="0" anchor="ctr"/>
          <a:lstStyle/>
          <a:p>
            <a:pPr indent="0" marL="0">
              <a:buNone/>
            </a:pPr>
            <a:r>
              <a:rPr lang="en-US" sz="1800" b="1" dirty="0">
                <a:solidFill>
                  <a:schemeClr val="tx2"/>
                </a:solidFill>
              </a:rPr>
              <a:t>What it is</a:t>
            </a:r>
            <a:endParaRPr lang="en-US" sz="1800" dirty="0"/>
          </a:p>
        </p:txBody>
      </p:sp>
      <p:sp>
        <p:nvSpPr>
          <p:cNvPr id="7" name="Text 4"/>
          <p:cNvSpPr txBox="1"/>
          <p:nvPr/>
        </p:nvSpPr>
        <p:spPr>
          <a:xfrm>
            <a:off x="457200" y="2148840"/>
            <a:ext cx="3840480" cy="17830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 single, tenant-wide inventory of all agents – Microsoft, Copilot Studio, third-party and custom. Each entry shows metadata, owner, capabilities, data sources, requested permissions, risk signals and usage. Copilot Studio agents register automatically. It replaced the Entra registry in 2026.</a:t>
            </a:r>
            <a:endParaRPr lang="en-US" sz="1400" dirty="0"/>
          </a:p>
        </p:txBody>
      </p:sp>
      <p:sp>
        <p:nvSpPr>
          <p:cNvPr id="8" name="Portal path chip"/>
          <p:cNvSpPr/>
          <p:nvPr/>
        </p:nvSpPr>
        <p:spPr>
          <a:xfrm>
            <a:off x="457200" y="4069080"/>
            <a:ext cx="3840480" cy="457200"/>
          </a:xfrm>
          <a:prstGeom prst="roundRect">
            <a:avLst>
              <a:gd name="adj" fmla="val 50000"/>
            </a:avLst>
          </a:prstGeom>
          <a:solidFill>
            <a:schemeClr val="bg2"/>
          </a:solidFill>
          <a:ln/>
        </p:spPr>
      </p:sp>
      <p:pic>
        <p:nvPicPr>
          <p:cNvPr id="9" name="Image 1" descr="Location">    </p:cNvPr>
          <p:cNvPicPr>
            <a:picLocks noChangeAspect="1"/>
          </p:cNvPicPr>
          <p:nvPr/>
        </p:nvPicPr>
        <p:blipFill>
          <a:blip r:embed="rId2"/>
          <a:stretch>
            <a:fillRect/>
          </a:stretch>
        </p:blipFill>
        <p:spPr>
          <a:xfrm>
            <a:off x="594360" y="4160520"/>
            <a:ext cx="274320" cy="274320"/>
          </a:xfrm>
          <a:prstGeom prst="rect">
            <a:avLst/>
          </a:prstGeom>
        </p:spPr>
      </p:pic>
      <p:sp>
        <p:nvSpPr>
          <p:cNvPr id="10" name="Text 6"/>
          <p:cNvSpPr txBox="1"/>
          <p:nvPr/>
        </p:nvSpPr>
        <p:spPr>
          <a:xfrm>
            <a:off x="960120" y="4069080"/>
            <a:ext cx="3246120" cy="457200"/>
          </a:xfrm>
          <a:prstGeom prst="rect">
            <a:avLst/>
          </a:prstGeom>
          <a:noFill/>
          <a:ln/>
        </p:spPr>
        <p:txBody>
          <a:bodyPr wrap="square" lIns="0" tIns="0" rIns="0" bIns="0" rtlCol="0" anchor="ctr"/>
          <a:lstStyle/>
          <a:p>
            <a:pPr indent="0" marL="0">
              <a:buNone/>
            </a:pPr>
            <a:r>
              <a:rPr lang="en-US" sz="1100" dirty="0">
                <a:solidFill>
                  <a:schemeClr val="tx2"/>
                </a:solidFill>
              </a:rPr>
              <a:t>Admin center › Agent 365 › Agent registry</a:t>
            </a:r>
            <a:endParaRPr lang="en-US" sz="1100" dirty="0"/>
          </a:p>
        </p:txBody>
      </p:sp>
      <p:sp>
        <p:nvSpPr>
          <p:cNvPr id="11" name="Benefits card"/>
          <p:cNvSpPr/>
          <p:nvPr/>
        </p:nvSpPr>
        <p:spPr>
          <a:xfrm>
            <a:off x="4663440" y="1325880"/>
            <a:ext cx="4023360" cy="3200400"/>
          </a:xfrm>
          <a:prstGeom prst="roundRect">
            <a:avLst>
              <a:gd name="adj" fmla="val 3429"/>
            </a:avLst>
          </a:prstGeom>
          <a:solidFill>
            <a:schemeClr val="tx2"/>
          </a:solidFill>
          <a:ln/>
        </p:spPr>
      </p:sp>
      <p:sp>
        <p:nvSpPr>
          <p:cNvPr id="12" name="Text 8"/>
          <p:cNvSpPr txBox="1"/>
          <p:nvPr/>
        </p:nvSpPr>
        <p:spPr>
          <a:xfrm>
            <a:off x="4937760" y="1463040"/>
            <a:ext cx="3566160" cy="457200"/>
          </a:xfrm>
          <a:prstGeom prst="rect">
            <a:avLst/>
          </a:prstGeom>
          <a:noFill/>
          <a:ln/>
        </p:spPr>
        <p:txBody>
          <a:bodyPr wrap="square" lIns="0" tIns="0" rIns="0" bIns="0" rtlCol="0" anchor="ctr"/>
          <a:lstStyle/>
          <a:p>
            <a:pPr indent="0" marL="0">
              <a:buNone/>
            </a:pPr>
            <a:r>
              <a:rPr lang="en-US" sz="1800" b="1" dirty="0">
                <a:solidFill>
                  <a:schemeClr val="bg1"/>
                </a:solidFill>
              </a:rPr>
              <a:t>What it brings us</a:t>
            </a:r>
            <a:endParaRPr lang="en-US" sz="1800" dirty="0"/>
          </a:p>
        </p:txBody>
      </p:sp>
      <p:pic>
        <p:nvPicPr>
          <p:cNvPr id="13" name="Image 2" descr="Benefit">    </p:cNvPr>
          <p:cNvPicPr>
            <a:picLocks noChangeAspect="1"/>
          </p:cNvPicPr>
          <p:nvPr/>
        </p:nvPicPr>
        <p:blipFill>
          <a:blip r:embed="rId3"/>
          <a:stretch>
            <a:fillRect/>
          </a:stretch>
        </p:blipFill>
        <p:spPr>
          <a:xfrm>
            <a:off x="4937760" y="2084832"/>
            <a:ext cx="256032" cy="256032"/>
          </a:xfrm>
          <a:prstGeom prst="rect">
            <a:avLst/>
          </a:prstGeom>
        </p:spPr>
      </p:pic>
      <p:sp>
        <p:nvSpPr>
          <p:cNvPr id="14" name="Text 9"/>
          <p:cNvSpPr txBox="1"/>
          <p:nvPr/>
        </p:nvSpPr>
        <p:spPr>
          <a:xfrm>
            <a:off x="5349240" y="2057400"/>
            <a:ext cx="3154680" cy="731520"/>
          </a:xfrm>
          <a:prstGeom prst="rect">
            <a:avLst/>
          </a:prstGeom>
          <a:noFill/>
          <a:ln/>
        </p:spPr>
        <p:txBody>
          <a:bodyPr wrap="square" lIns="0" tIns="0" rIns="0" bIns="0" rtlCol="0" anchor="t"/>
          <a:lstStyle/>
          <a:p>
            <a:pPr indent="0" marL="0">
              <a:buNone/>
            </a:pPr>
            <a:r>
              <a:rPr lang="en-US" sz="1300" b="1" dirty="0">
                <a:solidFill>
                  <a:schemeClr val="bg1"/>
                </a:solidFill>
              </a:rPr>
              <a:t>No more shadow AI</a:t>
            </a:r>
            <a:endParaRPr lang="en-US" sz="1300" dirty="0"/>
          </a:p>
          <a:p>
            <a:pPr indent="0" marL="0">
              <a:buNone/>
            </a:pPr>
            <a:r>
              <a:rPr lang="en-US" sz="1300" dirty="0">
                <a:solidFill>
                  <a:schemeClr val="bg2"/>
                </a:solidFill>
              </a:rPr>
              <a:t>every agent is discovered and listed, regardless of where it was built.</a:t>
            </a:r>
            <a:endParaRPr lang="en-US" sz="1300" dirty="0"/>
          </a:p>
        </p:txBody>
      </p:sp>
      <p:pic>
        <p:nvPicPr>
          <p:cNvPr id="15" name="Image 3" descr="Benefit">    </p:cNvPr>
          <p:cNvPicPr>
            <a:picLocks noChangeAspect="1"/>
          </p:cNvPicPr>
          <p:nvPr/>
        </p:nvPicPr>
        <p:blipFill>
          <a:blip r:embed="rId4"/>
          <a:stretch>
            <a:fillRect/>
          </a:stretch>
        </p:blipFill>
        <p:spPr>
          <a:xfrm>
            <a:off x="4937760" y="2889504"/>
            <a:ext cx="256032" cy="256032"/>
          </a:xfrm>
          <a:prstGeom prst="rect">
            <a:avLst/>
          </a:prstGeom>
        </p:spPr>
      </p:pic>
      <p:sp>
        <p:nvSpPr>
          <p:cNvPr id="16" name="Text 10"/>
          <p:cNvSpPr txBox="1"/>
          <p:nvPr/>
        </p:nvSpPr>
        <p:spPr>
          <a:xfrm>
            <a:off x="5349240" y="2862072"/>
            <a:ext cx="3154680" cy="731520"/>
          </a:xfrm>
          <a:prstGeom prst="rect">
            <a:avLst/>
          </a:prstGeom>
          <a:noFill/>
          <a:ln/>
        </p:spPr>
        <p:txBody>
          <a:bodyPr wrap="square" lIns="0" tIns="0" rIns="0" bIns="0" rtlCol="0" anchor="t"/>
          <a:lstStyle/>
          <a:p>
            <a:pPr indent="0" marL="0">
              <a:buNone/>
            </a:pPr>
            <a:r>
              <a:rPr lang="en-US" sz="1300" b="1" dirty="0">
                <a:solidFill>
                  <a:schemeClr val="bg1"/>
                </a:solidFill>
              </a:rPr>
              <a:t>Accountability</a:t>
            </a:r>
            <a:endParaRPr lang="en-US" sz="1300" dirty="0"/>
          </a:p>
          <a:p>
            <a:pPr indent="0" marL="0">
              <a:buNone/>
            </a:pPr>
            <a:r>
              <a:rPr lang="en-US" sz="1300" dirty="0">
                <a:solidFill>
                  <a:schemeClr val="bg2"/>
                </a:solidFill>
              </a:rPr>
              <a:t>ownerless agents (creator left) are flagged so we can reassign them.</a:t>
            </a:r>
            <a:endParaRPr lang="en-US" sz="1300" dirty="0"/>
          </a:p>
        </p:txBody>
      </p:sp>
      <p:pic>
        <p:nvPicPr>
          <p:cNvPr id="17" name="Image 4" descr="Benefit">    </p:cNvPr>
          <p:cNvPicPr>
            <a:picLocks noChangeAspect="1"/>
          </p:cNvPicPr>
          <p:nvPr/>
        </p:nvPicPr>
        <p:blipFill>
          <a:blip r:embed="rId5"/>
          <a:stretch>
            <a:fillRect/>
          </a:stretch>
        </p:blipFill>
        <p:spPr>
          <a:xfrm>
            <a:off x="4937760" y="3694176"/>
            <a:ext cx="256032" cy="256032"/>
          </a:xfrm>
          <a:prstGeom prst="rect">
            <a:avLst/>
          </a:prstGeom>
        </p:spPr>
      </p:pic>
      <p:sp>
        <p:nvSpPr>
          <p:cNvPr id="18" name="Text 11"/>
          <p:cNvSpPr txBox="1"/>
          <p:nvPr/>
        </p:nvSpPr>
        <p:spPr>
          <a:xfrm>
            <a:off x="5349240" y="3666744"/>
            <a:ext cx="3154680" cy="731520"/>
          </a:xfrm>
          <a:prstGeom prst="rect">
            <a:avLst/>
          </a:prstGeom>
          <a:noFill/>
          <a:ln/>
        </p:spPr>
        <p:txBody>
          <a:bodyPr wrap="square" lIns="0" tIns="0" rIns="0" bIns="0" rtlCol="0" anchor="t"/>
          <a:lstStyle/>
          <a:p>
            <a:pPr indent="0" marL="0">
              <a:buNone/>
            </a:pPr>
            <a:r>
              <a:rPr lang="en-US" sz="1300" b="1" dirty="0">
                <a:solidFill>
                  <a:schemeClr val="bg1"/>
                </a:solidFill>
              </a:rPr>
              <a:t>Risk at a glance</a:t>
            </a:r>
            <a:endParaRPr lang="en-US" sz="1300" dirty="0"/>
          </a:p>
          <a:p>
            <a:pPr indent="0" marL="0">
              <a:buNone/>
            </a:pPr>
            <a:r>
              <a:rPr lang="en-US" sz="1300" dirty="0">
                <a:solidFill>
                  <a:schemeClr val="bg2"/>
                </a:solidFill>
              </a:rPr>
              <a:t>a Risks column brings high-severity Entra alerts per agent.</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1"/>
                </a:solidFill>
              </a:rPr>
              <a:t>03  ·  OBSERVE</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Agent Map: visualise how agents spread</a:t>
            </a:r>
            <a:endParaRPr lang="en-US" sz="2800" dirty="0"/>
          </a:p>
        </p:txBody>
      </p:sp>
      <p:sp>
        <p:nvSpPr>
          <p:cNvPr id="4" name="Feature icon bg"/>
          <p:cNvSpPr/>
          <p:nvPr/>
        </p:nvSpPr>
        <p:spPr>
          <a:xfrm>
            <a:off x="457200" y="1325880"/>
            <a:ext cx="640080" cy="640080"/>
          </a:xfrm>
          <a:prstGeom prst="ellipse">
            <a:avLst/>
          </a:prstGeom>
          <a:solidFill>
            <a:schemeClr val="accent1"/>
          </a:solidFill>
          <a:ln/>
        </p:spPr>
      </p:sp>
      <p:pic>
        <p:nvPicPr>
          <p:cNvPr id="5" name="Image 0" descr="Agent Map">    </p:cNvPr>
          <p:cNvPicPr>
            <a:picLocks noChangeAspect="1"/>
          </p:cNvPicPr>
          <p:nvPr/>
        </p:nvPicPr>
        <p:blipFill>
          <a:blip r:embed="rId1"/>
          <a:stretch>
            <a:fillRect/>
          </a:stretch>
        </p:blipFill>
        <p:spPr>
          <a:xfrm>
            <a:off x="594360" y="1463040"/>
            <a:ext cx="365760" cy="365760"/>
          </a:xfrm>
          <a:prstGeom prst="rect">
            <a:avLst/>
          </a:prstGeom>
        </p:spPr>
      </p:pic>
      <p:sp>
        <p:nvSpPr>
          <p:cNvPr id="6" name="Text 3"/>
          <p:cNvSpPr txBox="1"/>
          <p:nvPr/>
        </p:nvSpPr>
        <p:spPr>
          <a:xfrm>
            <a:off x="1280160" y="1325880"/>
            <a:ext cx="2926080" cy="640080"/>
          </a:xfrm>
          <a:prstGeom prst="rect">
            <a:avLst/>
          </a:prstGeom>
          <a:noFill/>
          <a:ln/>
        </p:spPr>
        <p:txBody>
          <a:bodyPr wrap="square" lIns="0" tIns="0" rIns="0" bIns="0" rtlCol="0" anchor="ctr"/>
          <a:lstStyle/>
          <a:p>
            <a:pPr indent="0" marL="0">
              <a:buNone/>
            </a:pPr>
            <a:r>
              <a:rPr lang="en-US" sz="1800" b="1" dirty="0">
                <a:solidFill>
                  <a:schemeClr val="tx2"/>
                </a:solidFill>
              </a:rPr>
              <a:t>What it is</a:t>
            </a:r>
            <a:endParaRPr lang="en-US" sz="1800" dirty="0"/>
          </a:p>
        </p:txBody>
      </p:sp>
      <p:sp>
        <p:nvSpPr>
          <p:cNvPr id="7" name="Text 4"/>
          <p:cNvSpPr txBox="1"/>
          <p:nvPr/>
        </p:nvSpPr>
        <p:spPr>
          <a:xfrm>
            <a:off x="457200" y="2148840"/>
            <a:ext cx="3840480" cy="17830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 visual map of the agents in our tenant, grouped by the platform they were built on. Filter by status, publisher type, platform, channel, data source or usage, then drill into an agent for ownership, configuration and activity.</a:t>
            </a:r>
            <a:endParaRPr lang="en-US" sz="1400" dirty="0"/>
          </a:p>
        </p:txBody>
      </p:sp>
      <p:sp>
        <p:nvSpPr>
          <p:cNvPr id="8" name="Portal path chip"/>
          <p:cNvSpPr/>
          <p:nvPr/>
        </p:nvSpPr>
        <p:spPr>
          <a:xfrm>
            <a:off x="457200" y="4069080"/>
            <a:ext cx="3840480" cy="457200"/>
          </a:xfrm>
          <a:prstGeom prst="roundRect">
            <a:avLst>
              <a:gd name="adj" fmla="val 50000"/>
            </a:avLst>
          </a:prstGeom>
          <a:solidFill>
            <a:schemeClr val="bg2"/>
          </a:solidFill>
          <a:ln/>
        </p:spPr>
      </p:sp>
      <p:pic>
        <p:nvPicPr>
          <p:cNvPr id="9" name="Image 1" descr="Location">    </p:cNvPr>
          <p:cNvPicPr>
            <a:picLocks noChangeAspect="1"/>
          </p:cNvPicPr>
          <p:nvPr/>
        </p:nvPicPr>
        <p:blipFill>
          <a:blip r:embed="rId2"/>
          <a:stretch>
            <a:fillRect/>
          </a:stretch>
        </p:blipFill>
        <p:spPr>
          <a:xfrm>
            <a:off x="594360" y="4160520"/>
            <a:ext cx="274320" cy="274320"/>
          </a:xfrm>
          <a:prstGeom prst="rect">
            <a:avLst/>
          </a:prstGeom>
        </p:spPr>
      </p:pic>
      <p:sp>
        <p:nvSpPr>
          <p:cNvPr id="10" name="Text 6"/>
          <p:cNvSpPr txBox="1"/>
          <p:nvPr/>
        </p:nvSpPr>
        <p:spPr>
          <a:xfrm>
            <a:off x="960120" y="4069080"/>
            <a:ext cx="3246120" cy="457200"/>
          </a:xfrm>
          <a:prstGeom prst="rect">
            <a:avLst/>
          </a:prstGeom>
          <a:noFill/>
          <a:ln/>
        </p:spPr>
        <p:txBody>
          <a:bodyPr wrap="square" lIns="0" tIns="0" rIns="0" bIns="0" rtlCol="0" anchor="ctr"/>
          <a:lstStyle/>
          <a:p>
            <a:pPr indent="0" marL="0">
              <a:buNone/>
            </a:pPr>
            <a:r>
              <a:rPr lang="en-US" sz="1100" dirty="0">
                <a:solidFill>
                  <a:schemeClr val="tx2"/>
                </a:solidFill>
              </a:rPr>
              <a:t>Admin center › Agent 365 › Agent Map</a:t>
            </a:r>
            <a:endParaRPr lang="en-US" sz="1100" dirty="0"/>
          </a:p>
        </p:txBody>
      </p:sp>
      <p:sp>
        <p:nvSpPr>
          <p:cNvPr id="11" name="Benefits card"/>
          <p:cNvSpPr/>
          <p:nvPr/>
        </p:nvSpPr>
        <p:spPr>
          <a:xfrm>
            <a:off x="4663440" y="1325880"/>
            <a:ext cx="4023360" cy="3200400"/>
          </a:xfrm>
          <a:prstGeom prst="roundRect">
            <a:avLst>
              <a:gd name="adj" fmla="val 3429"/>
            </a:avLst>
          </a:prstGeom>
          <a:solidFill>
            <a:schemeClr val="tx2"/>
          </a:solidFill>
          <a:ln/>
        </p:spPr>
      </p:sp>
      <p:sp>
        <p:nvSpPr>
          <p:cNvPr id="12" name="Text 8"/>
          <p:cNvSpPr txBox="1"/>
          <p:nvPr/>
        </p:nvSpPr>
        <p:spPr>
          <a:xfrm>
            <a:off x="4937760" y="1463040"/>
            <a:ext cx="3566160" cy="457200"/>
          </a:xfrm>
          <a:prstGeom prst="rect">
            <a:avLst/>
          </a:prstGeom>
          <a:noFill/>
          <a:ln/>
        </p:spPr>
        <p:txBody>
          <a:bodyPr wrap="square" lIns="0" tIns="0" rIns="0" bIns="0" rtlCol="0" anchor="ctr"/>
          <a:lstStyle/>
          <a:p>
            <a:pPr indent="0" marL="0">
              <a:buNone/>
            </a:pPr>
            <a:r>
              <a:rPr lang="en-US" sz="1800" b="1" dirty="0">
                <a:solidFill>
                  <a:schemeClr val="bg1"/>
                </a:solidFill>
              </a:rPr>
              <a:t>What it brings us</a:t>
            </a:r>
            <a:endParaRPr lang="en-US" sz="1800" dirty="0"/>
          </a:p>
        </p:txBody>
      </p:sp>
      <p:pic>
        <p:nvPicPr>
          <p:cNvPr id="13" name="Image 2" descr="Benefit">    </p:cNvPr>
          <p:cNvPicPr>
            <a:picLocks noChangeAspect="1"/>
          </p:cNvPicPr>
          <p:nvPr/>
        </p:nvPicPr>
        <p:blipFill>
          <a:blip r:embed="rId3"/>
          <a:stretch>
            <a:fillRect/>
          </a:stretch>
        </p:blipFill>
        <p:spPr>
          <a:xfrm>
            <a:off x="4937760" y="2084832"/>
            <a:ext cx="256032" cy="256032"/>
          </a:xfrm>
          <a:prstGeom prst="rect">
            <a:avLst/>
          </a:prstGeom>
        </p:spPr>
      </p:pic>
      <p:sp>
        <p:nvSpPr>
          <p:cNvPr id="14" name="Text 9"/>
          <p:cNvSpPr txBox="1"/>
          <p:nvPr/>
        </p:nvSpPr>
        <p:spPr>
          <a:xfrm>
            <a:off x="5349240" y="2057400"/>
            <a:ext cx="3154680" cy="731520"/>
          </a:xfrm>
          <a:prstGeom prst="rect">
            <a:avLst/>
          </a:prstGeom>
          <a:noFill/>
          <a:ln/>
        </p:spPr>
        <p:txBody>
          <a:bodyPr wrap="square" lIns="0" tIns="0" rIns="0" bIns="0" rtlCol="0" anchor="t"/>
          <a:lstStyle/>
          <a:p>
            <a:pPr indent="0" marL="0">
              <a:buNone/>
            </a:pPr>
            <a:r>
              <a:rPr lang="en-US" sz="1300" b="1" dirty="0">
                <a:solidFill>
                  <a:schemeClr val="bg1"/>
                </a:solidFill>
              </a:rPr>
              <a:t>Understand scale</a:t>
            </a:r>
            <a:endParaRPr lang="en-US" sz="1300" dirty="0"/>
          </a:p>
          <a:p>
            <a:pPr indent="0" marL="0">
              <a:buNone/>
            </a:pPr>
            <a:r>
              <a:rPr lang="en-US" sz="1300" dirty="0">
                <a:solidFill>
                  <a:schemeClr val="bg2"/>
                </a:solidFill>
              </a:rPr>
              <a:t>make sense of hundreds of agents without reading long lists.</a:t>
            </a:r>
            <a:endParaRPr lang="en-US" sz="1300" dirty="0"/>
          </a:p>
        </p:txBody>
      </p:sp>
      <p:pic>
        <p:nvPicPr>
          <p:cNvPr id="15" name="Image 3" descr="Benefit">    </p:cNvPr>
          <p:cNvPicPr>
            <a:picLocks noChangeAspect="1"/>
          </p:cNvPicPr>
          <p:nvPr/>
        </p:nvPicPr>
        <p:blipFill>
          <a:blip r:embed="rId4"/>
          <a:stretch>
            <a:fillRect/>
          </a:stretch>
        </p:blipFill>
        <p:spPr>
          <a:xfrm>
            <a:off x="4937760" y="2889504"/>
            <a:ext cx="256032" cy="256032"/>
          </a:xfrm>
          <a:prstGeom prst="rect">
            <a:avLst/>
          </a:prstGeom>
        </p:spPr>
      </p:pic>
      <p:sp>
        <p:nvSpPr>
          <p:cNvPr id="16" name="Text 10"/>
          <p:cNvSpPr txBox="1"/>
          <p:nvPr/>
        </p:nvSpPr>
        <p:spPr>
          <a:xfrm>
            <a:off x="5349240" y="2862072"/>
            <a:ext cx="3154680" cy="731520"/>
          </a:xfrm>
          <a:prstGeom prst="rect">
            <a:avLst/>
          </a:prstGeom>
          <a:noFill/>
          <a:ln/>
        </p:spPr>
        <p:txBody>
          <a:bodyPr wrap="square" lIns="0" tIns="0" rIns="0" bIns="0" rtlCol="0" anchor="t"/>
          <a:lstStyle/>
          <a:p>
            <a:pPr indent="0" marL="0">
              <a:buNone/>
            </a:pPr>
            <a:r>
              <a:rPr lang="en-US" sz="1300" b="1" dirty="0">
                <a:solidFill>
                  <a:schemeClr val="bg1"/>
                </a:solidFill>
              </a:rPr>
              <a:t>Find patterns</a:t>
            </a:r>
            <a:endParaRPr lang="en-US" sz="1300" dirty="0"/>
          </a:p>
          <a:p>
            <a:pPr indent="0" marL="0">
              <a:buNone/>
            </a:pPr>
            <a:r>
              <a:rPr lang="en-US" sz="1300" dirty="0">
                <a:solidFill>
                  <a:schemeClr val="bg2"/>
                </a:solidFill>
              </a:rPr>
              <a:t>see which platforms, channels and data sources are used most.</a:t>
            </a:r>
            <a:endParaRPr lang="en-US" sz="1300" dirty="0"/>
          </a:p>
        </p:txBody>
      </p:sp>
      <p:pic>
        <p:nvPicPr>
          <p:cNvPr id="17" name="Image 4" descr="Benefit">    </p:cNvPr>
          <p:cNvPicPr>
            <a:picLocks noChangeAspect="1"/>
          </p:cNvPicPr>
          <p:nvPr/>
        </p:nvPicPr>
        <p:blipFill>
          <a:blip r:embed="rId5"/>
          <a:stretch>
            <a:fillRect/>
          </a:stretch>
        </p:blipFill>
        <p:spPr>
          <a:xfrm>
            <a:off x="4937760" y="3694176"/>
            <a:ext cx="256032" cy="256032"/>
          </a:xfrm>
          <a:prstGeom prst="rect">
            <a:avLst/>
          </a:prstGeom>
        </p:spPr>
      </p:pic>
      <p:sp>
        <p:nvSpPr>
          <p:cNvPr id="18" name="Text 11"/>
          <p:cNvSpPr txBox="1"/>
          <p:nvPr/>
        </p:nvSpPr>
        <p:spPr>
          <a:xfrm>
            <a:off x="5349240" y="3666744"/>
            <a:ext cx="3154680" cy="731520"/>
          </a:xfrm>
          <a:prstGeom prst="rect">
            <a:avLst/>
          </a:prstGeom>
          <a:noFill/>
          <a:ln/>
        </p:spPr>
        <p:txBody>
          <a:bodyPr wrap="square" lIns="0" tIns="0" rIns="0" bIns="0" rtlCol="0" anchor="t"/>
          <a:lstStyle/>
          <a:p>
            <a:pPr indent="0" marL="0">
              <a:buNone/>
            </a:pPr>
            <a:r>
              <a:rPr lang="en-US" sz="1300" b="1" dirty="0">
                <a:solidFill>
                  <a:schemeClr val="bg1"/>
                </a:solidFill>
              </a:rPr>
              <a:t>Tell the story</a:t>
            </a:r>
            <a:endParaRPr lang="en-US" sz="1300" dirty="0"/>
          </a:p>
          <a:p>
            <a:pPr indent="0" marL="0">
              <a:buNone/>
            </a:pPr>
            <a:r>
              <a:rPr lang="en-US" sz="1300" dirty="0">
                <a:solidFill>
                  <a:schemeClr val="bg2"/>
                </a:solidFill>
              </a:rPr>
              <a:t>a clear picture for stakeholders and security reviews.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5"/>
                </a:solidFill>
              </a:rPr>
              <a:t>04  ·  GOVERN</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Lifecycle: from request to retirement</a:t>
            </a:r>
            <a:endParaRPr lang="en-US" sz="2800" dirty="0"/>
          </a:p>
        </p:txBody>
      </p:sp>
      <p:sp>
        <p:nvSpPr>
          <p:cNvPr id="4" name="Feature icon bg"/>
          <p:cNvSpPr/>
          <p:nvPr/>
        </p:nvSpPr>
        <p:spPr>
          <a:xfrm>
            <a:off x="457200" y="1325880"/>
            <a:ext cx="640080" cy="640080"/>
          </a:xfrm>
          <a:prstGeom prst="ellipse">
            <a:avLst/>
          </a:prstGeom>
          <a:solidFill>
            <a:schemeClr val="accent5"/>
          </a:solidFill>
          <a:ln/>
        </p:spPr>
      </p:sp>
      <p:pic>
        <p:nvPicPr>
          <p:cNvPr id="5" name="Image 0" descr="Lifecycle governance">    </p:cNvPr>
          <p:cNvPicPr>
            <a:picLocks noChangeAspect="1"/>
          </p:cNvPicPr>
          <p:nvPr/>
        </p:nvPicPr>
        <p:blipFill>
          <a:blip r:embed="rId1"/>
          <a:stretch>
            <a:fillRect/>
          </a:stretch>
        </p:blipFill>
        <p:spPr>
          <a:xfrm>
            <a:off x="594360" y="1463040"/>
            <a:ext cx="365760" cy="365760"/>
          </a:xfrm>
          <a:prstGeom prst="rect">
            <a:avLst/>
          </a:prstGeom>
        </p:spPr>
      </p:pic>
      <p:sp>
        <p:nvSpPr>
          <p:cNvPr id="6" name="Text 3"/>
          <p:cNvSpPr txBox="1"/>
          <p:nvPr/>
        </p:nvSpPr>
        <p:spPr>
          <a:xfrm>
            <a:off x="1280160" y="1325880"/>
            <a:ext cx="2926080" cy="640080"/>
          </a:xfrm>
          <a:prstGeom prst="rect">
            <a:avLst/>
          </a:prstGeom>
          <a:noFill/>
          <a:ln/>
        </p:spPr>
        <p:txBody>
          <a:bodyPr wrap="square" lIns="0" tIns="0" rIns="0" bIns="0" rtlCol="0" anchor="ctr"/>
          <a:lstStyle/>
          <a:p>
            <a:pPr indent="0" marL="0">
              <a:buNone/>
            </a:pPr>
            <a:r>
              <a:rPr lang="en-US" sz="1800" b="1" dirty="0">
                <a:solidFill>
                  <a:schemeClr val="tx2"/>
                </a:solidFill>
              </a:rPr>
              <a:t>What it is</a:t>
            </a:r>
            <a:endParaRPr lang="en-US" sz="1800" dirty="0"/>
          </a:p>
        </p:txBody>
      </p:sp>
      <p:sp>
        <p:nvSpPr>
          <p:cNvPr id="7" name="Text 4"/>
          <p:cNvSpPr txBox="1"/>
          <p:nvPr/>
        </p:nvSpPr>
        <p:spPr>
          <a:xfrm>
            <a:off x="457200" y="2148840"/>
            <a:ext cx="3840480" cy="17830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Admin actions on every agent from the registry: approve and publish, deploy and pin for users or groups, block, remove, delete and reassign ownership. Blocking stops users from installing or using the agent in Microsoft 365 experiences.</a:t>
            </a:r>
            <a:endParaRPr lang="en-US" sz="1400" dirty="0"/>
          </a:p>
        </p:txBody>
      </p:sp>
      <p:sp>
        <p:nvSpPr>
          <p:cNvPr id="8" name="Portal path chip"/>
          <p:cNvSpPr/>
          <p:nvPr/>
        </p:nvSpPr>
        <p:spPr>
          <a:xfrm>
            <a:off x="457200" y="4069080"/>
            <a:ext cx="3840480" cy="457200"/>
          </a:xfrm>
          <a:prstGeom prst="roundRect">
            <a:avLst>
              <a:gd name="adj" fmla="val 50000"/>
            </a:avLst>
          </a:prstGeom>
          <a:solidFill>
            <a:schemeClr val="bg2"/>
          </a:solidFill>
          <a:ln/>
        </p:spPr>
      </p:sp>
      <p:pic>
        <p:nvPicPr>
          <p:cNvPr id="9" name="Image 1" descr="Location">    </p:cNvPr>
          <p:cNvPicPr>
            <a:picLocks noChangeAspect="1"/>
          </p:cNvPicPr>
          <p:nvPr/>
        </p:nvPicPr>
        <p:blipFill>
          <a:blip r:embed="rId2"/>
          <a:stretch>
            <a:fillRect/>
          </a:stretch>
        </p:blipFill>
        <p:spPr>
          <a:xfrm>
            <a:off x="594360" y="4160520"/>
            <a:ext cx="274320" cy="274320"/>
          </a:xfrm>
          <a:prstGeom prst="rect">
            <a:avLst/>
          </a:prstGeom>
        </p:spPr>
      </p:pic>
      <p:sp>
        <p:nvSpPr>
          <p:cNvPr id="10" name="Text 6"/>
          <p:cNvSpPr txBox="1"/>
          <p:nvPr/>
        </p:nvSpPr>
        <p:spPr>
          <a:xfrm>
            <a:off x="960120" y="4069080"/>
            <a:ext cx="3246120" cy="457200"/>
          </a:xfrm>
          <a:prstGeom prst="rect">
            <a:avLst/>
          </a:prstGeom>
          <a:noFill/>
          <a:ln/>
        </p:spPr>
        <p:txBody>
          <a:bodyPr wrap="square" lIns="0" tIns="0" rIns="0" bIns="0" rtlCol="0" anchor="ctr"/>
          <a:lstStyle/>
          <a:p>
            <a:pPr indent="0" marL="0">
              <a:buNone/>
            </a:pPr>
            <a:r>
              <a:rPr lang="en-US" sz="1100" dirty="0">
                <a:solidFill>
                  <a:schemeClr val="tx2"/>
                </a:solidFill>
              </a:rPr>
              <a:t>Admin center › Agent 365 › Agent registry › select agent</a:t>
            </a:r>
            <a:endParaRPr lang="en-US" sz="1100" dirty="0"/>
          </a:p>
        </p:txBody>
      </p:sp>
      <p:sp>
        <p:nvSpPr>
          <p:cNvPr id="11" name="Benefits card"/>
          <p:cNvSpPr/>
          <p:nvPr/>
        </p:nvSpPr>
        <p:spPr>
          <a:xfrm>
            <a:off x="4663440" y="1325880"/>
            <a:ext cx="4023360" cy="3200400"/>
          </a:xfrm>
          <a:prstGeom prst="roundRect">
            <a:avLst>
              <a:gd name="adj" fmla="val 3429"/>
            </a:avLst>
          </a:prstGeom>
          <a:solidFill>
            <a:schemeClr val="tx2"/>
          </a:solidFill>
          <a:ln/>
        </p:spPr>
      </p:sp>
      <p:sp>
        <p:nvSpPr>
          <p:cNvPr id="12" name="Text 8"/>
          <p:cNvSpPr txBox="1"/>
          <p:nvPr/>
        </p:nvSpPr>
        <p:spPr>
          <a:xfrm>
            <a:off x="4937760" y="1463040"/>
            <a:ext cx="3566160" cy="457200"/>
          </a:xfrm>
          <a:prstGeom prst="rect">
            <a:avLst/>
          </a:prstGeom>
          <a:noFill/>
          <a:ln/>
        </p:spPr>
        <p:txBody>
          <a:bodyPr wrap="square" lIns="0" tIns="0" rIns="0" bIns="0" rtlCol="0" anchor="ctr"/>
          <a:lstStyle/>
          <a:p>
            <a:pPr indent="0" marL="0">
              <a:buNone/>
            </a:pPr>
            <a:r>
              <a:rPr lang="en-US" sz="1800" b="1" dirty="0">
                <a:solidFill>
                  <a:schemeClr val="bg1"/>
                </a:solidFill>
              </a:rPr>
              <a:t>What it brings us</a:t>
            </a:r>
            <a:endParaRPr lang="en-US" sz="1800" dirty="0"/>
          </a:p>
        </p:txBody>
      </p:sp>
      <p:pic>
        <p:nvPicPr>
          <p:cNvPr id="13" name="Image 2" descr="Benefit">    </p:cNvPr>
          <p:cNvPicPr>
            <a:picLocks noChangeAspect="1"/>
          </p:cNvPicPr>
          <p:nvPr/>
        </p:nvPicPr>
        <p:blipFill>
          <a:blip r:embed="rId3"/>
          <a:stretch>
            <a:fillRect/>
          </a:stretch>
        </p:blipFill>
        <p:spPr>
          <a:xfrm>
            <a:off x="4937760" y="2084832"/>
            <a:ext cx="256032" cy="256032"/>
          </a:xfrm>
          <a:prstGeom prst="rect">
            <a:avLst/>
          </a:prstGeom>
        </p:spPr>
      </p:pic>
      <p:sp>
        <p:nvSpPr>
          <p:cNvPr id="14" name="Text 9"/>
          <p:cNvSpPr txBox="1"/>
          <p:nvPr/>
        </p:nvSpPr>
        <p:spPr>
          <a:xfrm>
            <a:off x="5349240" y="2057400"/>
            <a:ext cx="3154680" cy="731520"/>
          </a:xfrm>
          <a:prstGeom prst="rect">
            <a:avLst/>
          </a:prstGeom>
          <a:noFill/>
          <a:ln/>
        </p:spPr>
        <p:txBody>
          <a:bodyPr wrap="square" lIns="0" tIns="0" rIns="0" bIns="0" rtlCol="0" anchor="t"/>
          <a:lstStyle/>
          <a:p>
            <a:pPr indent="0" marL="0">
              <a:buNone/>
            </a:pPr>
            <a:r>
              <a:rPr lang="en-US" sz="1300" b="1" dirty="0">
                <a:solidFill>
                  <a:schemeClr val="bg1"/>
                </a:solidFill>
              </a:rPr>
              <a:t>Only approved agents</a:t>
            </a:r>
            <a:endParaRPr lang="en-US" sz="1300" dirty="0"/>
          </a:p>
          <a:p>
            <a:pPr indent="0" marL="0">
              <a:buNone/>
            </a:pPr>
            <a:r>
              <a:rPr lang="en-US" sz="1300" dirty="0">
                <a:solidFill>
                  <a:schemeClr val="bg2"/>
                </a:solidFill>
              </a:rPr>
              <a:t>users get agents we have reviewed and published.</a:t>
            </a:r>
            <a:endParaRPr lang="en-US" sz="1300" dirty="0"/>
          </a:p>
        </p:txBody>
      </p:sp>
      <p:pic>
        <p:nvPicPr>
          <p:cNvPr id="15" name="Image 3" descr="Benefit">    </p:cNvPr>
          <p:cNvPicPr>
            <a:picLocks noChangeAspect="1"/>
          </p:cNvPicPr>
          <p:nvPr/>
        </p:nvPicPr>
        <p:blipFill>
          <a:blip r:embed="rId4"/>
          <a:stretch>
            <a:fillRect/>
          </a:stretch>
        </p:blipFill>
        <p:spPr>
          <a:xfrm>
            <a:off x="4937760" y="2889504"/>
            <a:ext cx="256032" cy="256032"/>
          </a:xfrm>
          <a:prstGeom prst="rect">
            <a:avLst/>
          </a:prstGeom>
        </p:spPr>
      </p:pic>
      <p:sp>
        <p:nvSpPr>
          <p:cNvPr id="16" name="Text 10"/>
          <p:cNvSpPr txBox="1"/>
          <p:nvPr/>
        </p:nvSpPr>
        <p:spPr>
          <a:xfrm>
            <a:off x="5349240" y="2862072"/>
            <a:ext cx="3154680" cy="731520"/>
          </a:xfrm>
          <a:prstGeom prst="rect">
            <a:avLst/>
          </a:prstGeom>
          <a:noFill/>
          <a:ln/>
        </p:spPr>
        <p:txBody>
          <a:bodyPr wrap="square" lIns="0" tIns="0" rIns="0" bIns="0" rtlCol="0" anchor="t"/>
          <a:lstStyle/>
          <a:p>
            <a:pPr indent="0" marL="0">
              <a:buNone/>
            </a:pPr>
            <a:r>
              <a:rPr lang="en-US" sz="1300" b="1" dirty="0">
                <a:solidFill>
                  <a:schemeClr val="bg1"/>
                </a:solidFill>
              </a:rPr>
              <a:t>Fast response</a:t>
            </a:r>
            <a:endParaRPr lang="en-US" sz="1300" dirty="0"/>
          </a:p>
          <a:p>
            <a:pPr indent="0" marL="0">
              <a:buNone/>
            </a:pPr>
            <a:r>
              <a:rPr lang="en-US" sz="1300" dirty="0">
                <a:solidFill>
                  <a:schemeClr val="bg2"/>
                </a:solidFill>
              </a:rPr>
              <a:t>block a risky or broken agent for everyone in one click.</a:t>
            </a:r>
            <a:endParaRPr lang="en-US" sz="1300" dirty="0"/>
          </a:p>
        </p:txBody>
      </p:sp>
      <p:pic>
        <p:nvPicPr>
          <p:cNvPr id="17" name="Image 4" descr="Benefit">    </p:cNvPr>
          <p:cNvPicPr>
            <a:picLocks noChangeAspect="1"/>
          </p:cNvPicPr>
          <p:nvPr/>
        </p:nvPicPr>
        <p:blipFill>
          <a:blip r:embed="rId5"/>
          <a:stretch>
            <a:fillRect/>
          </a:stretch>
        </p:blipFill>
        <p:spPr>
          <a:xfrm>
            <a:off x="4937760" y="3694176"/>
            <a:ext cx="256032" cy="256032"/>
          </a:xfrm>
          <a:prstGeom prst="rect">
            <a:avLst/>
          </a:prstGeom>
        </p:spPr>
      </p:pic>
      <p:sp>
        <p:nvSpPr>
          <p:cNvPr id="18" name="Text 11"/>
          <p:cNvSpPr txBox="1"/>
          <p:nvPr/>
        </p:nvSpPr>
        <p:spPr>
          <a:xfrm>
            <a:off x="5349240" y="3666744"/>
            <a:ext cx="3154680" cy="731520"/>
          </a:xfrm>
          <a:prstGeom prst="rect">
            <a:avLst/>
          </a:prstGeom>
          <a:noFill/>
          <a:ln/>
        </p:spPr>
        <p:txBody>
          <a:bodyPr wrap="square" lIns="0" tIns="0" rIns="0" bIns="0" rtlCol="0" anchor="t"/>
          <a:lstStyle/>
          <a:p>
            <a:pPr indent="0" marL="0">
              <a:buNone/>
            </a:pPr>
            <a:r>
              <a:rPr lang="en-US" sz="1300" b="1" dirty="0">
                <a:solidFill>
                  <a:schemeClr val="bg1"/>
                </a:solidFill>
              </a:rPr>
              <a:t>Continuity</a:t>
            </a:r>
            <a:endParaRPr lang="en-US" sz="1300" dirty="0"/>
          </a:p>
          <a:p>
            <a:pPr indent="0" marL="0">
              <a:buNone/>
            </a:pPr>
            <a:r>
              <a:rPr lang="en-US" sz="1300" dirty="0">
                <a:solidFill>
                  <a:schemeClr val="bg2"/>
                </a:solidFill>
              </a:rPr>
              <a:t>reassign agents when owners change role or leave.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5"/>
                </a:solidFill>
              </a:rPr>
              <a:t>05  ·  GOVERN</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Entra Agent ID: every agent gets an identity</a:t>
            </a:r>
            <a:endParaRPr lang="en-US" sz="2800" dirty="0"/>
          </a:p>
        </p:txBody>
      </p:sp>
      <p:sp>
        <p:nvSpPr>
          <p:cNvPr id="4" name="Feature icon bg"/>
          <p:cNvSpPr/>
          <p:nvPr/>
        </p:nvSpPr>
        <p:spPr>
          <a:xfrm>
            <a:off x="457200" y="1325880"/>
            <a:ext cx="640080" cy="640080"/>
          </a:xfrm>
          <a:prstGeom prst="ellipse">
            <a:avLst/>
          </a:prstGeom>
          <a:solidFill>
            <a:schemeClr val="accent5"/>
          </a:solidFill>
          <a:ln/>
        </p:spPr>
      </p:sp>
      <p:pic>
        <p:nvPicPr>
          <p:cNvPr id="5" name="Image 0" descr="Entra Agent ID">    </p:cNvPr>
          <p:cNvPicPr>
            <a:picLocks noChangeAspect="1"/>
          </p:cNvPicPr>
          <p:nvPr/>
        </p:nvPicPr>
        <p:blipFill>
          <a:blip r:embed="rId1"/>
          <a:stretch>
            <a:fillRect/>
          </a:stretch>
        </p:blipFill>
        <p:spPr>
          <a:xfrm>
            <a:off x="594360" y="1463040"/>
            <a:ext cx="365760" cy="365760"/>
          </a:xfrm>
          <a:prstGeom prst="rect">
            <a:avLst/>
          </a:prstGeom>
        </p:spPr>
      </p:pic>
      <p:sp>
        <p:nvSpPr>
          <p:cNvPr id="6" name="Text 3"/>
          <p:cNvSpPr txBox="1"/>
          <p:nvPr/>
        </p:nvSpPr>
        <p:spPr>
          <a:xfrm>
            <a:off x="1280160" y="1325880"/>
            <a:ext cx="2926080" cy="640080"/>
          </a:xfrm>
          <a:prstGeom prst="rect">
            <a:avLst/>
          </a:prstGeom>
          <a:noFill/>
          <a:ln/>
        </p:spPr>
        <p:txBody>
          <a:bodyPr wrap="square" lIns="0" tIns="0" rIns="0" bIns="0" rtlCol="0" anchor="ctr"/>
          <a:lstStyle/>
          <a:p>
            <a:pPr indent="0" marL="0">
              <a:buNone/>
            </a:pPr>
            <a:r>
              <a:rPr lang="en-US" sz="1800" b="1" dirty="0">
                <a:solidFill>
                  <a:schemeClr val="tx2"/>
                </a:solidFill>
              </a:rPr>
              <a:t>What it is</a:t>
            </a:r>
            <a:endParaRPr lang="en-US" sz="1800" dirty="0"/>
          </a:p>
        </p:txBody>
      </p:sp>
      <p:sp>
        <p:nvSpPr>
          <p:cNvPr id="7" name="Text 4"/>
          <p:cNvSpPr txBox="1"/>
          <p:nvPr/>
        </p:nvSpPr>
        <p:spPr>
          <a:xfrm>
            <a:off x="457200" y="2148840"/>
            <a:ext cx="3840480" cy="17830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Microsoft Entra gives each agent its own identity – like a user account for the agent. We can apply Conditional Access, risk-based access, least-privilege permissions, access reviews and sponsors/owners, and see sign-in logs.</a:t>
            </a:r>
            <a:endParaRPr lang="en-US" sz="1400" dirty="0"/>
          </a:p>
        </p:txBody>
      </p:sp>
      <p:sp>
        <p:nvSpPr>
          <p:cNvPr id="8" name="Portal path chip"/>
          <p:cNvSpPr/>
          <p:nvPr/>
        </p:nvSpPr>
        <p:spPr>
          <a:xfrm>
            <a:off x="457200" y="4069080"/>
            <a:ext cx="3840480" cy="457200"/>
          </a:xfrm>
          <a:prstGeom prst="roundRect">
            <a:avLst>
              <a:gd name="adj" fmla="val 50000"/>
            </a:avLst>
          </a:prstGeom>
          <a:solidFill>
            <a:schemeClr val="bg2"/>
          </a:solidFill>
          <a:ln/>
        </p:spPr>
      </p:sp>
      <p:pic>
        <p:nvPicPr>
          <p:cNvPr id="9" name="Image 1" descr="Location">    </p:cNvPr>
          <p:cNvPicPr>
            <a:picLocks noChangeAspect="1"/>
          </p:cNvPicPr>
          <p:nvPr/>
        </p:nvPicPr>
        <p:blipFill>
          <a:blip r:embed="rId2"/>
          <a:stretch>
            <a:fillRect/>
          </a:stretch>
        </p:blipFill>
        <p:spPr>
          <a:xfrm>
            <a:off x="594360" y="4160520"/>
            <a:ext cx="274320" cy="274320"/>
          </a:xfrm>
          <a:prstGeom prst="rect">
            <a:avLst/>
          </a:prstGeom>
        </p:spPr>
      </p:pic>
      <p:sp>
        <p:nvSpPr>
          <p:cNvPr id="10" name="Text 6"/>
          <p:cNvSpPr txBox="1"/>
          <p:nvPr/>
        </p:nvSpPr>
        <p:spPr>
          <a:xfrm>
            <a:off x="960120" y="4069080"/>
            <a:ext cx="3246120" cy="457200"/>
          </a:xfrm>
          <a:prstGeom prst="rect">
            <a:avLst/>
          </a:prstGeom>
          <a:noFill/>
          <a:ln/>
        </p:spPr>
        <p:txBody>
          <a:bodyPr wrap="square" lIns="0" tIns="0" rIns="0" bIns="0" rtlCol="0" anchor="ctr"/>
          <a:lstStyle/>
          <a:p>
            <a:pPr indent="0" marL="0">
              <a:buNone/>
            </a:pPr>
            <a:r>
              <a:rPr lang="en-US" sz="1100" dirty="0">
                <a:solidFill>
                  <a:schemeClr val="tx2"/>
                </a:solidFill>
              </a:rPr>
              <a:t>Entra admin center › Agent ID</a:t>
            </a:r>
            <a:endParaRPr lang="en-US" sz="1100" dirty="0"/>
          </a:p>
        </p:txBody>
      </p:sp>
      <p:sp>
        <p:nvSpPr>
          <p:cNvPr id="11" name="Benefits card"/>
          <p:cNvSpPr/>
          <p:nvPr/>
        </p:nvSpPr>
        <p:spPr>
          <a:xfrm>
            <a:off x="4663440" y="1325880"/>
            <a:ext cx="4023360" cy="3200400"/>
          </a:xfrm>
          <a:prstGeom prst="roundRect">
            <a:avLst>
              <a:gd name="adj" fmla="val 3429"/>
            </a:avLst>
          </a:prstGeom>
          <a:solidFill>
            <a:schemeClr val="tx2"/>
          </a:solidFill>
          <a:ln/>
        </p:spPr>
      </p:sp>
      <p:sp>
        <p:nvSpPr>
          <p:cNvPr id="12" name="Text 8"/>
          <p:cNvSpPr txBox="1"/>
          <p:nvPr/>
        </p:nvSpPr>
        <p:spPr>
          <a:xfrm>
            <a:off x="4937760" y="1463040"/>
            <a:ext cx="3566160" cy="457200"/>
          </a:xfrm>
          <a:prstGeom prst="rect">
            <a:avLst/>
          </a:prstGeom>
          <a:noFill/>
          <a:ln/>
        </p:spPr>
        <p:txBody>
          <a:bodyPr wrap="square" lIns="0" tIns="0" rIns="0" bIns="0" rtlCol="0" anchor="ctr"/>
          <a:lstStyle/>
          <a:p>
            <a:pPr indent="0" marL="0">
              <a:buNone/>
            </a:pPr>
            <a:r>
              <a:rPr lang="en-US" sz="1800" b="1" dirty="0">
                <a:solidFill>
                  <a:schemeClr val="bg1"/>
                </a:solidFill>
              </a:rPr>
              <a:t>What it brings us</a:t>
            </a:r>
            <a:endParaRPr lang="en-US" sz="1800" dirty="0"/>
          </a:p>
        </p:txBody>
      </p:sp>
      <p:pic>
        <p:nvPicPr>
          <p:cNvPr id="13" name="Image 2" descr="Benefit">    </p:cNvPr>
          <p:cNvPicPr>
            <a:picLocks noChangeAspect="1"/>
          </p:cNvPicPr>
          <p:nvPr/>
        </p:nvPicPr>
        <p:blipFill>
          <a:blip r:embed="rId3"/>
          <a:stretch>
            <a:fillRect/>
          </a:stretch>
        </p:blipFill>
        <p:spPr>
          <a:xfrm>
            <a:off x="4937760" y="2084832"/>
            <a:ext cx="256032" cy="256032"/>
          </a:xfrm>
          <a:prstGeom prst="rect">
            <a:avLst/>
          </a:prstGeom>
        </p:spPr>
      </p:pic>
      <p:sp>
        <p:nvSpPr>
          <p:cNvPr id="14" name="Text 9"/>
          <p:cNvSpPr txBox="1"/>
          <p:nvPr/>
        </p:nvSpPr>
        <p:spPr>
          <a:xfrm>
            <a:off x="5349240" y="2057400"/>
            <a:ext cx="3154680" cy="731520"/>
          </a:xfrm>
          <a:prstGeom prst="rect">
            <a:avLst/>
          </a:prstGeom>
          <a:noFill/>
          <a:ln/>
        </p:spPr>
        <p:txBody>
          <a:bodyPr wrap="square" lIns="0" tIns="0" rIns="0" bIns="0" rtlCol="0" anchor="t"/>
          <a:lstStyle/>
          <a:p>
            <a:pPr indent="0" marL="0">
              <a:buNone/>
            </a:pPr>
            <a:r>
              <a:rPr lang="en-US" sz="1300" b="1" dirty="0">
                <a:solidFill>
                  <a:schemeClr val="bg1"/>
                </a:solidFill>
              </a:rPr>
              <a:t>Zero Trust for agents</a:t>
            </a:r>
            <a:endParaRPr lang="en-US" sz="1300" dirty="0"/>
          </a:p>
          <a:p>
            <a:pPr indent="0" marL="0">
              <a:buNone/>
            </a:pPr>
            <a:r>
              <a:rPr lang="en-US" sz="1300" dirty="0">
                <a:solidFill>
                  <a:schemeClr val="bg2"/>
                </a:solidFill>
              </a:rPr>
              <a:t>the same identity controls we use for people.</a:t>
            </a:r>
            <a:endParaRPr lang="en-US" sz="1300" dirty="0"/>
          </a:p>
        </p:txBody>
      </p:sp>
      <p:pic>
        <p:nvPicPr>
          <p:cNvPr id="15" name="Image 3" descr="Benefit">    </p:cNvPr>
          <p:cNvPicPr>
            <a:picLocks noChangeAspect="1"/>
          </p:cNvPicPr>
          <p:nvPr/>
        </p:nvPicPr>
        <p:blipFill>
          <a:blip r:embed="rId4"/>
          <a:stretch>
            <a:fillRect/>
          </a:stretch>
        </p:blipFill>
        <p:spPr>
          <a:xfrm>
            <a:off x="4937760" y="2889504"/>
            <a:ext cx="256032" cy="256032"/>
          </a:xfrm>
          <a:prstGeom prst="rect">
            <a:avLst/>
          </a:prstGeom>
        </p:spPr>
      </p:pic>
      <p:sp>
        <p:nvSpPr>
          <p:cNvPr id="16" name="Text 10"/>
          <p:cNvSpPr txBox="1"/>
          <p:nvPr/>
        </p:nvSpPr>
        <p:spPr>
          <a:xfrm>
            <a:off x="5349240" y="2862072"/>
            <a:ext cx="3154680" cy="731520"/>
          </a:xfrm>
          <a:prstGeom prst="rect">
            <a:avLst/>
          </a:prstGeom>
          <a:noFill/>
          <a:ln/>
        </p:spPr>
        <p:txBody>
          <a:bodyPr wrap="square" lIns="0" tIns="0" rIns="0" bIns="0" rtlCol="0" anchor="t"/>
          <a:lstStyle/>
          <a:p>
            <a:pPr indent="0" marL="0">
              <a:buNone/>
            </a:pPr>
            <a:r>
              <a:rPr lang="en-US" sz="1300" b="1" dirty="0">
                <a:solidFill>
                  <a:schemeClr val="bg1"/>
                </a:solidFill>
              </a:rPr>
              <a:t>Least privilege</a:t>
            </a:r>
            <a:endParaRPr lang="en-US" sz="1300" dirty="0"/>
          </a:p>
          <a:p>
            <a:pPr indent="0" marL="0">
              <a:buNone/>
            </a:pPr>
            <a:r>
              <a:rPr lang="en-US" sz="1300" dirty="0">
                <a:solidFill>
                  <a:schemeClr val="bg2"/>
                </a:solidFill>
              </a:rPr>
              <a:t>agents only reach the data and apps they really need.</a:t>
            </a:r>
            <a:endParaRPr lang="en-US" sz="1300" dirty="0"/>
          </a:p>
        </p:txBody>
      </p:sp>
      <p:pic>
        <p:nvPicPr>
          <p:cNvPr id="17" name="Image 4" descr="Benefit">    </p:cNvPr>
          <p:cNvPicPr>
            <a:picLocks noChangeAspect="1"/>
          </p:cNvPicPr>
          <p:nvPr/>
        </p:nvPicPr>
        <p:blipFill>
          <a:blip r:embed="rId5"/>
          <a:stretch>
            <a:fillRect/>
          </a:stretch>
        </p:blipFill>
        <p:spPr>
          <a:xfrm>
            <a:off x="4937760" y="3694176"/>
            <a:ext cx="256032" cy="256032"/>
          </a:xfrm>
          <a:prstGeom prst="rect">
            <a:avLst/>
          </a:prstGeom>
        </p:spPr>
      </p:pic>
      <p:sp>
        <p:nvSpPr>
          <p:cNvPr id="18" name="Text 11"/>
          <p:cNvSpPr txBox="1"/>
          <p:nvPr/>
        </p:nvSpPr>
        <p:spPr>
          <a:xfrm>
            <a:off x="5349240" y="3666744"/>
            <a:ext cx="3154680" cy="731520"/>
          </a:xfrm>
          <a:prstGeom prst="rect">
            <a:avLst/>
          </a:prstGeom>
          <a:noFill/>
          <a:ln/>
        </p:spPr>
        <p:txBody>
          <a:bodyPr wrap="square" lIns="0" tIns="0" rIns="0" bIns="0" rtlCol="0" anchor="t"/>
          <a:lstStyle/>
          <a:p>
            <a:pPr indent="0" marL="0">
              <a:buNone/>
            </a:pPr>
            <a:r>
              <a:rPr lang="en-US" sz="1300" b="1" dirty="0">
                <a:solidFill>
                  <a:schemeClr val="bg1"/>
                </a:solidFill>
              </a:rPr>
              <a:t>Clear audit trail</a:t>
            </a:r>
            <a:endParaRPr lang="en-US" sz="1300" dirty="0"/>
          </a:p>
          <a:p>
            <a:pPr indent="0" marL="0">
              <a:buNone/>
            </a:pPr>
            <a:r>
              <a:rPr lang="en-US" sz="1300" dirty="0">
                <a:solidFill>
                  <a:schemeClr val="bg2"/>
                </a:solidFill>
              </a:rPr>
              <a:t>every agent sign-in and action is attributable.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4"/>
                </a:solidFill>
              </a:rPr>
              <a:t>06  ·  SECURE</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Purview: protect the data agents touch</a:t>
            </a:r>
            <a:endParaRPr lang="en-US" sz="2800" dirty="0"/>
          </a:p>
        </p:txBody>
      </p:sp>
      <p:sp>
        <p:nvSpPr>
          <p:cNvPr id="4" name="Feature icon bg"/>
          <p:cNvSpPr/>
          <p:nvPr/>
        </p:nvSpPr>
        <p:spPr>
          <a:xfrm>
            <a:off x="457200" y="1325880"/>
            <a:ext cx="640080" cy="640080"/>
          </a:xfrm>
          <a:prstGeom prst="ellipse">
            <a:avLst/>
          </a:prstGeom>
          <a:solidFill>
            <a:schemeClr val="accent4"/>
          </a:solidFill>
          <a:ln/>
        </p:spPr>
      </p:sp>
      <p:pic>
        <p:nvPicPr>
          <p:cNvPr id="5" name="Image 0" descr="Purview data security">    </p:cNvPr>
          <p:cNvPicPr>
            <a:picLocks noChangeAspect="1"/>
          </p:cNvPicPr>
          <p:nvPr/>
        </p:nvPicPr>
        <p:blipFill>
          <a:blip r:embed="rId1"/>
          <a:stretch>
            <a:fillRect/>
          </a:stretch>
        </p:blipFill>
        <p:spPr>
          <a:xfrm>
            <a:off x="594360" y="1463040"/>
            <a:ext cx="365760" cy="365760"/>
          </a:xfrm>
          <a:prstGeom prst="rect">
            <a:avLst/>
          </a:prstGeom>
        </p:spPr>
      </p:pic>
      <p:sp>
        <p:nvSpPr>
          <p:cNvPr id="6" name="Text 3"/>
          <p:cNvSpPr txBox="1"/>
          <p:nvPr/>
        </p:nvSpPr>
        <p:spPr>
          <a:xfrm>
            <a:off x="1280160" y="1325880"/>
            <a:ext cx="2926080" cy="640080"/>
          </a:xfrm>
          <a:prstGeom prst="rect">
            <a:avLst/>
          </a:prstGeom>
          <a:noFill/>
          <a:ln/>
        </p:spPr>
        <p:txBody>
          <a:bodyPr wrap="square" lIns="0" tIns="0" rIns="0" bIns="0" rtlCol="0" anchor="ctr"/>
          <a:lstStyle/>
          <a:p>
            <a:pPr indent="0" marL="0">
              <a:buNone/>
            </a:pPr>
            <a:r>
              <a:rPr lang="en-US" sz="1800" b="1" dirty="0">
                <a:solidFill>
                  <a:schemeClr val="tx2"/>
                </a:solidFill>
              </a:rPr>
              <a:t>What it is</a:t>
            </a:r>
            <a:endParaRPr lang="en-US" sz="1800" dirty="0"/>
          </a:p>
        </p:txBody>
      </p:sp>
      <p:sp>
        <p:nvSpPr>
          <p:cNvPr id="7" name="Text 4"/>
          <p:cNvSpPr txBox="1"/>
          <p:nvPr/>
        </p:nvSpPr>
        <p:spPr>
          <a:xfrm>
            <a:off x="457200" y="2148840"/>
            <a:ext cx="3840480" cy="17830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Microsoft Purview applies our existing data security and compliance to agents: sensitivity labels, data loss prevention, audit, data security posture for AI, retention and eDiscovery of agent interactions.</a:t>
            </a:r>
            <a:endParaRPr lang="en-US" sz="1400" dirty="0"/>
          </a:p>
        </p:txBody>
      </p:sp>
      <p:sp>
        <p:nvSpPr>
          <p:cNvPr id="8" name="Portal path chip"/>
          <p:cNvSpPr/>
          <p:nvPr/>
        </p:nvSpPr>
        <p:spPr>
          <a:xfrm>
            <a:off x="457200" y="4069080"/>
            <a:ext cx="3840480" cy="457200"/>
          </a:xfrm>
          <a:prstGeom prst="roundRect">
            <a:avLst>
              <a:gd name="adj" fmla="val 50000"/>
            </a:avLst>
          </a:prstGeom>
          <a:solidFill>
            <a:schemeClr val="bg2"/>
          </a:solidFill>
          <a:ln/>
        </p:spPr>
      </p:sp>
      <p:pic>
        <p:nvPicPr>
          <p:cNvPr id="9" name="Image 1" descr="Location">    </p:cNvPr>
          <p:cNvPicPr>
            <a:picLocks noChangeAspect="1"/>
          </p:cNvPicPr>
          <p:nvPr/>
        </p:nvPicPr>
        <p:blipFill>
          <a:blip r:embed="rId2"/>
          <a:stretch>
            <a:fillRect/>
          </a:stretch>
        </p:blipFill>
        <p:spPr>
          <a:xfrm>
            <a:off x="594360" y="4160520"/>
            <a:ext cx="274320" cy="274320"/>
          </a:xfrm>
          <a:prstGeom prst="rect">
            <a:avLst/>
          </a:prstGeom>
        </p:spPr>
      </p:pic>
      <p:sp>
        <p:nvSpPr>
          <p:cNvPr id="10" name="Text 6"/>
          <p:cNvSpPr txBox="1"/>
          <p:nvPr/>
        </p:nvSpPr>
        <p:spPr>
          <a:xfrm>
            <a:off x="960120" y="4069080"/>
            <a:ext cx="3246120" cy="457200"/>
          </a:xfrm>
          <a:prstGeom prst="rect">
            <a:avLst/>
          </a:prstGeom>
          <a:noFill/>
          <a:ln/>
        </p:spPr>
        <p:txBody>
          <a:bodyPr wrap="square" lIns="0" tIns="0" rIns="0" bIns="0" rtlCol="0" anchor="ctr"/>
          <a:lstStyle/>
          <a:p>
            <a:pPr indent="0" marL="0">
              <a:buNone/>
            </a:pPr>
            <a:r>
              <a:rPr lang="en-US" sz="1100" dirty="0">
                <a:solidFill>
                  <a:schemeClr val="tx2"/>
                </a:solidFill>
              </a:rPr>
              <a:t>Purview portal › DSPM for AI, DLP, Audit</a:t>
            </a:r>
            <a:endParaRPr lang="en-US" sz="1100" dirty="0"/>
          </a:p>
        </p:txBody>
      </p:sp>
      <p:sp>
        <p:nvSpPr>
          <p:cNvPr id="11" name="Benefits card"/>
          <p:cNvSpPr/>
          <p:nvPr/>
        </p:nvSpPr>
        <p:spPr>
          <a:xfrm>
            <a:off x="4663440" y="1325880"/>
            <a:ext cx="4023360" cy="3200400"/>
          </a:xfrm>
          <a:prstGeom prst="roundRect">
            <a:avLst>
              <a:gd name="adj" fmla="val 3429"/>
            </a:avLst>
          </a:prstGeom>
          <a:solidFill>
            <a:schemeClr val="tx2"/>
          </a:solidFill>
          <a:ln/>
        </p:spPr>
      </p:sp>
      <p:sp>
        <p:nvSpPr>
          <p:cNvPr id="12" name="Text 8"/>
          <p:cNvSpPr txBox="1"/>
          <p:nvPr/>
        </p:nvSpPr>
        <p:spPr>
          <a:xfrm>
            <a:off x="4937760" y="1463040"/>
            <a:ext cx="3566160" cy="457200"/>
          </a:xfrm>
          <a:prstGeom prst="rect">
            <a:avLst/>
          </a:prstGeom>
          <a:noFill/>
          <a:ln/>
        </p:spPr>
        <p:txBody>
          <a:bodyPr wrap="square" lIns="0" tIns="0" rIns="0" bIns="0" rtlCol="0" anchor="ctr"/>
          <a:lstStyle/>
          <a:p>
            <a:pPr indent="0" marL="0">
              <a:buNone/>
            </a:pPr>
            <a:r>
              <a:rPr lang="en-US" sz="1800" b="1" dirty="0">
                <a:solidFill>
                  <a:schemeClr val="bg1"/>
                </a:solidFill>
              </a:rPr>
              <a:t>What it brings us</a:t>
            </a:r>
            <a:endParaRPr lang="en-US" sz="1800" dirty="0"/>
          </a:p>
        </p:txBody>
      </p:sp>
      <p:pic>
        <p:nvPicPr>
          <p:cNvPr id="13" name="Image 2" descr="Benefit">    </p:cNvPr>
          <p:cNvPicPr>
            <a:picLocks noChangeAspect="1"/>
          </p:cNvPicPr>
          <p:nvPr/>
        </p:nvPicPr>
        <p:blipFill>
          <a:blip r:embed="rId3"/>
          <a:stretch>
            <a:fillRect/>
          </a:stretch>
        </p:blipFill>
        <p:spPr>
          <a:xfrm>
            <a:off x="4937760" y="2084832"/>
            <a:ext cx="256032" cy="256032"/>
          </a:xfrm>
          <a:prstGeom prst="rect">
            <a:avLst/>
          </a:prstGeom>
        </p:spPr>
      </p:pic>
      <p:sp>
        <p:nvSpPr>
          <p:cNvPr id="14" name="Text 9"/>
          <p:cNvSpPr txBox="1"/>
          <p:nvPr/>
        </p:nvSpPr>
        <p:spPr>
          <a:xfrm>
            <a:off x="5349240" y="2057400"/>
            <a:ext cx="3154680" cy="731520"/>
          </a:xfrm>
          <a:prstGeom prst="rect">
            <a:avLst/>
          </a:prstGeom>
          <a:noFill/>
          <a:ln/>
        </p:spPr>
        <p:txBody>
          <a:bodyPr wrap="square" lIns="0" tIns="0" rIns="0" bIns="0" rtlCol="0" anchor="t"/>
          <a:lstStyle/>
          <a:p>
            <a:pPr indent="0" marL="0">
              <a:buNone/>
            </a:pPr>
            <a:r>
              <a:rPr lang="en-US" sz="1300" b="1" dirty="0">
                <a:solidFill>
                  <a:schemeClr val="bg1"/>
                </a:solidFill>
              </a:rPr>
              <a:t>Stop oversharing</a:t>
            </a:r>
            <a:endParaRPr lang="en-US" sz="1300" dirty="0"/>
          </a:p>
          <a:p>
            <a:pPr indent="0" marL="0">
              <a:buNone/>
            </a:pPr>
            <a:r>
              <a:rPr lang="en-US" sz="1300" dirty="0">
                <a:solidFill>
                  <a:schemeClr val="bg2"/>
                </a:solidFill>
              </a:rPr>
              <a:t>agents respect labels and DLP, so confidential data stays protected.</a:t>
            </a:r>
            <a:endParaRPr lang="en-US" sz="1300" dirty="0"/>
          </a:p>
        </p:txBody>
      </p:sp>
      <p:pic>
        <p:nvPicPr>
          <p:cNvPr id="15" name="Image 3" descr="Benefit">    </p:cNvPr>
          <p:cNvPicPr>
            <a:picLocks noChangeAspect="1"/>
          </p:cNvPicPr>
          <p:nvPr/>
        </p:nvPicPr>
        <p:blipFill>
          <a:blip r:embed="rId4"/>
          <a:stretch>
            <a:fillRect/>
          </a:stretch>
        </p:blipFill>
        <p:spPr>
          <a:xfrm>
            <a:off x="4937760" y="2889504"/>
            <a:ext cx="256032" cy="256032"/>
          </a:xfrm>
          <a:prstGeom prst="rect">
            <a:avLst/>
          </a:prstGeom>
        </p:spPr>
      </p:pic>
      <p:sp>
        <p:nvSpPr>
          <p:cNvPr id="16" name="Text 10"/>
          <p:cNvSpPr txBox="1"/>
          <p:nvPr/>
        </p:nvSpPr>
        <p:spPr>
          <a:xfrm>
            <a:off x="5349240" y="2862072"/>
            <a:ext cx="3154680" cy="731520"/>
          </a:xfrm>
          <a:prstGeom prst="rect">
            <a:avLst/>
          </a:prstGeom>
          <a:noFill/>
          <a:ln/>
        </p:spPr>
        <p:txBody>
          <a:bodyPr wrap="square" lIns="0" tIns="0" rIns="0" bIns="0" rtlCol="0" anchor="t"/>
          <a:lstStyle/>
          <a:p>
            <a:pPr indent="0" marL="0">
              <a:buNone/>
            </a:pPr>
            <a:r>
              <a:rPr lang="en-US" sz="1300" b="1" dirty="0">
                <a:solidFill>
                  <a:schemeClr val="bg1"/>
                </a:solidFill>
              </a:rPr>
              <a:t>Compliance ready</a:t>
            </a:r>
            <a:endParaRPr lang="en-US" sz="1300" dirty="0"/>
          </a:p>
          <a:p>
            <a:pPr indent="0" marL="0">
              <a:buNone/>
            </a:pPr>
            <a:r>
              <a:rPr lang="en-US" sz="1300" dirty="0">
                <a:solidFill>
                  <a:schemeClr val="bg2"/>
                </a:solidFill>
              </a:rPr>
              <a:t>agent activity is audited and retained for regulators.</a:t>
            </a:r>
            <a:endParaRPr lang="en-US" sz="1300" dirty="0"/>
          </a:p>
        </p:txBody>
      </p:sp>
      <p:pic>
        <p:nvPicPr>
          <p:cNvPr id="17" name="Image 4" descr="Benefit">    </p:cNvPr>
          <p:cNvPicPr>
            <a:picLocks noChangeAspect="1"/>
          </p:cNvPicPr>
          <p:nvPr/>
        </p:nvPicPr>
        <p:blipFill>
          <a:blip r:embed="rId5"/>
          <a:stretch>
            <a:fillRect/>
          </a:stretch>
        </p:blipFill>
        <p:spPr>
          <a:xfrm>
            <a:off x="4937760" y="3694176"/>
            <a:ext cx="256032" cy="256032"/>
          </a:xfrm>
          <a:prstGeom prst="rect">
            <a:avLst/>
          </a:prstGeom>
        </p:spPr>
      </p:pic>
      <p:sp>
        <p:nvSpPr>
          <p:cNvPr id="18" name="Text 11"/>
          <p:cNvSpPr txBox="1"/>
          <p:nvPr/>
        </p:nvSpPr>
        <p:spPr>
          <a:xfrm>
            <a:off x="5349240" y="3666744"/>
            <a:ext cx="3154680" cy="731520"/>
          </a:xfrm>
          <a:prstGeom prst="rect">
            <a:avLst/>
          </a:prstGeom>
          <a:noFill/>
          <a:ln/>
        </p:spPr>
        <p:txBody>
          <a:bodyPr wrap="square" lIns="0" tIns="0" rIns="0" bIns="0" rtlCol="0" anchor="t"/>
          <a:lstStyle/>
          <a:p>
            <a:pPr indent="0" marL="0">
              <a:buNone/>
            </a:pPr>
            <a:r>
              <a:rPr lang="en-US" sz="1300" b="1" dirty="0">
                <a:solidFill>
                  <a:schemeClr val="bg1"/>
                </a:solidFill>
              </a:rPr>
              <a:t>Reuse what we have</a:t>
            </a:r>
            <a:endParaRPr lang="en-US" sz="1300" dirty="0"/>
          </a:p>
          <a:p>
            <a:pPr indent="0" marL="0">
              <a:buNone/>
            </a:pPr>
            <a:r>
              <a:rPr lang="en-US" sz="1300" dirty="0">
                <a:solidFill>
                  <a:schemeClr val="bg2"/>
                </a:solidFill>
              </a:rPr>
              <a:t>no new policy set – we extend today's Purview policies.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4"/>
                </a:solidFill>
              </a:rPr>
              <a:t>07  ·  SECURE</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Defender: detect and stop agent threats</a:t>
            </a:r>
            <a:endParaRPr lang="en-US" sz="2800" dirty="0"/>
          </a:p>
        </p:txBody>
      </p:sp>
      <p:sp>
        <p:nvSpPr>
          <p:cNvPr id="4" name="Feature icon bg"/>
          <p:cNvSpPr/>
          <p:nvPr/>
        </p:nvSpPr>
        <p:spPr>
          <a:xfrm>
            <a:off x="457200" y="1325880"/>
            <a:ext cx="640080" cy="640080"/>
          </a:xfrm>
          <a:prstGeom prst="ellipse">
            <a:avLst/>
          </a:prstGeom>
          <a:solidFill>
            <a:schemeClr val="accent4"/>
          </a:solidFill>
          <a:ln/>
        </p:spPr>
      </p:sp>
      <p:pic>
        <p:nvPicPr>
          <p:cNvPr id="5" name="Image 0" descr="Defender threat protection">    </p:cNvPr>
          <p:cNvPicPr>
            <a:picLocks noChangeAspect="1"/>
          </p:cNvPicPr>
          <p:nvPr/>
        </p:nvPicPr>
        <p:blipFill>
          <a:blip r:embed="rId1"/>
          <a:stretch>
            <a:fillRect/>
          </a:stretch>
        </p:blipFill>
        <p:spPr>
          <a:xfrm>
            <a:off x="594360" y="1463040"/>
            <a:ext cx="365760" cy="365760"/>
          </a:xfrm>
          <a:prstGeom prst="rect">
            <a:avLst/>
          </a:prstGeom>
        </p:spPr>
      </p:pic>
      <p:sp>
        <p:nvSpPr>
          <p:cNvPr id="6" name="Text 3"/>
          <p:cNvSpPr txBox="1"/>
          <p:nvPr/>
        </p:nvSpPr>
        <p:spPr>
          <a:xfrm>
            <a:off x="1280160" y="1325880"/>
            <a:ext cx="2926080" cy="640080"/>
          </a:xfrm>
          <a:prstGeom prst="rect">
            <a:avLst/>
          </a:prstGeom>
          <a:noFill/>
          <a:ln/>
        </p:spPr>
        <p:txBody>
          <a:bodyPr wrap="square" lIns="0" tIns="0" rIns="0" bIns="0" rtlCol="0" anchor="ctr"/>
          <a:lstStyle/>
          <a:p>
            <a:pPr indent="0" marL="0">
              <a:buNone/>
            </a:pPr>
            <a:r>
              <a:rPr lang="en-US" sz="1800" b="1" dirty="0">
                <a:solidFill>
                  <a:schemeClr val="tx2"/>
                </a:solidFill>
              </a:rPr>
              <a:t>What it is</a:t>
            </a:r>
            <a:endParaRPr lang="en-US" sz="1800" dirty="0"/>
          </a:p>
        </p:txBody>
      </p:sp>
      <p:sp>
        <p:nvSpPr>
          <p:cNvPr id="7" name="Text 4"/>
          <p:cNvSpPr txBox="1"/>
          <p:nvPr/>
        </p:nvSpPr>
        <p:spPr>
          <a:xfrm>
            <a:off x="457200" y="2148840"/>
            <a:ext cx="3840480" cy="17830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Microsoft Defender adds continuous threat detection and real-time protection for agents – for example prompt-injection attempts, unusual behaviour or a compromised agent – with incidents investigated in Defender XDR.</a:t>
            </a:r>
            <a:endParaRPr lang="en-US" sz="1400" dirty="0"/>
          </a:p>
        </p:txBody>
      </p:sp>
      <p:sp>
        <p:nvSpPr>
          <p:cNvPr id="8" name="Portal path chip"/>
          <p:cNvSpPr/>
          <p:nvPr/>
        </p:nvSpPr>
        <p:spPr>
          <a:xfrm>
            <a:off x="457200" y="4069080"/>
            <a:ext cx="3840480" cy="457200"/>
          </a:xfrm>
          <a:prstGeom prst="roundRect">
            <a:avLst>
              <a:gd name="adj" fmla="val 50000"/>
            </a:avLst>
          </a:prstGeom>
          <a:solidFill>
            <a:schemeClr val="bg2"/>
          </a:solidFill>
          <a:ln/>
        </p:spPr>
      </p:sp>
      <p:pic>
        <p:nvPicPr>
          <p:cNvPr id="9" name="Image 1" descr="Location">    </p:cNvPr>
          <p:cNvPicPr>
            <a:picLocks noChangeAspect="1"/>
          </p:cNvPicPr>
          <p:nvPr/>
        </p:nvPicPr>
        <p:blipFill>
          <a:blip r:embed="rId2"/>
          <a:stretch>
            <a:fillRect/>
          </a:stretch>
        </p:blipFill>
        <p:spPr>
          <a:xfrm>
            <a:off x="594360" y="4160520"/>
            <a:ext cx="274320" cy="274320"/>
          </a:xfrm>
          <a:prstGeom prst="rect">
            <a:avLst/>
          </a:prstGeom>
        </p:spPr>
      </p:pic>
      <p:sp>
        <p:nvSpPr>
          <p:cNvPr id="10" name="Text 6"/>
          <p:cNvSpPr txBox="1"/>
          <p:nvPr/>
        </p:nvSpPr>
        <p:spPr>
          <a:xfrm>
            <a:off x="960120" y="4069080"/>
            <a:ext cx="3246120" cy="457200"/>
          </a:xfrm>
          <a:prstGeom prst="rect">
            <a:avLst/>
          </a:prstGeom>
          <a:noFill/>
          <a:ln/>
        </p:spPr>
        <p:txBody>
          <a:bodyPr wrap="square" lIns="0" tIns="0" rIns="0" bIns="0" rtlCol="0" anchor="ctr"/>
          <a:lstStyle/>
          <a:p>
            <a:pPr indent="0" marL="0">
              <a:buNone/>
            </a:pPr>
            <a:r>
              <a:rPr lang="en-US" sz="1100" dirty="0">
                <a:solidFill>
                  <a:schemeClr val="tx2"/>
                </a:solidFill>
              </a:rPr>
              <a:t>Defender portal › Incidents &amp; alerts, AI security posture</a:t>
            </a:r>
            <a:endParaRPr lang="en-US" sz="1100" dirty="0"/>
          </a:p>
        </p:txBody>
      </p:sp>
      <p:sp>
        <p:nvSpPr>
          <p:cNvPr id="11" name="Benefits card"/>
          <p:cNvSpPr/>
          <p:nvPr/>
        </p:nvSpPr>
        <p:spPr>
          <a:xfrm>
            <a:off x="4663440" y="1325880"/>
            <a:ext cx="4023360" cy="3200400"/>
          </a:xfrm>
          <a:prstGeom prst="roundRect">
            <a:avLst>
              <a:gd name="adj" fmla="val 3429"/>
            </a:avLst>
          </a:prstGeom>
          <a:solidFill>
            <a:schemeClr val="tx2"/>
          </a:solidFill>
          <a:ln/>
        </p:spPr>
      </p:sp>
      <p:sp>
        <p:nvSpPr>
          <p:cNvPr id="12" name="Text 8"/>
          <p:cNvSpPr txBox="1"/>
          <p:nvPr/>
        </p:nvSpPr>
        <p:spPr>
          <a:xfrm>
            <a:off x="4937760" y="1463040"/>
            <a:ext cx="3566160" cy="457200"/>
          </a:xfrm>
          <a:prstGeom prst="rect">
            <a:avLst/>
          </a:prstGeom>
          <a:noFill/>
          <a:ln/>
        </p:spPr>
        <p:txBody>
          <a:bodyPr wrap="square" lIns="0" tIns="0" rIns="0" bIns="0" rtlCol="0" anchor="ctr"/>
          <a:lstStyle/>
          <a:p>
            <a:pPr indent="0" marL="0">
              <a:buNone/>
            </a:pPr>
            <a:r>
              <a:rPr lang="en-US" sz="1800" b="1" dirty="0">
                <a:solidFill>
                  <a:schemeClr val="bg1"/>
                </a:solidFill>
              </a:rPr>
              <a:t>What it brings us</a:t>
            </a:r>
            <a:endParaRPr lang="en-US" sz="1800" dirty="0"/>
          </a:p>
        </p:txBody>
      </p:sp>
      <p:pic>
        <p:nvPicPr>
          <p:cNvPr id="13" name="Image 2" descr="Benefit">    </p:cNvPr>
          <p:cNvPicPr>
            <a:picLocks noChangeAspect="1"/>
          </p:cNvPicPr>
          <p:nvPr/>
        </p:nvPicPr>
        <p:blipFill>
          <a:blip r:embed="rId3"/>
          <a:stretch>
            <a:fillRect/>
          </a:stretch>
        </p:blipFill>
        <p:spPr>
          <a:xfrm>
            <a:off x="4937760" y="2084832"/>
            <a:ext cx="256032" cy="256032"/>
          </a:xfrm>
          <a:prstGeom prst="rect">
            <a:avLst/>
          </a:prstGeom>
        </p:spPr>
      </p:pic>
      <p:sp>
        <p:nvSpPr>
          <p:cNvPr id="14" name="Text 9"/>
          <p:cNvSpPr txBox="1"/>
          <p:nvPr/>
        </p:nvSpPr>
        <p:spPr>
          <a:xfrm>
            <a:off x="5349240" y="2057400"/>
            <a:ext cx="3154680" cy="731520"/>
          </a:xfrm>
          <a:prstGeom prst="rect">
            <a:avLst/>
          </a:prstGeom>
          <a:noFill/>
          <a:ln/>
        </p:spPr>
        <p:txBody>
          <a:bodyPr wrap="square" lIns="0" tIns="0" rIns="0" bIns="0" rtlCol="0" anchor="t"/>
          <a:lstStyle/>
          <a:p>
            <a:pPr indent="0" marL="0">
              <a:buNone/>
            </a:pPr>
            <a:r>
              <a:rPr lang="en-US" sz="1300" b="1" dirty="0">
                <a:solidFill>
                  <a:schemeClr val="bg1"/>
                </a:solidFill>
              </a:rPr>
              <a:t>SOC visibility</a:t>
            </a:r>
            <a:endParaRPr lang="en-US" sz="1300" dirty="0"/>
          </a:p>
          <a:p>
            <a:pPr indent="0" marL="0">
              <a:buNone/>
            </a:pPr>
            <a:r>
              <a:rPr lang="en-US" sz="1300" dirty="0">
                <a:solidFill>
                  <a:schemeClr val="bg2"/>
                </a:solidFill>
              </a:rPr>
              <a:t>agent threats appear next to user, device and email threats.</a:t>
            </a:r>
            <a:endParaRPr lang="en-US" sz="1300" dirty="0"/>
          </a:p>
        </p:txBody>
      </p:sp>
      <p:pic>
        <p:nvPicPr>
          <p:cNvPr id="15" name="Image 3" descr="Benefit">    </p:cNvPr>
          <p:cNvPicPr>
            <a:picLocks noChangeAspect="1"/>
          </p:cNvPicPr>
          <p:nvPr/>
        </p:nvPicPr>
        <p:blipFill>
          <a:blip r:embed="rId4"/>
          <a:stretch>
            <a:fillRect/>
          </a:stretch>
        </p:blipFill>
        <p:spPr>
          <a:xfrm>
            <a:off x="4937760" y="2889504"/>
            <a:ext cx="256032" cy="256032"/>
          </a:xfrm>
          <a:prstGeom prst="rect">
            <a:avLst/>
          </a:prstGeom>
        </p:spPr>
      </p:pic>
      <p:sp>
        <p:nvSpPr>
          <p:cNvPr id="16" name="Text 10"/>
          <p:cNvSpPr txBox="1"/>
          <p:nvPr/>
        </p:nvSpPr>
        <p:spPr>
          <a:xfrm>
            <a:off x="5349240" y="2862072"/>
            <a:ext cx="3154680" cy="731520"/>
          </a:xfrm>
          <a:prstGeom prst="rect">
            <a:avLst/>
          </a:prstGeom>
          <a:noFill/>
          <a:ln/>
        </p:spPr>
        <p:txBody>
          <a:bodyPr wrap="square" lIns="0" tIns="0" rIns="0" bIns="0" rtlCol="0" anchor="t"/>
          <a:lstStyle/>
          <a:p>
            <a:pPr indent="0" marL="0">
              <a:buNone/>
            </a:pPr>
            <a:r>
              <a:rPr lang="en-US" sz="1300" b="1" dirty="0">
                <a:solidFill>
                  <a:schemeClr val="bg1"/>
                </a:solidFill>
              </a:rPr>
              <a:t>Real-time protection</a:t>
            </a:r>
            <a:endParaRPr lang="en-US" sz="1300" dirty="0"/>
          </a:p>
          <a:p>
            <a:pPr indent="0" marL="0">
              <a:buNone/>
            </a:pPr>
            <a:r>
              <a:rPr lang="en-US" sz="1300" dirty="0">
                <a:solidFill>
                  <a:schemeClr val="bg2"/>
                </a:solidFill>
              </a:rPr>
              <a:t>unsafe agent actions can be detected and blocked.</a:t>
            </a:r>
            <a:endParaRPr lang="en-US" sz="1300" dirty="0"/>
          </a:p>
        </p:txBody>
      </p:sp>
      <p:pic>
        <p:nvPicPr>
          <p:cNvPr id="17" name="Image 4" descr="Benefit">    </p:cNvPr>
          <p:cNvPicPr>
            <a:picLocks noChangeAspect="1"/>
          </p:cNvPicPr>
          <p:nvPr/>
        </p:nvPicPr>
        <p:blipFill>
          <a:blip r:embed="rId5"/>
          <a:stretch>
            <a:fillRect/>
          </a:stretch>
        </p:blipFill>
        <p:spPr>
          <a:xfrm>
            <a:off x="4937760" y="3694176"/>
            <a:ext cx="256032" cy="256032"/>
          </a:xfrm>
          <a:prstGeom prst="rect">
            <a:avLst/>
          </a:prstGeom>
        </p:spPr>
      </p:pic>
      <p:sp>
        <p:nvSpPr>
          <p:cNvPr id="18" name="Text 11"/>
          <p:cNvSpPr txBox="1"/>
          <p:nvPr/>
        </p:nvSpPr>
        <p:spPr>
          <a:xfrm>
            <a:off x="5349240" y="3666744"/>
            <a:ext cx="3154680" cy="731520"/>
          </a:xfrm>
          <a:prstGeom prst="rect">
            <a:avLst/>
          </a:prstGeom>
          <a:noFill/>
          <a:ln/>
        </p:spPr>
        <p:txBody>
          <a:bodyPr wrap="square" lIns="0" tIns="0" rIns="0" bIns="0" rtlCol="0" anchor="t"/>
          <a:lstStyle/>
          <a:p>
            <a:pPr indent="0" marL="0">
              <a:buNone/>
            </a:pPr>
            <a:r>
              <a:rPr lang="en-US" sz="1300" b="1" dirty="0">
                <a:solidFill>
                  <a:schemeClr val="bg1"/>
                </a:solidFill>
              </a:rPr>
              <a:t>Faster response</a:t>
            </a:r>
            <a:endParaRPr lang="en-US" sz="1300" dirty="0"/>
          </a:p>
          <a:p>
            <a:pPr indent="0" marL="0">
              <a:buNone/>
            </a:pPr>
            <a:r>
              <a:rPr lang="en-US" sz="1300" dirty="0">
                <a:solidFill>
                  <a:schemeClr val="bg2"/>
                </a:solidFill>
              </a:rPr>
              <a:t>investigate and contain an agent like any other asset.</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2"/>
                </a:solidFill>
              </a:rPr>
              <a:t>08  ·  OPTIMISE</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Observability: usage, health and value</a:t>
            </a:r>
            <a:endParaRPr lang="en-US" sz="2800" dirty="0"/>
          </a:p>
        </p:txBody>
      </p:sp>
      <p:sp>
        <p:nvSpPr>
          <p:cNvPr id="4" name="Feature icon bg"/>
          <p:cNvSpPr/>
          <p:nvPr/>
        </p:nvSpPr>
        <p:spPr>
          <a:xfrm>
            <a:off x="457200" y="1325880"/>
            <a:ext cx="640080" cy="640080"/>
          </a:xfrm>
          <a:prstGeom prst="ellipse">
            <a:avLst/>
          </a:prstGeom>
          <a:solidFill>
            <a:schemeClr val="accent2"/>
          </a:solidFill>
          <a:ln/>
        </p:spPr>
      </p:sp>
      <p:pic>
        <p:nvPicPr>
          <p:cNvPr id="5" name="Image 0" descr="Observability &amp; telemetry">    </p:cNvPr>
          <p:cNvPicPr>
            <a:picLocks noChangeAspect="1"/>
          </p:cNvPicPr>
          <p:nvPr/>
        </p:nvPicPr>
        <p:blipFill>
          <a:blip r:embed="rId1"/>
          <a:stretch>
            <a:fillRect/>
          </a:stretch>
        </p:blipFill>
        <p:spPr>
          <a:xfrm>
            <a:off x="594360" y="1463040"/>
            <a:ext cx="365760" cy="365760"/>
          </a:xfrm>
          <a:prstGeom prst="rect">
            <a:avLst/>
          </a:prstGeom>
        </p:spPr>
      </p:pic>
      <p:sp>
        <p:nvSpPr>
          <p:cNvPr id="6" name="Text 3"/>
          <p:cNvSpPr txBox="1"/>
          <p:nvPr/>
        </p:nvSpPr>
        <p:spPr>
          <a:xfrm>
            <a:off x="1280160" y="1325880"/>
            <a:ext cx="2926080" cy="640080"/>
          </a:xfrm>
          <a:prstGeom prst="rect">
            <a:avLst/>
          </a:prstGeom>
          <a:noFill/>
          <a:ln/>
        </p:spPr>
        <p:txBody>
          <a:bodyPr wrap="square" lIns="0" tIns="0" rIns="0" bIns="0" rtlCol="0" anchor="ctr"/>
          <a:lstStyle/>
          <a:p>
            <a:pPr indent="0" marL="0">
              <a:buNone/>
            </a:pPr>
            <a:r>
              <a:rPr lang="en-US" sz="1800" b="1" dirty="0">
                <a:solidFill>
                  <a:schemeClr val="tx2"/>
                </a:solidFill>
              </a:rPr>
              <a:t>What it is</a:t>
            </a:r>
            <a:endParaRPr lang="en-US" sz="1800" dirty="0"/>
          </a:p>
        </p:txBody>
      </p:sp>
      <p:sp>
        <p:nvSpPr>
          <p:cNvPr id="7" name="Text 4"/>
          <p:cNvSpPr txBox="1"/>
          <p:nvPr/>
        </p:nvSpPr>
        <p:spPr>
          <a:xfrm>
            <a:off x="457200" y="2148840"/>
            <a:ext cx="3840480" cy="17830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Agent 365 collects telemetry on every agent – activity, usage, errors and performance. Agents built with the Agent 365 SDK send detailed traces, and the data feeds the registry, Agent Map and dashboard.</a:t>
            </a:r>
            <a:endParaRPr lang="en-US" sz="1400" dirty="0"/>
          </a:p>
        </p:txBody>
      </p:sp>
      <p:sp>
        <p:nvSpPr>
          <p:cNvPr id="8" name="Portal path chip"/>
          <p:cNvSpPr/>
          <p:nvPr/>
        </p:nvSpPr>
        <p:spPr>
          <a:xfrm>
            <a:off x="457200" y="4069080"/>
            <a:ext cx="3840480" cy="457200"/>
          </a:xfrm>
          <a:prstGeom prst="roundRect">
            <a:avLst>
              <a:gd name="adj" fmla="val 50000"/>
            </a:avLst>
          </a:prstGeom>
          <a:solidFill>
            <a:schemeClr val="bg2"/>
          </a:solidFill>
          <a:ln/>
        </p:spPr>
      </p:sp>
      <p:pic>
        <p:nvPicPr>
          <p:cNvPr id="9" name="Image 1" descr="Location">    </p:cNvPr>
          <p:cNvPicPr>
            <a:picLocks noChangeAspect="1"/>
          </p:cNvPicPr>
          <p:nvPr/>
        </p:nvPicPr>
        <p:blipFill>
          <a:blip r:embed="rId2"/>
          <a:stretch>
            <a:fillRect/>
          </a:stretch>
        </p:blipFill>
        <p:spPr>
          <a:xfrm>
            <a:off x="594360" y="4160520"/>
            <a:ext cx="274320" cy="274320"/>
          </a:xfrm>
          <a:prstGeom prst="rect">
            <a:avLst/>
          </a:prstGeom>
        </p:spPr>
      </p:pic>
      <p:sp>
        <p:nvSpPr>
          <p:cNvPr id="10" name="Text 6"/>
          <p:cNvSpPr txBox="1"/>
          <p:nvPr/>
        </p:nvSpPr>
        <p:spPr>
          <a:xfrm>
            <a:off x="960120" y="4069080"/>
            <a:ext cx="3246120" cy="457200"/>
          </a:xfrm>
          <a:prstGeom prst="rect">
            <a:avLst/>
          </a:prstGeom>
          <a:noFill/>
          <a:ln/>
        </p:spPr>
        <p:txBody>
          <a:bodyPr wrap="square" lIns="0" tIns="0" rIns="0" bIns="0" rtlCol="0" anchor="ctr"/>
          <a:lstStyle/>
          <a:p>
            <a:pPr indent="0" marL="0">
              <a:buNone/>
            </a:pPr>
            <a:r>
              <a:rPr lang="en-US" sz="1100" dirty="0">
                <a:solidFill>
                  <a:schemeClr val="tx2"/>
                </a:solidFill>
              </a:rPr>
              <a:t>Admin center › Agent 365 › Agent registry › agent details</a:t>
            </a:r>
            <a:endParaRPr lang="en-US" sz="1100" dirty="0"/>
          </a:p>
        </p:txBody>
      </p:sp>
      <p:sp>
        <p:nvSpPr>
          <p:cNvPr id="11" name="Benefits card"/>
          <p:cNvSpPr/>
          <p:nvPr/>
        </p:nvSpPr>
        <p:spPr>
          <a:xfrm>
            <a:off x="4663440" y="1325880"/>
            <a:ext cx="4023360" cy="3200400"/>
          </a:xfrm>
          <a:prstGeom prst="roundRect">
            <a:avLst>
              <a:gd name="adj" fmla="val 3429"/>
            </a:avLst>
          </a:prstGeom>
          <a:solidFill>
            <a:schemeClr val="tx2"/>
          </a:solidFill>
          <a:ln/>
        </p:spPr>
      </p:sp>
      <p:sp>
        <p:nvSpPr>
          <p:cNvPr id="12" name="Text 8"/>
          <p:cNvSpPr txBox="1"/>
          <p:nvPr/>
        </p:nvSpPr>
        <p:spPr>
          <a:xfrm>
            <a:off x="4937760" y="1463040"/>
            <a:ext cx="3566160" cy="457200"/>
          </a:xfrm>
          <a:prstGeom prst="rect">
            <a:avLst/>
          </a:prstGeom>
          <a:noFill/>
          <a:ln/>
        </p:spPr>
        <p:txBody>
          <a:bodyPr wrap="square" lIns="0" tIns="0" rIns="0" bIns="0" rtlCol="0" anchor="ctr"/>
          <a:lstStyle/>
          <a:p>
            <a:pPr indent="0" marL="0">
              <a:buNone/>
            </a:pPr>
            <a:r>
              <a:rPr lang="en-US" sz="1800" b="1" dirty="0">
                <a:solidFill>
                  <a:schemeClr val="bg1"/>
                </a:solidFill>
              </a:rPr>
              <a:t>What it brings us</a:t>
            </a:r>
            <a:endParaRPr lang="en-US" sz="1800" dirty="0"/>
          </a:p>
        </p:txBody>
      </p:sp>
      <p:pic>
        <p:nvPicPr>
          <p:cNvPr id="13" name="Image 2" descr="Benefit">    </p:cNvPr>
          <p:cNvPicPr>
            <a:picLocks noChangeAspect="1"/>
          </p:cNvPicPr>
          <p:nvPr/>
        </p:nvPicPr>
        <p:blipFill>
          <a:blip r:embed="rId3"/>
          <a:stretch>
            <a:fillRect/>
          </a:stretch>
        </p:blipFill>
        <p:spPr>
          <a:xfrm>
            <a:off x="4937760" y="2084832"/>
            <a:ext cx="256032" cy="256032"/>
          </a:xfrm>
          <a:prstGeom prst="rect">
            <a:avLst/>
          </a:prstGeom>
        </p:spPr>
      </p:pic>
      <p:sp>
        <p:nvSpPr>
          <p:cNvPr id="14" name="Text 9"/>
          <p:cNvSpPr txBox="1"/>
          <p:nvPr/>
        </p:nvSpPr>
        <p:spPr>
          <a:xfrm>
            <a:off x="5349240" y="2057400"/>
            <a:ext cx="3154680" cy="731520"/>
          </a:xfrm>
          <a:prstGeom prst="rect">
            <a:avLst/>
          </a:prstGeom>
          <a:noFill/>
          <a:ln/>
        </p:spPr>
        <p:txBody>
          <a:bodyPr wrap="square" lIns="0" tIns="0" rIns="0" bIns="0" rtlCol="0" anchor="t"/>
          <a:lstStyle/>
          <a:p>
            <a:pPr indent="0" marL="0">
              <a:buNone/>
            </a:pPr>
            <a:r>
              <a:rPr lang="en-US" sz="1300" b="1" dirty="0">
                <a:solidFill>
                  <a:schemeClr val="bg1"/>
                </a:solidFill>
              </a:rPr>
              <a:t>Prove ROI</a:t>
            </a:r>
            <a:endParaRPr lang="en-US" sz="1300" dirty="0"/>
          </a:p>
          <a:p>
            <a:pPr indent="0" marL="0">
              <a:buNone/>
            </a:pPr>
            <a:r>
              <a:rPr lang="en-US" sz="1300" dirty="0">
                <a:solidFill>
                  <a:schemeClr val="bg2"/>
                </a:solidFill>
              </a:rPr>
              <a:t>see which agents are actually used and by whom.</a:t>
            </a:r>
            <a:endParaRPr lang="en-US" sz="1300" dirty="0"/>
          </a:p>
        </p:txBody>
      </p:sp>
      <p:pic>
        <p:nvPicPr>
          <p:cNvPr id="15" name="Image 3" descr="Benefit">    </p:cNvPr>
          <p:cNvPicPr>
            <a:picLocks noChangeAspect="1"/>
          </p:cNvPicPr>
          <p:nvPr/>
        </p:nvPicPr>
        <p:blipFill>
          <a:blip r:embed="rId4"/>
          <a:stretch>
            <a:fillRect/>
          </a:stretch>
        </p:blipFill>
        <p:spPr>
          <a:xfrm>
            <a:off x="4937760" y="2889504"/>
            <a:ext cx="256032" cy="256032"/>
          </a:xfrm>
          <a:prstGeom prst="rect">
            <a:avLst/>
          </a:prstGeom>
        </p:spPr>
      </p:pic>
      <p:sp>
        <p:nvSpPr>
          <p:cNvPr id="16" name="Text 10"/>
          <p:cNvSpPr txBox="1"/>
          <p:nvPr/>
        </p:nvSpPr>
        <p:spPr>
          <a:xfrm>
            <a:off x="5349240" y="2862072"/>
            <a:ext cx="3154680" cy="731520"/>
          </a:xfrm>
          <a:prstGeom prst="rect">
            <a:avLst/>
          </a:prstGeom>
          <a:noFill/>
          <a:ln/>
        </p:spPr>
        <p:txBody>
          <a:bodyPr wrap="square" lIns="0" tIns="0" rIns="0" bIns="0" rtlCol="0" anchor="t"/>
          <a:lstStyle/>
          <a:p>
            <a:pPr indent="0" marL="0">
              <a:buNone/>
            </a:pPr>
            <a:r>
              <a:rPr lang="en-US" sz="1300" b="1" dirty="0">
                <a:solidFill>
                  <a:schemeClr val="bg1"/>
                </a:solidFill>
              </a:rPr>
              <a:t>Fix issues quickly</a:t>
            </a:r>
            <a:endParaRPr lang="en-US" sz="1300" dirty="0"/>
          </a:p>
          <a:p>
            <a:pPr indent="0" marL="0">
              <a:buNone/>
            </a:pPr>
            <a:r>
              <a:rPr lang="en-US" sz="1300" dirty="0">
                <a:solidFill>
                  <a:schemeClr val="bg2"/>
                </a:solidFill>
              </a:rPr>
              <a:t>error and health signals help makers and IT troubleshoot.</a:t>
            </a:r>
            <a:endParaRPr lang="en-US" sz="1300" dirty="0"/>
          </a:p>
        </p:txBody>
      </p:sp>
      <p:pic>
        <p:nvPicPr>
          <p:cNvPr id="17" name="Image 4" descr="Benefit">    </p:cNvPr>
          <p:cNvPicPr>
            <a:picLocks noChangeAspect="1"/>
          </p:cNvPicPr>
          <p:nvPr/>
        </p:nvPicPr>
        <p:blipFill>
          <a:blip r:embed="rId5"/>
          <a:stretch>
            <a:fillRect/>
          </a:stretch>
        </p:blipFill>
        <p:spPr>
          <a:xfrm>
            <a:off x="4937760" y="3694176"/>
            <a:ext cx="256032" cy="256032"/>
          </a:xfrm>
          <a:prstGeom prst="rect">
            <a:avLst/>
          </a:prstGeom>
        </p:spPr>
      </p:pic>
      <p:sp>
        <p:nvSpPr>
          <p:cNvPr id="18" name="Text 11"/>
          <p:cNvSpPr txBox="1"/>
          <p:nvPr/>
        </p:nvSpPr>
        <p:spPr>
          <a:xfrm>
            <a:off x="5349240" y="3666744"/>
            <a:ext cx="3154680" cy="731520"/>
          </a:xfrm>
          <a:prstGeom prst="rect">
            <a:avLst/>
          </a:prstGeom>
          <a:noFill/>
          <a:ln/>
        </p:spPr>
        <p:txBody>
          <a:bodyPr wrap="square" lIns="0" tIns="0" rIns="0" bIns="0" rtlCol="0" anchor="t"/>
          <a:lstStyle/>
          <a:p>
            <a:pPr indent="0" marL="0">
              <a:buNone/>
            </a:pPr>
            <a:r>
              <a:rPr lang="en-US" sz="1300" b="1" dirty="0">
                <a:solidFill>
                  <a:schemeClr val="bg1"/>
                </a:solidFill>
              </a:rPr>
              <a:t>Control cost</a:t>
            </a:r>
            <a:endParaRPr lang="en-US" sz="1300" dirty="0"/>
          </a:p>
          <a:p>
            <a:pPr indent="0" marL="0">
              <a:buNone/>
            </a:pPr>
            <a:r>
              <a:rPr lang="en-US" sz="1300" dirty="0">
                <a:solidFill>
                  <a:schemeClr val="bg2"/>
                </a:solidFill>
              </a:rPr>
              <a:t>retire unused agents and invest in the ones that work.</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2"/>
                </a:solidFill>
              </a:rPr>
              <a:t>09  ·  EXTEND</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Interoperability: build anywhere, work in M365</a:t>
            </a:r>
            <a:endParaRPr lang="en-US" sz="2800" dirty="0"/>
          </a:p>
        </p:txBody>
      </p:sp>
      <p:sp>
        <p:nvSpPr>
          <p:cNvPr id="4" name="Feature icon bg"/>
          <p:cNvSpPr/>
          <p:nvPr/>
        </p:nvSpPr>
        <p:spPr>
          <a:xfrm>
            <a:off x="457200" y="1325880"/>
            <a:ext cx="640080" cy="640080"/>
          </a:xfrm>
          <a:prstGeom prst="ellipse">
            <a:avLst/>
          </a:prstGeom>
          <a:solidFill>
            <a:schemeClr val="accent2"/>
          </a:solidFill>
          <a:ln/>
        </p:spPr>
      </p:sp>
      <p:pic>
        <p:nvPicPr>
          <p:cNvPr id="5" name="Image 0" descr="Interoperability (MCP &amp; SDK)">    </p:cNvPr>
          <p:cNvPicPr>
            <a:picLocks noChangeAspect="1"/>
          </p:cNvPicPr>
          <p:nvPr/>
        </p:nvPicPr>
        <p:blipFill>
          <a:blip r:embed="rId1"/>
          <a:stretch>
            <a:fillRect/>
          </a:stretch>
        </p:blipFill>
        <p:spPr>
          <a:xfrm>
            <a:off x="594360" y="1463040"/>
            <a:ext cx="365760" cy="365760"/>
          </a:xfrm>
          <a:prstGeom prst="rect">
            <a:avLst/>
          </a:prstGeom>
        </p:spPr>
      </p:pic>
      <p:sp>
        <p:nvSpPr>
          <p:cNvPr id="6" name="Text 3"/>
          <p:cNvSpPr txBox="1"/>
          <p:nvPr/>
        </p:nvSpPr>
        <p:spPr>
          <a:xfrm>
            <a:off x="1280160" y="1325880"/>
            <a:ext cx="2926080" cy="640080"/>
          </a:xfrm>
          <a:prstGeom prst="rect">
            <a:avLst/>
          </a:prstGeom>
          <a:noFill/>
          <a:ln/>
        </p:spPr>
        <p:txBody>
          <a:bodyPr wrap="square" lIns="0" tIns="0" rIns="0" bIns="0" rtlCol="0" anchor="ctr"/>
          <a:lstStyle/>
          <a:p>
            <a:pPr indent="0" marL="0">
              <a:buNone/>
            </a:pPr>
            <a:r>
              <a:rPr lang="en-US" sz="1800" b="1" dirty="0">
                <a:solidFill>
                  <a:schemeClr val="tx2"/>
                </a:solidFill>
              </a:rPr>
              <a:t>What it is</a:t>
            </a:r>
            <a:endParaRPr lang="en-US" sz="1800" dirty="0"/>
          </a:p>
        </p:txBody>
      </p:sp>
      <p:sp>
        <p:nvSpPr>
          <p:cNvPr id="7" name="Text 4"/>
          <p:cNvSpPr txBox="1"/>
          <p:nvPr/>
        </p:nvSpPr>
        <p:spPr>
          <a:xfrm>
            <a:off x="457200" y="2148840"/>
            <a:ext cx="3840480" cy="17830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Agent 365 is a control plane for agents however they are built or bought. Agentic tools expose MCP servers and SDKs for Outlook, Teams, SharePoint and business systems, so agents can act in Microsoft 365 under the same governance.</a:t>
            </a:r>
            <a:endParaRPr lang="en-US" sz="1400" dirty="0"/>
          </a:p>
        </p:txBody>
      </p:sp>
      <p:sp>
        <p:nvSpPr>
          <p:cNvPr id="8" name="Portal path chip"/>
          <p:cNvSpPr/>
          <p:nvPr/>
        </p:nvSpPr>
        <p:spPr>
          <a:xfrm>
            <a:off x="457200" y="4069080"/>
            <a:ext cx="3840480" cy="457200"/>
          </a:xfrm>
          <a:prstGeom prst="roundRect">
            <a:avLst>
              <a:gd name="adj" fmla="val 50000"/>
            </a:avLst>
          </a:prstGeom>
          <a:solidFill>
            <a:schemeClr val="bg2"/>
          </a:solidFill>
          <a:ln/>
        </p:spPr>
      </p:sp>
      <p:pic>
        <p:nvPicPr>
          <p:cNvPr id="9" name="Image 1" descr="Location">    </p:cNvPr>
          <p:cNvPicPr>
            <a:picLocks noChangeAspect="1"/>
          </p:cNvPicPr>
          <p:nvPr/>
        </p:nvPicPr>
        <p:blipFill>
          <a:blip r:embed="rId2"/>
          <a:stretch>
            <a:fillRect/>
          </a:stretch>
        </p:blipFill>
        <p:spPr>
          <a:xfrm>
            <a:off x="594360" y="4160520"/>
            <a:ext cx="274320" cy="274320"/>
          </a:xfrm>
          <a:prstGeom prst="rect">
            <a:avLst/>
          </a:prstGeom>
        </p:spPr>
      </p:pic>
      <p:sp>
        <p:nvSpPr>
          <p:cNvPr id="10" name="Text 6"/>
          <p:cNvSpPr txBox="1"/>
          <p:nvPr/>
        </p:nvSpPr>
        <p:spPr>
          <a:xfrm>
            <a:off x="960120" y="4069080"/>
            <a:ext cx="3246120" cy="457200"/>
          </a:xfrm>
          <a:prstGeom prst="rect">
            <a:avLst/>
          </a:prstGeom>
          <a:noFill/>
          <a:ln/>
        </p:spPr>
        <p:txBody>
          <a:bodyPr wrap="square" lIns="0" tIns="0" rIns="0" bIns="0" rtlCol="0" anchor="ctr"/>
          <a:lstStyle/>
          <a:p>
            <a:pPr indent="0" marL="0">
              <a:buNone/>
            </a:pPr>
            <a:r>
              <a:rPr lang="en-US" sz="1100" dirty="0">
                <a:solidFill>
                  <a:schemeClr val="tx2"/>
                </a:solidFill>
              </a:rPr>
              <a:t>Agent 365 SDK &amp; MCP tools (developer), registry (admin)</a:t>
            </a:r>
            <a:endParaRPr lang="en-US" sz="1100" dirty="0"/>
          </a:p>
        </p:txBody>
      </p:sp>
      <p:sp>
        <p:nvSpPr>
          <p:cNvPr id="11" name="Benefits card"/>
          <p:cNvSpPr/>
          <p:nvPr/>
        </p:nvSpPr>
        <p:spPr>
          <a:xfrm>
            <a:off x="4663440" y="1325880"/>
            <a:ext cx="4023360" cy="3200400"/>
          </a:xfrm>
          <a:prstGeom prst="roundRect">
            <a:avLst>
              <a:gd name="adj" fmla="val 3429"/>
            </a:avLst>
          </a:prstGeom>
          <a:solidFill>
            <a:schemeClr val="tx2"/>
          </a:solidFill>
          <a:ln/>
        </p:spPr>
      </p:sp>
      <p:sp>
        <p:nvSpPr>
          <p:cNvPr id="12" name="Text 8"/>
          <p:cNvSpPr txBox="1"/>
          <p:nvPr/>
        </p:nvSpPr>
        <p:spPr>
          <a:xfrm>
            <a:off x="4937760" y="1463040"/>
            <a:ext cx="3566160" cy="457200"/>
          </a:xfrm>
          <a:prstGeom prst="rect">
            <a:avLst/>
          </a:prstGeom>
          <a:noFill/>
          <a:ln/>
        </p:spPr>
        <p:txBody>
          <a:bodyPr wrap="square" lIns="0" tIns="0" rIns="0" bIns="0" rtlCol="0" anchor="ctr"/>
          <a:lstStyle/>
          <a:p>
            <a:pPr indent="0" marL="0">
              <a:buNone/>
            </a:pPr>
            <a:r>
              <a:rPr lang="en-US" sz="1800" b="1" dirty="0">
                <a:solidFill>
                  <a:schemeClr val="bg1"/>
                </a:solidFill>
              </a:rPr>
              <a:t>What it brings us</a:t>
            </a:r>
            <a:endParaRPr lang="en-US" sz="1800" dirty="0"/>
          </a:p>
        </p:txBody>
      </p:sp>
      <p:pic>
        <p:nvPicPr>
          <p:cNvPr id="13" name="Image 2" descr="Benefit">    </p:cNvPr>
          <p:cNvPicPr>
            <a:picLocks noChangeAspect="1"/>
          </p:cNvPicPr>
          <p:nvPr/>
        </p:nvPicPr>
        <p:blipFill>
          <a:blip r:embed="rId3"/>
          <a:stretch>
            <a:fillRect/>
          </a:stretch>
        </p:blipFill>
        <p:spPr>
          <a:xfrm>
            <a:off x="4937760" y="2084832"/>
            <a:ext cx="256032" cy="256032"/>
          </a:xfrm>
          <a:prstGeom prst="rect">
            <a:avLst/>
          </a:prstGeom>
        </p:spPr>
      </p:pic>
      <p:sp>
        <p:nvSpPr>
          <p:cNvPr id="14" name="Text 9"/>
          <p:cNvSpPr txBox="1"/>
          <p:nvPr/>
        </p:nvSpPr>
        <p:spPr>
          <a:xfrm>
            <a:off x="5349240" y="2057400"/>
            <a:ext cx="3154680" cy="731520"/>
          </a:xfrm>
          <a:prstGeom prst="rect">
            <a:avLst/>
          </a:prstGeom>
          <a:noFill/>
          <a:ln/>
        </p:spPr>
        <p:txBody>
          <a:bodyPr wrap="square" lIns="0" tIns="0" rIns="0" bIns="0" rtlCol="0" anchor="t"/>
          <a:lstStyle/>
          <a:p>
            <a:pPr indent="0" marL="0">
              <a:buNone/>
            </a:pPr>
            <a:r>
              <a:rPr lang="en-US" sz="1300" b="1" dirty="0">
                <a:solidFill>
                  <a:schemeClr val="bg1"/>
                </a:solidFill>
              </a:rPr>
              <a:t>No lock-in</a:t>
            </a:r>
            <a:endParaRPr lang="en-US" sz="1300" dirty="0"/>
          </a:p>
          <a:p>
            <a:pPr indent="0" marL="0">
              <a:buNone/>
            </a:pPr>
            <a:r>
              <a:rPr lang="en-US" sz="1300" dirty="0">
                <a:solidFill>
                  <a:schemeClr val="bg2"/>
                </a:solidFill>
              </a:rPr>
              <a:t>Copilot Studio, Foundry, third-party and custom agents are all governed.</a:t>
            </a:r>
            <a:endParaRPr lang="en-US" sz="1300" dirty="0"/>
          </a:p>
        </p:txBody>
      </p:sp>
      <p:pic>
        <p:nvPicPr>
          <p:cNvPr id="15" name="Image 3" descr="Benefit">    </p:cNvPr>
          <p:cNvPicPr>
            <a:picLocks noChangeAspect="1"/>
          </p:cNvPicPr>
          <p:nvPr/>
        </p:nvPicPr>
        <p:blipFill>
          <a:blip r:embed="rId4"/>
          <a:stretch>
            <a:fillRect/>
          </a:stretch>
        </p:blipFill>
        <p:spPr>
          <a:xfrm>
            <a:off x="4937760" y="2889504"/>
            <a:ext cx="256032" cy="256032"/>
          </a:xfrm>
          <a:prstGeom prst="rect">
            <a:avLst/>
          </a:prstGeom>
        </p:spPr>
      </p:pic>
      <p:sp>
        <p:nvSpPr>
          <p:cNvPr id="16" name="Text 10"/>
          <p:cNvSpPr txBox="1"/>
          <p:nvPr/>
        </p:nvSpPr>
        <p:spPr>
          <a:xfrm>
            <a:off x="5349240" y="2862072"/>
            <a:ext cx="3154680" cy="731520"/>
          </a:xfrm>
          <a:prstGeom prst="rect">
            <a:avLst/>
          </a:prstGeom>
          <a:noFill/>
          <a:ln/>
        </p:spPr>
        <p:txBody>
          <a:bodyPr wrap="square" lIns="0" tIns="0" rIns="0" bIns="0" rtlCol="0" anchor="t"/>
          <a:lstStyle/>
          <a:p>
            <a:pPr indent="0" marL="0">
              <a:buNone/>
            </a:pPr>
            <a:r>
              <a:rPr lang="en-US" sz="1300" b="1" dirty="0">
                <a:solidFill>
                  <a:schemeClr val="bg1"/>
                </a:solidFill>
              </a:rPr>
              <a:t>Agents in the flow of work</a:t>
            </a:r>
            <a:endParaRPr lang="en-US" sz="1300" dirty="0"/>
          </a:p>
          <a:p>
            <a:pPr indent="0" marL="0">
              <a:buNone/>
            </a:pPr>
            <a:r>
              <a:rPr lang="en-US" sz="1300" dirty="0">
                <a:solidFill>
                  <a:schemeClr val="bg2"/>
                </a:solidFill>
              </a:rPr>
              <a:t>agents join Teams, mail and documents like a colleague.</a:t>
            </a:r>
            <a:endParaRPr lang="en-US" sz="1300" dirty="0"/>
          </a:p>
        </p:txBody>
      </p:sp>
      <p:pic>
        <p:nvPicPr>
          <p:cNvPr id="17" name="Image 4" descr="Benefit">    </p:cNvPr>
          <p:cNvPicPr>
            <a:picLocks noChangeAspect="1"/>
          </p:cNvPicPr>
          <p:nvPr/>
        </p:nvPicPr>
        <p:blipFill>
          <a:blip r:embed="rId5"/>
          <a:stretch>
            <a:fillRect/>
          </a:stretch>
        </p:blipFill>
        <p:spPr>
          <a:xfrm>
            <a:off x="4937760" y="3694176"/>
            <a:ext cx="256032" cy="256032"/>
          </a:xfrm>
          <a:prstGeom prst="rect">
            <a:avLst/>
          </a:prstGeom>
        </p:spPr>
      </p:pic>
      <p:sp>
        <p:nvSpPr>
          <p:cNvPr id="18" name="Text 11"/>
          <p:cNvSpPr txBox="1"/>
          <p:nvPr/>
        </p:nvSpPr>
        <p:spPr>
          <a:xfrm>
            <a:off x="5349240" y="3666744"/>
            <a:ext cx="3154680" cy="731520"/>
          </a:xfrm>
          <a:prstGeom prst="rect">
            <a:avLst/>
          </a:prstGeom>
          <a:noFill/>
          <a:ln/>
        </p:spPr>
        <p:txBody>
          <a:bodyPr wrap="square" lIns="0" tIns="0" rIns="0" bIns="0" rtlCol="0" anchor="t"/>
          <a:lstStyle/>
          <a:p>
            <a:pPr indent="0" marL="0">
              <a:buNone/>
            </a:pPr>
            <a:r>
              <a:rPr lang="en-US" sz="1300" b="1" dirty="0">
                <a:solidFill>
                  <a:schemeClr val="bg1"/>
                </a:solidFill>
              </a:rPr>
              <a:t>Consistent controls</a:t>
            </a:r>
            <a:endParaRPr lang="en-US" sz="1300" dirty="0"/>
          </a:p>
          <a:p>
            <a:pPr indent="0" marL="0">
              <a:buNone/>
            </a:pPr>
            <a:r>
              <a:rPr lang="en-US" sz="1300" dirty="0">
                <a:solidFill>
                  <a:schemeClr val="bg2"/>
                </a:solidFill>
              </a:rPr>
              <a:t>one set of policies, whatever the agent was built with.</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1"/>
                </a:solidFill>
              </a:rPr>
              <a:t>BLUEPRINTS  ·  CONCEPT</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Blueprints: the template behind every agent</a:t>
            </a:r>
            <a:endParaRPr lang="en-US" sz="2800" dirty="0"/>
          </a:p>
        </p:txBody>
      </p:sp>
      <p:sp>
        <p:nvSpPr>
          <p:cNvPr id="4" name="Blueprint box"/>
          <p:cNvSpPr/>
          <p:nvPr/>
        </p:nvSpPr>
        <p:spPr>
          <a:xfrm>
            <a:off x="2286000" y="1234440"/>
            <a:ext cx="4572000" cy="868680"/>
          </a:xfrm>
          <a:prstGeom prst="roundRect">
            <a:avLst>
              <a:gd name="adj" fmla="val 12632"/>
            </a:avLst>
          </a:prstGeom>
          <a:solidFill>
            <a:schemeClr val="tx2"/>
          </a:solidFill>
          <a:ln/>
        </p:spPr>
      </p:sp>
      <p:sp>
        <p:nvSpPr>
          <p:cNvPr id="5" name="Blueprint icon bg"/>
          <p:cNvSpPr/>
          <p:nvPr/>
        </p:nvSpPr>
        <p:spPr>
          <a:xfrm>
            <a:off x="2468880" y="1417320"/>
            <a:ext cx="502920" cy="502920"/>
          </a:xfrm>
          <a:prstGeom prst="ellipse">
            <a:avLst/>
          </a:prstGeom>
          <a:solidFill>
            <a:schemeClr val="accent1"/>
          </a:solidFill>
          <a:ln/>
        </p:spPr>
      </p:sp>
      <p:pic>
        <p:nvPicPr>
          <p:cNvPr id="6" name="Image 0" descr="Blueprint">    </p:cNvPr>
          <p:cNvPicPr>
            <a:picLocks noChangeAspect="1"/>
          </p:cNvPicPr>
          <p:nvPr/>
        </p:nvPicPr>
        <p:blipFill>
          <a:blip r:embed="rId1"/>
          <a:stretch>
            <a:fillRect/>
          </a:stretch>
        </p:blipFill>
        <p:spPr>
          <a:xfrm>
            <a:off x="2578608" y="1527048"/>
            <a:ext cx="283464" cy="283464"/>
          </a:xfrm>
          <a:prstGeom prst="rect">
            <a:avLst/>
          </a:prstGeom>
        </p:spPr>
      </p:pic>
      <p:sp>
        <p:nvSpPr>
          <p:cNvPr id="7" name="Text 4"/>
          <p:cNvSpPr txBox="1"/>
          <p:nvPr/>
        </p:nvSpPr>
        <p:spPr>
          <a:xfrm>
            <a:off x="3108960" y="1234440"/>
            <a:ext cx="3657600" cy="868680"/>
          </a:xfrm>
          <a:prstGeom prst="rect">
            <a:avLst/>
          </a:prstGeom>
          <a:noFill/>
          <a:ln/>
        </p:spPr>
        <p:txBody>
          <a:bodyPr wrap="square" lIns="0" tIns="0" rIns="0" bIns="0" rtlCol="0" anchor="ctr"/>
          <a:lstStyle/>
          <a:p>
            <a:pPr indent="0" marL="0">
              <a:buNone/>
            </a:pPr>
            <a:r>
              <a:rPr lang="en-US" sz="1500" b="1" dirty="0">
                <a:solidFill>
                  <a:schemeClr val="bg1"/>
                </a:solidFill>
              </a:rPr>
              <a:t>Agent identity blueprint</a:t>
            </a:r>
            <a:endParaRPr lang="en-US" sz="1500" dirty="0"/>
          </a:p>
          <a:p>
            <a:pPr indent="0" marL="0">
              <a:buNone/>
            </a:pPr>
            <a:r>
              <a:rPr lang="en-US" sz="1100" dirty="0">
                <a:solidFill>
                  <a:schemeClr val="bg2"/>
                </a:solidFill>
              </a:rPr>
              <a:t>Holds credentials, inheritable permissions, owners and sponsors</a:t>
            </a:r>
            <a:endParaRPr lang="en-US" sz="1500" dirty="0"/>
          </a:p>
        </p:txBody>
      </p:sp>
      <p:sp>
        <p:nvSpPr>
          <p:cNvPr id="8" name="Trunk"/>
          <p:cNvSpPr/>
          <p:nvPr/>
        </p:nvSpPr>
        <p:spPr>
          <a:xfrm>
            <a:off x="4572000" y="2103120"/>
            <a:ext cx="0" cy="274320"/>
          </a:xfrm>
          <a:prstGeom prst="line">
            <a:avLst/>
          </a:prstGeom>
          <a:noFill/>
          <a:ln w="19050">
            <a:solidFill>
              <a:schemeClr val="accent6"/>
            </a:solidFill>
            <a:prstDash val="solid"/>
          </a:ln>
        </p:spPr>
      </p:sp>
      <p:sp>
        <p:nvSpPr>
          <p:cNvPr id="9" name="Branch"/>
          <p:cNvSpPr/>
          <p:nvPr/>
        </p:nvSpPr>
        <p:spPr>
          <a:xfrm>
            <a:off x="1371600" y="2377440"/>
            <a:ext cx="6400800" cy="0"/>
          </a:xfrm>
          <a:prstGeom prst="line">
            <a:avLst/>
          </a:prstGeom>
          <a:noFill/>
          <a:ln w="19050">
            <a:solidFill>
              <a:schemeClr val="accent6"/>
            </a:solidFill>
            <a:prstDash val="solid"/>
          </a:ln>
        </p:spPr>
      </p:sp>
      <p:sp>
        <p:nvSpPr>
          <p:cNvPr id="10" name="Drop 1"/>
          <p:cNvSpPr/>
          <p:nvPr/>
        </p:nvSpPr>
        <p:spPr>
          <a:xfrm>
            <a:off x="1371600" y="2377440"/>
            <a:ext cx="0" cy="228600"/>
          </a:xfrm>
          <a:prstGeom prst="line">
            <a:avLst/>
          </a:prstGeom>
          <a:noFill/>
          <a:ln w="19050">
            <a:solidFill>
              <a:schemeClr val="accent6"/>
            </a:solidFill>
            <a:prstDash val="solid"/>
          </a:ln>
        </p:spPr>
      </p:sp>
      <p:sp>
        <p:nvSpPr>
          <p:cNvPr id="11" name="Child 1"/>
          <p:cNvSpPr/>
          <p:nvPr/>
        </p:nvSpPr>
        <p:spPr>
          <a:xfrm>
            <a:off x="457200" y="2606040"/>
            <a:ext cx="1828800" cy="914400"/>
          </a:xfrm>
          <a:prstGeom prst="roundRect">
            <a:avLst>
              <a:gd name="adj" fmla="val 10000"/>
            </a:avLst>
          </a:prstGeom>
          <a:solidFill>
            <a:schemeClr val="bg2"/>
          </a:solidFill>
          <a:ln/>
        </p:spPr>
      </p:sp>
      <p:sp>
        <p:nvSpPr>
          <p:cNvPr id="12" name="Text 9"/>
          <p:cNvSpPr txBox="1"/>
          <p:nvPr/>
        </p:nvSpPr>
        <p:spPr>
          <a:xfrm>
            <a:off x="566928" y="2606040"/>
            <a:ext cx="1609344" cy="914400"/>
          </a:xfrm>
          <a:prstGeom prst="rect">
            <a:avLst/>
          </a:prstGeom>
          <a:noFill/>
          <a:ln/>
        </p:spPr>
        <p:txBody>
          <a:bodyPr wrap="square" lIns="0" tIns="0" rIns="0" bIns="0" rtlCol="0" anchor="ctr"/>
          <a:lstStyle/>
          <a:p>
            <a:pPr indent="0" marL="0">
              <a:buNone/>
            </a:pPr>
            <a:r>
              <a:rPr lang="en-US" sz="1300" b="1" dirty="0">
                <a:solidFill>
                  <a:schemeClr val="tx2"/>
                </a:solidFill>
              </a:rPr>
              <a:t>Blueprint principal</a:t>
            </a:r>
            <a:endParaRPr lang="en-US" sz="1300" dirty="0"/>
          </a:p>
          <a:p>
            <a:pPr indent="0" marL="0">
              <a:buNone/>
            </a:pPr>
            <a:r>
              <a:rPr lang="en-US" sz="1100" dirty="0">
                <a:solidFill>
                  <a:schemeClr val="tx2"/>
                </a:solidFill>
              </a:rPr>
              <a:t>Its presence in our tenant (like an enterprise app)</a:t>
            </a:r>
            <a:endParaRPr lang="en-US" sz="1300" dirty="0"/>
          </a:p>
        </p:txBody>
      </p:sp>
      <p:sp>
        <p:nvSpPr>
          <p:cNvPr id="13" name="Drop 2"/>
          <p:cNvSpPr/>
          <p:nvPr/>
        </p:nvSpPr>
        <p:spPr>
          <a:xfrm>
            <a:off x="3504895" y="2377440"/>
            <a:ext cx="0" cy="228600"/>
          </a:xfrm>
          <a:prstGeom prst="line">
            <a:avLst/>
          </a:prstGeom>
          <a:noFill/>
          <a:ln w="19050">
            <a:solidFill>
              <a:schemeClr val="accent6"/>
            </a:solidFill>
            <a:prstDash val="solid"/>
          </a:ln>
        </p:spPr>
      </p:sp>
      <p:sp>
        <p:nvSpPr>
          <p:cNvPr id="14" name="Child 2"/>
          <p:cNvSpPr/>
          <p:nvPr/>
        </p:nvSpPr>
        <p:spPr>
          <a:xfrm>
            <a:off x="2590495" y="2606040"/>
            <a:ext cx="1828800" cy="914400"/>
          </a:xfrm>
          <a:prstGeom prst="roundRect">
            <a:avLst>
              <a:gd name="adj" fmla="val 10000"/>
            </a:avLst>
          </a:prstGeom>
          <a:solidFill>
            <a:schemeClr val="accent1"/>
          </a:solidFill>
          <a:ln/>
        </p:spPr>
      </p:sp>
      <p:sp>
        <p:nvSpPr>
          <p:cNvPr id="15" name="Text 12"/>
          <p:cNvSpPr txBox="1"/>
          <p:nvPr/>
        </p:nvSpPr>
        <p:spPr>
          <a:xfrm>
            <a:off x="2700223" y="2606040"/>
            <a:ext cx="1609344" cy="914400"/>
          </a:xfrm>
          <a:prstGeom prst="rect">
            <a:avLst/>
          </a:prstGeom>
          <a:noFill/>
          <a:ln/>
        </p:spPr>
        <p:txBody>
          <a:bodyPr wrap="square" lIns="0" tIns="0" rIns="0" bIns="0" rtlCol="0" anchor="ctr"/>
          <a:lstStyle/>
          <a:p>
            <a:pPr indent="0" marL="0">
              <a:buNone/>
            </a:pPr>
            <a:r>
              <a:rPr lang="en-US" sz="1300" b="1" dirty="0">
                <a:solidFill>
                  <a:schemeClr val="bg1"/>
                </a:solidFill>
              </a:rPr>
              <a:t>Agent identity</a:t>
            </a:r>
            <a:endParaRPr lang="en-US" sz="1300" dirty="0"/>
          </a:p>
          <a:p>
            <a:pPr indent="0" marL="0">
              <a:buNone/>
            </a:pPr>
            <a:r>
              <a:rPr lang="en-US" sz="1100" dirty="0">
                <a:solidFill>
                  <a:schemeClr val="bg1"/>
                </a:solidFill>
              </a:rPr>
              <a:t>e.g. “HR Helper – Finance”</a:t>
            </a:r>
            <a:endParaRPr lang="en-US" sz="1300" dirty="0"/>
          </a:p>
        </p:txBody>
      </p:sp>
      <p:sp>
        <p:nvSpPr>
          <p:cNvPr id="16" name="Drop 3"/>
          <p:cNvSpPr/>
          <p:nvPr/>
        </p:nvSpPr>
        <p:spPr>
          <a:xfrm>
            <a:off x="5638190" y="2377440"/>
            <a:ext cx="0" cy="228600"/>
          </a:xfrm>
          <a:prstGeom prst="line">
            <a:avLst/>
          </a:prstGeom>
          <a:noFill/>
          <a:ln w="19050">
            <a:solidFill>
              <a:schemeClr val="accent6"/>
            </a:solidFill>
            <a:prstDash val="solid"/>
          </a:ln>
        </p:spPr>
      </p:sp>
      <p:sp>
        <p:nvSpPr>
          <p:cNvPr id="17" name="Child 3"/>
          <p:cNvSpPr/>
          <p:nvPr/>
        </p:nvSpPr>
        <p:spPr>
          <a:xfrm>
            <a:off x="4723790" y="2606040"/>
            <a:ext cx="1828800" cy="914400"/>
          </a:xfrm>
          <a:prstGeom prst="roundRect">
            <a:avLst>
              <a:gd name="adj" fmla="val 10000"/>
            </a:avLst>
          </a:prstGeom>
          <a:solidFill>
            <a:schemeClr val="accent1"/>
          </a:solidFill>
          <a:ln/>
        </p:spPr>
      </p:sp>
      <p:sp>
        <p:nvSpPr>
          <p:cNvPr id="18" name="Text 15"/>
          <p:cNvSpPr txBox="1"/>
          <p:nvPr/>
        </p:nvSpPr>
        <p:spPr>
          <a:xfrm>
            <a:off x="4833518" y="2606040"/>
            <a:ext cx="1609344" cy="914400"/>
          </a:xfrm>
          <a:prstGeom prst="rect">
            <a:avLst/>
          </a:prstGeom>
          <a:noFill/>
          <a:ln/>
        </p:spPr>
        <p:txBody>
          <a:bodyPr wrap="square" lIns="0" tIns="0" rIns="0" bIns="0" rtlCol="0" anchor="ctr"/>
          <a:lstStyle/>
          <a:p>
            <a:pPr indent="0" marL="0">
              <a:buNone/>
            </a:pPr>
            <a:r>
              <a:rPr lang="en-US" sz="1300" b="1" dirty="0">
                <a:solidFill>
                  <a:schemeClr val="bg1"/>
                </a:solidFill>
              </a:rPr>
              <a:t>Agent identity</a:t>
            </a:r>
            <a:endParaRPr lang="en-US" sz="1300" dirty="0"/>
          </a:p>
          <a:p>
            <a:pPr indent="0" marL="0">
              <a:buNone/>
            </a:pPr>
            <a:r>
              <a:rPr lang="en-US" sz="1100" dirty="0">
                <a:solidFill>
                  <a:schemeClr val="bg1"/>
                </a:solidFill>
              </a:rPr>
              <a:t>e.g. “HR Helper – Sales”</a:t>
            </a:r>
            <a:endParaRPr lang="en-US" sz="1300" dirty="0"/>
          </a:p>
        </p:txBody>
      </p:sp>
      <p:sp>
        <p:nvSpPr>
          <p:cNvPr id="19" name="Drop 4"/>
          <p:cNvSpPr/>
          <p:nvPr/>
        </p:nvSpPr>
        <p:spPr>
          <a:xfrm>
            <a:off x="7771486" y="2377440"/>
            <a:ext cx="0" cy="228600"/>
          </a:xfrm>
          <a:prstGeom prst="line">
            <a:avLst/>
          </a:prstGeom>
          <a:noFill/>
          <a:ln w="19050">
            <a:solidFill>
              <a:schemeClr val="accent6"/>
            </a:solidFill>
            <a:prstDash val="solid"/>
          </a:ln>
        </p:spPr>
      </p:sp>
      <p:sp>
        <p:nvSpPr>
          <p:cNvPr id="20" name="Child 4"/>
          <p:cNvSpPr/>
          <p:nvPr/>
        </p:nvSpPr>
        <p:spPr>
          <a:xfrm>
            <a:off x="6857086" y="2606040"/>
            <a:ext cx="1828800" cy="914400"/>
          </a:xfrm>
          <a:prstGeom prst="roundRect">
            <a:avLst>
              <a:gd name="adj" fmla="val 10000"/>
            </a:avLst>
          </a:prstGeom>
          <a:solidFill>
            <a:schemeClr val="accent1"/>
          </a:solidFill>
          <a:ln/>
        </p:spPr>
      </p:sp>
      <p:sp>
        <p:nvSpPr>
          <p:cNvPr id="21" name="Text 18"/>
          <p:cNvSpPr txBox="1"/>
          <p:nvPr/>
        </p:nvSpPr>
        <p:spPr>
          <a:xfrm>
            <a:off x="6966814" y="2606040"/>
            <a:ext cx="1609344" cy="914400"/>
          </a:xfrm>
          <a:prstGeom prst="rect">
            <a:avLst/>
          </a:prstGeom>
          <a:noFill/>
          <a:ln/>
        </p:spPr>
        <p:txBody>
          <a:bodyPr wrap="square" lIns="0" tIns="0" rIns="0" bIns="0" rtlCol="0" anchor="ctr"/>
          <a:lstStyle/>
          <a:p>
            <a:pPr indent="0" marL="0">
              <a:buNone/>
            </a:pPr>
            <a:r>
              <a:rPr lang="en-US" sz="1300" b="1" dirty="0">
                <a:solidFill>
                  <a:schemeClr val="bg1"/>
                </a:solidFill>
              </a:rPr>
              <a:t>Agent identity …</a:t>
            </a:r>
            <a:endParaRPr lang="en-US" sz="1300" dirty="0"/>
          </a:p>
          <a:p>
            <a:pPr indent="0" marL="0">
              <a:buNone/>
            </a:pPr>
            <a:r>
              <a:rPr lang="en-US" sz="1100" dirty="0">
                <a:solidFill>
                  <a:schemeClr val="bg1"/>
                </a:solidFill>
              </a:rPr>
              <a:t>one per agent, all inherit the blueprint</a:t>
            </a:r>
            <a:endParaRPr lang="en-US" sz="1300" dirty="0"/>
          </a:p>
        </p:txBody>
      </p:sp>
      <p:sp>
        <p:nvSpPr>
          <p:cNvPr id="22" name="Drop agent user"/>
          <p:cNvSpPr/>
          <p:nvPr/>
        </p:nvSpPr>
        <p:spPr>
          <a:xfrm>
            <a:off x="3502152" y="3520440"/>
            <a:ext cx="0" cy="320040"/>
          </a:xfrm>
          <a:prstGeom prst="line">
            <a:avLst/>
          </a:prstGeom>
          <a:noFill/>
          <a:ln w="19050">
            <a:solidFill>
              <a:schemeClr val="accent6"/>
            </a:solidFill>
            <a:prstDash val="solid"/>
          </a:ln>
        </p:spPr>
      </p:sp>
      <p:sp>
        <p:nvSpPr>
          <p:cNvPr id="23" name="Agent user"/>
          <p:cNvSpPr/>
          <p:nvPr/>
        </p:nvSpPr>
        <p:spPr>
          <a:xfrm>
            <a:off x="2587752" y="3840480"/>
            <a:ext cx="1828800" cy="731520"/>
          </a:xfrm>
          <a:prstGeom prst="roundRect">
            <a:avLst>
              <a:gd name="adj" fmla="val 12500"/>
            </a:avLst>
          </a:prstGeom>
          <a:solidFill>
            <a:schemeClr val="bg1"/>
          </a:solidFill>
          <a:ln w="15875">
            <a:solidFill>
              <a:schemeClr val="accent1"/>
            </a:solidFill>
            <a:prstDash val="dash"/>
          </a:ln>
        </p:spPr>
      </p:sp>
      <p:sp>
        <p:nvSpPr>
          <p:cNvPr id="24" name="Text 21"/>
          <p:cNvSpPr txBox="1"/>
          <p:nvPr/>
        </p:nvSpPr>
        <p:spPr>
          <a:xfrm>
            <a:off x="2697480" y="3840480"/>
            <a:ext cx="1645920" cy="731520"/>
          </a:xfrm>
          <a:prstGeom prst="rect">
            <a:avLst/>
          </a:prstGeom>
          <a:noFill/>
          <a:ln/>
        </p:spPr>
        <p:txBody>
          <a:bodyPr wrap="square" lIns="0" tIns="0" rIns="0" bIns="0" rtlCol="0" anchor="ctr"/>
          <a:lstStyle/>
          <a:p>
            <a:pPr indent="0" marL="0">
              <a:buNone/>
            </a:pPr>
            <a:r>
              <a:rPr lang="en-US" sz="1200" b="1" dirty="0">
                <a:solidFill>
                  <a:schemeClr val="tx2"/>
                </a:solidFill>
              </a:rPr>
              <a:t>Agent user (optional)</a:t>
            </a:r>
            <a:endParaRPr lang="en-US" sz="1200" dirty="0"/>
          </a:p>
          <a:p>
            <a:pPr indent="0" marL="0">
              <a:buNone/>
            </a:pPr>
            <a:r>
              <a:rPr lang="en-US" sz="1100" dirty="0">
                <a:solidFill>
                  <a:schemeClr val="tx1"/>
                </a:solidFill>
              </a:rPr>
              <a:t>mailbox / Teams presence</a:t>
            </a:r>
            <a:endParaRPr lang="en-US" sz="1200" dirty="0"/>
          </a:p>
        </p:txBody>
      </p:sp>
      <p:sp>
        <p:nvSpPr>
          <p:cNvPr id="25" name="Text 22"/>
          <p:cNvSpPr txBox="1"/>
          <p:nvPr/>
        </p:nvSpPr>
        <p:spPr>
          <a:xfrm>
            <a:off x="4718304" y="3840480"/>
            <a:ext cx="3968496" cy="731520"/>
          </a:xfrm>
          <a:prstGeom prst="rect">
            <a:avLst/>
          </a:prstGeom>
          <a:noFill/>
          <a:ln/>
        </p:spPr>
        <p:txBody>
          <a:bodyPr wrap="square" lIns="0" tIns="0" rIns="0" bIns="0" rtlCol="0" anchor="ctr"/>
          <a:lstStyle/>
          <a:p>
            <a:pPr indent="0" marL="0">
              <a:buNone/>
            </a:pPr>
            <a:r>
              <a:rPr lang="en-US" sz="1200" b="1" dirty="0">
                <a:solidFill>
                  <a:schemeClr val="tx2"/>
                </a:solidFill>
              </a:rPr>
              <a:t>Think of it as: </a:t>
            </a:r>
            <a:pPr indent="0" marL="0">
              <a:buNone/>
            </a:pPr>
            <a:r>
              <a:rPr lang="en-US" sz="1200" dirty="0">
                <a:solidFill>
                  <a:schemeClr val="tx1"/>
                </a:solidFill>
              </a:rPr>
              <a:t>blueprint ≈ app registration, agent identity ≈ enterprise app – but one blueprint can create many agents.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1"/>
                </a:solidFill>
              </a:rPr>
              <a:t>BLUEPRINTS  ·  HOW IT FITS</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Identity vs inventory: Agent ID and the registry</a:t>
            </a:r>
            <a:endParaRPr lang="en-US" sz="2800" dirty="0"/>
          </a:p>
        </p:txBody>
      </p:sp>
      <p:sp>
        <p:nvSpPr>
          <p:cNvPr id="4" name="Fit card 1"/>
          <p:cNvSpPr/>
          <p:nvPr/>
        </p:nvSpPr>
        <p:spPr>
          <a:xfrm>
            <a:off x="457200" y="1280160"/>
            <a:ext cx="3749040" cy="2423160"/>
          </a:xfrm>
          <a:prstGeom prst="roundRect">
            <a:avLst>
              <a:gd name="adj" fmla="val 4528"/>
            </a:avLst>
          </a:prstGeom>
          <a:solidFill>
            <a:schemeClr val="tx2"/>
          </a:solidFill>
          <a:ln/>
        </p:spPr>
      </p:sp>
      <p:sp>
        <p:nvSpPr>
          <p:cNvPr id="5" name="Fit icon bg 1"/>
          <p:cNvSpPr/>
          <p:nvPr/>
        </p:nvSpPr>
        <p:spPr>
          <a:xfrm>
            <a:off x="685800" y="1463040"/>
            <a:ext cx="502920" cy="502920"/>
          </a:xfrm>
          <a:prstGeom prst="ellipse">
            <a:avLst/>
          </a:prstGeom>
          <a:solidFill>
            <a:schemeClr val="accent5"/>
          </a:solidFill>
          <a:ln/>
        </p:spPr>
      </p:sp>
      <p:pic>
        <p:nvPicPr>
          <p:cNvPr id="6" name="Image 0" descr="Entra Agent ID">    </p:cNvPr>
          <p:cNvPicPr>
            <a:picLocks noChangeAspect="1"/>
          </p:cNvPicPr>
          <p:nvPr/>
        </p:nvPicPr>
        <p:blipFill>
          <a:blip r:embed="rId1"/>
          <a:stretch>
            <a:fillRect/>
          </a:stretch>
        </p:blipFill>
        <p:spPr>
          <a:xfrm>
            <a:off x="795528" y="1572768"/>
            <a:ext cx="283464" cy="283464"/>
          </a:xfrm>
          <a:prstGeom prst="rect">
            <a:avLst/>
          </a:prstGeom>
        </p:spPr>
      </p:pic>
      <p:sp>
        <p:nvSpPr>
          <p:cNvPr id="7" name="Text 4"/>
          <p:cNvSpPr txBox="1"/>
          <p:nvPr/>
        </p:nvSpPr>
        <p:spPr>
          <a:xfrm>
            <a:off x="1325880" y="1463040"/>
            <a:ext cx="2743200" cy="502920"/>
          </a:xfrm>
          <a:prstGeom prst="rect">
            <a:avLst/>
          </a:prstGeom>
          <a:noFill/>
          <a:ln/>
        </p:spPr>
        <p:txBody>
          <a:bodyPr wrap="square" lIns="0" tIns="0" rIns="0" bIns="0" rtlCol="0" anchor="ctr"/>
          <a:lstStyle/>
          <a:p>
            <a:pPr indent="0" marL="0">
              <a:buNone/>
            </a:pPr>
            <a:r>
              <a:rPr lang="en-US" sz="1700" b="1" dirty="0">
                <a:solidFill>
                  <a:schemeClr val="bg1"/>
                </a:solidFill>
              </a:rPr>
              <a:t>Entra Agent ID</a:t>
            </a:r>
            <a:endParaRPr lang="en-US" sz="1700" dirty="0"/>
          </a:p>
        </p:txBody>
      </p:sp>
      <p:sp>
        <p:nvSpPr>
          <p:cNvPr id="8" name="Text 5"/>
          <p:cNvSpPr txBox="1"/>
          <p:nvPr/>
        </p:nvSpPr>
        <p:spPr>
          <a:xfrm>
            <a:off x="685800" y="2103120"/>
            <a:ext cx="3337560" cy="411480"/>
          </a:xfrm>
          <a:prstGeom prst="rect">
            <a:avLst/>
          </a:prstGeom>
          <a:noFill/>
          <a:ln/>
        </p:spPr>
        <p:txBody>
          <a:bodyPr wrap="square" lIns="0" tIns="0" rIns="0" bIns="0" rtlCol="0" anchor="t"/>
          <a:lstStyle/>
          <a:p>
            <a:pPr indent="0" marL="0">
              <a:buNone/>
            </a:pPr>
            <a:r>
              <a:rPr lang="en-US" sz="1300" i="1" dirty="0">
                <a:solidFill>
                  <a:schemeClr val="bg1"/>
                </a:solidFill>
              </a:rPr>
              <a:t>Who is this agent and what can it access?</a:t>
            </a:r>
            <a:endParaRPr lang="en-US" sz="1300" dirty="0"/>
          </a:p>
        </p:txBody>
      </p:sp>
      <p:sp>
        <p:nvSpPr>
          <p:cNvPr id="9" name="Text 6"/>
          <p:cNvSpPr txBox="1"/>
          <p:nvPr/>
        </p:nvSpPr>
        <p:spPr>
          <a:xfrm>
            <a:off x="685800" y="2606040"/>
            <a:ext cx="3383280" cy="10058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bg2"/>
                </a:solidFill>
              </a:rPr>
              <a:t>Blueprints, agent identities, agent users</a:t>
            </a:r>
            <a:endParaRPr lang="en-US" sz="1200" dirty="0"/>
          </a:p>
          <a:p>
            <a:pPr marL="342900" indent="-342900">
              <a:spcAft>
                <a:spcPts val="400"/>
              </a:spcAft>
              <a:buSzPct val="100000"/>
              <a:buChar char="•"/>
            </a:pPr>
            <a:r>
              <a:rPr lang="en-US" sz="1200" dirty="0">
                <a:solidFill>
                  <a:schemeClr val="bg2"/>
                </a:solidFill>
              </a:rPr>
              <a:t>Permissions, credentials, Conditional Access, risk</a:t>
            </a:r>
            <a:endParaRPr lang="en-US" sz="1200" dirty="0"/>
          </a:p>
          <a:p>
            <a:pPr marL="342900" indent="-342900">
              <a:spcAft>
                <a:spcPts val="400"/>
              </a:spcAft>
              <a:buSzPct val="100000"/>
              <a:buChar char="•"/>
            </a:pPr>
            <a:r>
              <a:rPr lang="en-US" sz="1200" dirty="0">
                <a:solidFill>
                  <a:schemeClr val="bg2"/>
                </a:solidFill>
              </a:rPr>
              <a:t>Entra admin center › Agent ID</a:t>
            </a:r>
            <a:endParaRPr lang="en-US" sz="1200" dirty="0"/>
          </a:p>
        </p:txBody>
      </p:sp>
      <p:sp>
        <p:nvSpPr>
          <p:cNvPr id="10" name="Fit card 2"/>
          <p:cNvSpPr/>
          <p:nvPr/>
        </p:nvSpPr>
        <p:spPr>
          <a:xfrm>
            <a:off x="4937760" y="1280160"/>
            <a:ext cx="3749040" cy="2423160"/>
          </a:xfrm>
          <a:prstGeom prst="roundRect">
            <a:avLst>
              <a:gd name="adj" fmla="val 4528"/>
            </a:avLst>
          </a:prstGeom>
          <a:solidFill>
            <a:schemeClr val="bg2"/>
          </a:solidFill>
          <a:ln/>
        </p:spPr>
      </p:sp>
      <p:sp>
        <p:nvSpPr>
          <p:cNvPr id="11" name="Fit icon bg 2"/>
          <p:cNvSpPr/>
          <p:nvPr/>
        </p:nvSpPr>
        <p:spPr>
          <a:xfrm>
            <a:off x="5166360" y="1463040"/>
            <a:ext cx="502920" cy="502920"/>
          </a:xfrm>
          <a:prstGeom prst="ellipse">
            <a:avLst/>
          </a:prstGeom>
          <a:solidFill>
            <a:schemeClr val="accent1"/>
          </a:solidFill>
          <a:ln/>
        </p:spPr>
      </p:sp>
      <p:pic>
        <p:nvPicPr>
          <p:cNvPr id="12" name="Image 1" descr="Agent 365 registry">    </p:cNvPr>
          <p:cNvPicPr>
            <a:picLocks noChangeAspect="1"/>
          </p:cNvPicPr>
          <p:nvPr/>
        </p:nvPicPr>
        <p:blipFill>
          <a:blip r:embed="rId2"/>
          <a:stretch>
            <a:fillRect/>
          </a:stretch>
        </p:blipFill>
        <p:spPr>
          <a:xfrm>
            <a:off x="5276088" y="1572768"/>
            <a:ext cx="283464" cy="283464"/>
          </a:xfrm>
          <a:prstGeom prst="rect">
            <a:avLst/>
          </a:prstGeom>
        </p:spPr>
      </p:pic>
      <p:sp>
        <p:nvSpPr>
          <p:cNvPr id="13" name="Text 9"/>
          <p:cNvSpPr txBox="1"/>
          <p:nvPr/>
        </p:nvSpPr>
        <p:spPr>
          <a:xfrm>
            <a:off x="5806440" y="1463040"/>
            <a:ext cx="2743200" cy="502920"/>
          </a:xfrm>
          <a:prstGeom prst="rect">
            <a:avLst/>
          </a:prstGeom>
          <a:noFill/>
          <a:ln/>
        </p:spPr>
        <p:txBody>
          <a:bodyPr wrap="square" lIns="0" tIns="0" rIns="0" bIns="0" rtlCol="0" anchor="ctr"/>
          <a:lstStyle/>
          <a:p>
            <a:pPr indent="0" marL="0">
              <a:buNone/>
            </a:pPr>
            <a:r>
              <a:rPr lang="en-US" sz="1700" b="1" dirty="0">
                <a:solidFill>
                  <a:schemeClr val="tx2"/>
                </a:solidFill>
              </a:rPr>
              <a:t>Agent 365 registry</a:t>
            </a:r>
            <a:endParaRPr lang="en-US" sz="1700" dirty="0"/>
          </a:p>
        </p:txBody>
      </p:sp>
      <p:sp>
        <p:nvSpPr>
          <p:cNvPr id="14" name="Text 10"/>
          <p:cNvSpPr txBox="1"/>
          <p:nvPr/>
        </p:nvSpPr>
        <p:spPr>
          <a:xfrm>
            <a:off x="5166360" y="2103120"/>
            <a:ext cx="3337560" cy="411480"/>
          </a:xfrm>
          <a:prstGeom prst="rect">
            <a:avLst/>
          </a:prstGeom>
          <a:noFill/>
          <a:ln/>
        </p:spPr>
        <p:txBody>
          <a:bodyPr wrap="square" lIns="0" tIns="0" rIns="0" bIns="0" rtlCol="0" anchor="t"/>
          <a:lstStyle/>
          <a:p>
            <a:pPr indent="0" marL="0">
              <a:buNone/>
            </a:pPr>
            <a:r>
              <a:rPr lang="en-US" sz="1300" i="1" dirty="0">
                <a:solidFill>
                  <a:schemeClr val="tx2"/>
                </a:solidFill>
              </a:rPr>
              <a:t>Which agents exist, who owns them, are they allowed?</a:t>
            </a:r>
            <a:endParaRPr lang="en-US" sz="1300" dirty="0"/>
          </a:p>
        </p:txBody>
      </p:sp>
      <p:sp>
        <p:nvSpPr>
          <p:cNvPr id="15" name="Text 11"/>
          <p:cNvSpPr txBox="1"/>
          <p:nvPr/>
        </p:nvSpPr>
        <p:spPr>
          <a:xfrm>
            <a:off x="5166360" y="2606040"/>
            <a:ext cx="3383280" cy="10058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Every agent – Copilot Studio, Microsoft, third-party</a:t>
            </a:r>
            <a:endParaRPr lang="en-US" sz="1200" dirty="0"/>
          </a:p>
          <a:p>
            <a:pPr marL="342900" indent="-342900">
              <a:spcAft>
                <a:spcPts val="400"/>
              </a:spcAft>
              <a:buSzPct val="100000"/>
              <a:buChar char="•"/>
            </a:pPr>
            <a:r>
              <a:rPr lang="en-US" sz="1200" dirty="0">
                <a:solidFill>
                  <a:schemeClr val="tx1"/>
                </a:solidFill>
              </a:rPr>
              <a:t>Owners, status, block / allow, usage</a:t>
            </a:r>
            <a:endParaRPr lang="en-US" sz="1200" dirty="0"/>
          </a:p>
          <a:p>
            <a:pPr marL="342900" indent="-342900">
              <a:spcAft>
                <a:spcPts val="400"/>
              </a:spcAft>
              <a:buSzPct val="100000"/>
              <a:buChar char="•"/>
            </a:pPr>
            <a:r>
              <a:rPr lang="en-US" sz="1200" dirty="0">
                <a:solidFill>
                  <a:schemeClr val="tx1"/>
                </a:solidFill>
              </a:rPr>
              <a:t>M365 admin center › Agent 365 › Agent registry</a:t>
            </a:r>
            <a:endParaRPr lang="en-US" sz="1200" dirty="0"/>
          </a:p>
        </p:txBody>
      </p:sp>
      <p:sp>
        <p:nvSpPr>
          <p:cNvPr id="16" name="Link badge"/>
          <p:cNvSpPr/>
          <p:nvPr/>
        </p:nvSpPr>
        <p:spPr>
          <a:xfrm>
            <a:off x="4270248" y="2194560"/>
            <a:ext cx="603504" cy="603504"/>
          </a:xfrm>
          <a:prstGeom prst="ellipse">
            <a:avLst/>
          </a:prstGeom>
          <a:solidFill>
            <a:schemeClr val="accent2"/>
          </a:solidFill>
          <a:ln w="25400">
            <a:solidFill>
              <a:schemeClr val="bg1"/>
            </a:solidFill>
            <a:prstDash val="solid"/>
          </a:ln>
        </p:spPr>
      </p:sp>
      <p:pic>
        <p:nvPicPr>
          <p:cNvPr id="17" name="Image 2" descr="Linked">    </p:cNvPr>
          <p:cNvPicPr>
            <a:picLocks noChangeAspect="1"/>
          </p:cNvPicPr>
          <p:nvPr/>
        </p:nvPicPr>
        <p:blipFill>
          <a:blip r:embed="rId3"/>
          <a:stretch>
            <a:fillRect/>
          </a:stretch>
        </p:blipFill>
        <p:spPr>
          <a:xfrm>
            <a:off x="4407408" y="2331720"/>
            <a:ext cx="329184" cy="329184"/>
          </a:xfrm>
          <a:prstGeom prst="rect">
            <a:avLst/>
          </a:prstGeom>
        </p:spPr>
      </p:pic>
      <p:sp>
        <p:nvSpPr>
          <p:cNvPr id="18" name="Link banner"/>
          <p:cNvSpPr/>
          <p:nvPr/>
        </p:nvSpPr>
        <p:spPr>
          <a:xfrm>
            <a:off x="457200" y="3886200"/>
            <a:ext cx="8229600" cy="685800"/>
          </a:xfrm>
          <a:prstGeom prst="roundRect">
            <a:avLst>
              <a:gd name="adj" fmla="val 13333"/>
            </a:avLst>
          </a:prstGeom>
          <a:solidFill>
            <a:schemeClr val="bg2"/>
          </a:solidFill>
          <a:ln/>
        </p:spPr>
      </p:sp>
      <p:sp>
        <p:nvSpPr>
          <p:cNvPr id="19" name="Text 14"/>
          <p:cNvSpPr txBox="1"/>
          <p:nvPr/>
        </p:nvSpPr>
        <p:spPr>
          <a:xfrm>
            <a:off x="685800" y="3886200"/>
            <a:ext cx="7772400" cy="685800"/>
          </a:xfrm>
          <a:prstGeom prst="rect">
            <a:avLst/>
          </a:prstGeom>
          <a:noFill/>
          <a:ln/>
        </p:spPr>
        <p:txBody>
          <a:bodyPr wrap="square" lIns="0" tIns="0" rIns="0" bIns="0" rtlCol="0" anchor="ctr"/>
          <a:lstStyle/>
          <a:p>
            <a:pPr indent="0" marL="0">
              <a:buNone/>
            </a:pPr>
            <a:r>
              <a:rPr lang="en-US" sz="1300" b="1" dirty="0">
                <a:solidFill>
                  <a:schemeClr val="tx2"/>
                </a:solidFill>
              </a:rPr>
              <a:t>Linked by ID: </a:t>
            </a:r>
            <a:pPr indent="0" marL="0">
              <a:buNone/>
            </a:pPr>
            <a:r>
              <a:rPr lang="en-US" sz="1300" dirty="0">
                <a:solidFill>
                  <a:schemeClr val="tx1"/>
                </a:solidFill>
              </a:rPr>
              <a:t>each registry entry records its blueprint ID, agent identity ID and agent user ID. Some agents have no Entra identity yet – our tenant today has 0 blueprints.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1"/>
                </a:solidFill>
              </a:rPr>
              <a:t>BLUEPRINTS  ·  CONTROLS</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What lives on the blueprint, and why it matters</a:t>
            </a:r>
            <a:endParaRPr lang="en-US" sz="2800" dirty="0"/>
          </a:p>
        </p:txBody>
      </p:sp>
      <p:sp>
        <p:nvSpPr>
          <p:cNvPr id="4" name="Control card 1"/>
          <p:cNvSpPr/>
          <p:nvPr/>
        </p:nvSpPr>
        <p:spPr>
          <a:xfrm>
            <a:off x="457200" y="1280160"/>
            <a:ext cx="4023360" cy="1463040"/>
          </a:xfrm>
          <a:prstGeom prst="roundRect">
            <a:avLst>
              <a:gd name="adj" fmla="val 7500"/>
            </a:avLst>
          </a:prstGeom>
          <a:solidFill>
            <a:schemeClr val="bg2"/>
          </a:solidFill>
          <a:ln/>
        </p:spPr>
      </p:sp>
      <p:sp>
        <p:nvSpPr>
          <p:cNvPr id="5" name="Control icon bg 1"/>
          <p:cNvSpPr/>
          <p:nvPr/>
        </p:nvSpPr>
        <p:spPr>
          <a:xfrm>
            <a:off x="685800" y="1508760"/>
            <a:ext cx="548640" cy="548640"/>
          </a:xfrm>
          <a:prstGeom prst="ellipse">
            <a:avLst/>
          </a:prstGeom>
          <a:solidFill>
            <a:schemeClr val="accent4"/>
          </a:solidFill>
          <a:ln/>
        </p:spPr>
      </p:sp>
      <p:pic>
        <p:nvPicPr>
          <p:cNvPr id="6" name="Image 0" descr="Inheritable permissions">    </p:cNvPr>
          <p:cNvPicPr>
            <a:picLocks noChangeAspect="1"/>
          </p:cNvPicPr>
          <p:nvPr/>
        </p:nvPicPr>
        <p:blipFill>
          <a:blip r:embed="rId1"/>
          <a:stretch>
            <a:fillRect/>
          </a:stretch>
        </p:blipFill>
        <p:spPr>
          <a:xfrm>
            <a:off x="804672" y="1627632"/>
            <a:ext cx="310896" cy="310896"/>
          </a:xfrm>
          <a:prstGeom prst="rect">
            <a:avLst/>
          </a:prstGeom>
        </p:spPr>
      </p:pic>
      <p:sp>
        <p:nvSpPr>
          <p:cNvPr id="7" name="Text 4"/>
          <p:cNvSpPr txBox="1"/>
          <p:nvPr/>
        </p:nvSpPr>
        <p:spPr>
          <a:xfrm>
            <a:off x="1417320" y="1463040"/>
            <a:ext cx="2926080" cy="365760"/>
          </a:xfrm>
          <a:prstGeom prst="rect">
            <a:avLst/>
          </a:prstGeom>
          <a:noFill/>
          <a:ln/>
        </p:spPr>
        <p:txBody>
          <a:bodyPr wrap="square" lIns="0" tIns="0" rIns="0" bIns="0" rtlCol="0" anchor="ctr"/>
          <a:lstStyle/>
          <a:p>
            <a:pPr indent="0" marL="0">
              <a:buNone/>
            </a:pPr>
            <a:r>
              <a:rPr lang="en-US" sz="1600" b="1" dirty="0">
                <a:solidFill>
                  <a:schemeClr val="tx2"/>
                </a:solidFill>
              </a:rPr>
              <a:t>Inheritable permissions</a:t>
            </a:r>
            <a:endParaRPr lang="en-US" sz="1600" dirty="0"/>
          </a:p>
        </p:txBody>
      </p:sp>
      <p:sp>
        <p:nvSpPr>
          <p:cNvPr id="8" name="Text 5"/>
          <p:cNvSpPr txBox="1"/>
          <p:nvPr/>
        </p:nvSpPr>
        <p:spPr>
          <a:xfrm>
            <a:off x="1417320" y="1847088"/>
            <a:ext cx="2926080" cy="777240"/>
          </a:xfrm>
          <a:prstGeom prst="rect">
            <a:avLst/>
          </a:prstGeom>
          <a:noFill/>
          <a:ln/>
        </p:spPr>
        <p:txBody>
          <a:bodyPr wrap="square" lIns="0" tIns="0" rIns="0" bIns="0" rtlCol="0" anchor="t"/>
          <a:lstStyle/>
          <a:p>
            <a:pPr indent="0" marL="0">
              <a:buNone/>
            </a:pPr>
            <a:r>
              <a:rPr lang="en-US" sz="1200" dirty="0">
                <a:solidFill>
                  <a:schemeClr val="tx1"/>
                </a:solidFill>
              </a:rPr>
              <a:t>Approve once and every agent from the blueprint gets it. Review like tenant-wide app consent.</a:t>
            </a:r>
            <a:endParaRPr lang="en-US" sz="1200" dirty="0"/>
          </a:p>
        </p:txBody>
      </p:sp>
      <p:sp>
        <p:nvSpPr>
          <p:cNvPr id="9" name="Control card 2"/>
          <p:cNvSpPr/>
          <p:nvPr/>
        </p:nvSpPr>
        <p:spPr>
          <a:xfrm>
            <a:off x="4663440" y="1280160"/>
            <a:ext cx="4023360" cy="1463040"/>
          </a:xfrm>
          <a:prstGeom prst="roundRect">
            <a:avLst>
              <a:gd name="adj" fmla="val 7500"/>
            </a:avLst>
          </a:prstGeom>
          <a:solidFill>
            <a:schemeClr val="bg2"/>
          </a:solidFill>
          <a:ln/>
        </p:spPr>
      </p:sp>
      <p:sp>
        <p:nvSpPr>
          <p:cNvPr id="10" name="Control icon bg 2"/>
          <p:cNvSpPr/>
          <p:nvPr/>
        </p:nvSpPr>
        <p:spPr>
          <a:xfrm>
            <a:off x="4892040" y="1508760"/>
            <a:ext cx="548640" cy="548640"/>
          </a:xfrm>
          <a:prstGeom prst="ellipse">
            <a:avLst/>
          </a:prstGeom>
          <a:solidFill>
            <a:schemeClr val="accent3"/>
          </a:solidFill>
          <a:ln/>
        </p:spPr>
      </p:sp>
      <p:pic>
        <p:nvPicPr>
          <p:cNvPr id="11" name="Image 1" descr="Credentials">    </p:cNvPr>
          <p:cNvPicPr>
            <a:picLocks noChangeAspect="1"/>
          </p:cNvPicPr>
          <p:nvPr/>
        </p:nvPicPr>
        <p:blipFill>
          <a:blip r:embed="rId2"/>
          <a:stretch>
            <a:fillRect/>
          </a:stretch>
        </p:blipFill>
        <p:spPr>
          <a:xfrm>
            <a:off x="5010912" y="1627632"/>
            <a:ext cx="310896" cy="310896"/>
          </a:xfrm>
          <a:prstGeom prst="rect">
            <a:avLst/>
          </a:prstGeom>
        </p:spPr>
      </p:pic>
      <p:sp>
        <p:nvSpPr>
          <p:cNvPr id="12" name="Text 8"/>
          <p:cNvSpPr txBox="1"/>
          <p:nvPr/>
        </p:nvSpPr>
        <p:spPr>
          <a:xfrm>
            <a:off x="5623560" y="1463040"/>
            <a:ext cx="2926080" cy="365760"/>
          </a:xfrm>
          <a:prstGeom prst="rect">
            <a:avLst/>
          </a:prstGeom>
          <a:noFill/>
          <a:ln/>
        </p:spPr>
        <p:txBody>
          <a:bodyPr wrap="square" lIns="0" tIns="0" rIns="0" bIns="0" rtlCol="0" anchor="ctr"/>
          <a:lstStyle/>
          <a:p>
            <a:pPr indent="0" marL="0">
              <a:buNone/>
            </a:pPr>
            <a:r>
              <a:rPr lang="en-US" sz="1600" b="1" dirty="0">
                <a:solidFill>
                  <a:schemeClr val="tx2"/>
                </a:solidFill>
              </a:rPr>
              <a:t>Credentials</a:t>
            </a:r>
            <a:endParaRPr lang="en-US" sz="1600" dirty="0"/>
          </a:p>
        </p:txBody>
      </p:sp>
      <p:sp>
        <p:nvSpPr>
          <p:cNvPr id="13" name="Text 9"/>
          <p:cNvSpPr txBox="1"/>
          <p:nvPr/>
        </p:nvSpPr>
        <p:spPr>
          <a:xfrm>
            <a:off x="5623560" y="1847088"/>
            <a:ext cx="2926080" cy="777240"/>
          </a:xfrm>
          <a:prstGeom prst="rect">
            <a:avLst/>
          </a:prstGeom>
          <a:noFill/>
          <a:ln/>
        </p:spPr>
        <p:txBody>
          <a:bodyPr wrap="square" lIns="0" tIns="0" rIns="0" bIns="0" rtlCol="0" anchor="t"/>
          <a:lstStyle/>
          <a:p>
            <a:pPr indent="0" marL="0">
              <a:buNone/>
            </a:pPr>
            <a:r>
              <a:rPr lang="en-US" sz="1200" dirty="0">
                <a:solidFill>
                  <a:schemeClr val="tx1"/>
                </a:solidFill>
              </a:rPr>
              <a:t>Secrets, certificates and federated credentials sit here, not on each agent. Rotate and watch expiry.</a:t>
            </a:r>
            <a:endParaRPr lang="en-US" sz="1200" dirty="0"/>
          </a:p>
        </p:txBody>
      </p:sp>
      <p:sp>
        <p:nvSpPr>
          <p:cNvPr id="14" name="Control card 3"/>
          <p:cNvSpPr/>
          <p:nvPr/>
        </p:nvSpPr>
        <p:spPr>
          <a:xfrm>
            <a:off x="457200" y="2926080"/>
            <a:ext cx="4023360" cy="1463040"/>
          </a:xfrm>
          <a:prstGeom prst="roundRect">
            <a:avLst>
              <a:gd name="adj" fmla="val 7500"/>
            </a:avLst>
          </a:prstGeom>
          <a:solidFill>
            <a:schemeClr val="bg2"/>
          </a:solidFill>
          <a:ln/>
        </p:spPr>
      </p:sp>
      <p:sp>
        <p:nvSpPr>
          <p:cNvPr id="15" name="Control icon bg 3"/>
          <p:cNvSpPr/>
          <p:nvPr/>
        </p:nvSpPr>
        <p:spPr>
          <a:xfrm>
            <a:off x="685800" y="3154680"/>
            <a:ext cx="548640" cy="548640"/>
          </a:xfrm>
          <a:prstGeom prst="ellipse">
            <a:avLst/>
          </a:prstGeom>
          <a:solidFill>
            <a:schemeClr val="accent5"/>
          </a:solidFill>
          <a:ln/>
        </p:spPr>
      </p:sp>
      <p:pic>
        <p:nvPicPr>
          <p:cNvPr id="16" name="Image 2" descr="Owners and sponsors">    </p:cNvPr>
          <p:cNvPicPr>
            <a:picLocks noChangeAspect="1"/>
          </p:cNvPicPr>
          <p:nvPr/>
        </p:nvPicPr>
        <p:blipFill>
          <a:blip r:embed="rId3"/>
          <a:stretch>
            <a:fillRect/>
          </a:stretch>
        </p:blipFill>
        <p:spPr>
          <a:xfrm>
            <a:off x="804672" y="3273552"/>
            <a:ext cx="310896" cy="310896"/>
          </a:xfrm>
          <a:prstGeom prst="rect">
            <a:avLst/>
          </a:prstGeom>
        </p:spPr>
      </p:pic>
      <p:sp>
        <p:nvSpPr>
          <p:cNvPr id="17" name="Text 12"/>
          <p:cNvSpPr txBox="1"/>
          <p:nvPr/>
        </p:nvSpPr>
        <p:spPr>
          <a:xfrm>
            <a:off x="1417320" y="3108960"/>
            <a:ext cx="2926080" cy="365760"/>
          </a:xfrm>
          <a:prstGeom prst="rect">
            <a:avLst/>
          </a:prstGeom>
          <a:noFill/>
          <a:ln/>
        </p:spPr>
        <p:txBody>
          <a:bodyPr wrap="square" lIns="0" tIns="0" rIns="0" bIns="0" rtlCol="0" anchor="ctr"/>
          <a:lstStyle/>
          <a:p>
            <a:pPr indent="0" marL="0">
              <a:buNone/>
            </a:pPr>
            <a:r>
              <a:rPr lang="en-US" sz="1600" b="1" dirty="0">
                <a:solidFill>
                  <a:schemeClr val="tx2"/>
                </a:solidFill>
              </a:rPr>
              <a:t>Owners and sponsors</a:t>
            </a:r>
            <a:endParaRPr lang="en-US" sz="1600" dirty="0"/>
          </a:p>
        </p:txBody>
      </p:sp>
      <p:sp>
        <p:nvSpPr>
          <p:cNvPr id="18" name="Text 13"/>
          <p:cNvSpPr txBox="1"/>
          <p:nvPr/>
        </p:nvSpPr>
        <p:spPr>
          <a:xfrm>
            <a:off x="1417320" y="3493008"/>
            <a:ext cx="2926080" cy="777240"/>
          </a:xfrm>
          <a:prstGeom prst="rect">
            <a:avLst/>
          </a:prstGeom>
          <a:noFill/>
          <a:ln/>
        </p:spPr>
        <p:txBody>
          <a:bodyPr wrap="square" lIns="0" tIns="0" rIns="0" bIns="0" rtlCol="0" anchor="t"/>
          <a:lstStyle/>
          <a:p>
            <a:pPr indent="0" marL="0">
              <a:buNone/>
            </a:pPr>
            <a:r>
              <a:rPr lang="en-US" sz="1200" dirty="0">
                <a:solidFill>
                  <a:schemeClr val="tx1"/>
                </a:solidFill>
              </a:rPr>
              <a:t>A sponsor is required at creation. Keep real people on it so agent families are never orphaned.</a:t>
            </a:r>
            <a:endParaRPr lang="en-US" sz="1200" dirty="0"/>
          </a:p>
        </p:txBody>
      </p:sp>
      <p:sp>
        <p:nvSpPr>
          <p:cNvPr id="19" name="Control card 4"/>
          <p:cNvSpPr/>
          <p:nvPr/>
        </p:nvSpPr>
        <p:spPr>
          <a:xfrm>
            <a:off x="4663440" y="2926080"/>
            <a:ext cx="4023360" cy="1463040"/>
          </a:xfrm>
          <a:prstGeom prst="roundRect">
            <a:avLst>
              <a:gd name="adj" fmla="val 7500"/>
            </a:avLst>
          </a:prstGeom>
          <a:solidFill>
            <a:schemeClr val="bg2"/>
          </a:solidFill>
          <a:ln/>
        </p:spPr>
      </p:sp>
      <p:sp>
        <p:nvSpPr>
          <p:cNvPr id="20" name="Control icon bg 4"/>
          <p:cNvSpPr/>
          <p:nvPr/>
        </p:nvSpPr>
        <p:spPr>
          <a:xfrm>
            <a:off x="4892040" y="3154680"/>
            <a:ext cx="548640" cy="548640"/>
          </a:xfrm>
          <a:prstGeom prst="ellipse">
            <a:avLst/>
          </a:prstGeom>
          <a:solidFill>
            <a:schemeClr val="accent2"/>
          </a:solidFill>
          <a:ln/>
        </p:spPr>
      </p:sp>
      <p:pic>
        <p:nvPicPr>
          <p:cNvPr id="21" name="Image 3" descr="Conditional Access target">    </p:cNvPr>
          <p:cNvPicPr>
            <a:picLocks noChangeAspect="1"/>
          </p:cNvPicPr>
          <p:nvPr/>
        </p:nvPicPr>
        <p:blipFill>
          <a:blip r:embed="rId4"/>
          <a:stretch>
            <a:fillRect/>
          </a:stretch>
        </p:blipFill>
        <p:spPr>
          <a:xfrm>
            <a:off x="5010912" y="3273552"/>
            <a:ext cx="310896" cy="310896"/>
          </a:xfrm>
          <a:prstGeom prst="rect">
            <a:avLst/>
          </a:prstGeom>
        </p:spPr>
      </p:pic>
      <p:sp>
        <p:nvSpPr>
          <p:cNvPr id="22" name="Text 16"/>
          <p:cNvSpPr txBox="1"/>
          <p:nvPr/>
        </p:nvSpPr>
        <p:spPr>
          <a:xfrm>
            <a:off x="5623560" y="3108960"/>
            <a:ext cx="2926080" cy="365760"/>
          </a:xfrm>
          <a:prstGeom prst="rect">
            <a:avLst/>
          </a:prstGeom>
          <a:noFill/>
          <a:ln/>
        </p:spPr>
        <p:txBody>
          <a:bodyPr wrap="square" lIns="0" tIns="0" rIns="0" bIns="0" rtlCol="0" anchor="ctr"/>
          <a:lstStyle/>
          <a:p>
            <a:pPr indent="0" marL="0">
              <a:buNone/>
            </a:pPr>
            <a:r>
              <a:rPr lang="en-US" sz="1600" b="1" dirty="0">
                <a:solidFill>
                  <a:schemeClr val="tx2"/>
                </a:solidFill>
              </a:rPr>
              <a:t>Conditional Access target</a:t>
            </a:r>
            <a:endParaRPr lang="en-US" sz="1600" dirty="0"/>
          </a:p>
        </p:txBody>
      </p:sp>
      <p:sp>
        <p:nvSpPr>
          <p:cNvPr id="23" name="Text 17"/>
          <p:cNvSpPr txBox="1"/>
          <p:nvPr/>
        </p:nvSpPr>
        <p:spPr>
          <a:xfrm>
            <a:off x="5623560" y="3493008"/>
            <a:ext cx="2926080" cy="777240"/>
          </a:xfrm>
          <a:prstGeom prst="rect">
            <a:avLst/>
          </a:prstGeom>
          <a:noFill/>
          <a:ln/>
        </p:spPr>
        <p:txBody>
          <a:bodyPr wrap="square" lIns="0" tIns="0" rIns="0" bIns="0" rtlCol="0" anchor="t"/>
          <a:lstStyle/>
          <a:p>
            <a:pPr indent="0" marL="0">
              <a:buNone/>
            </a:pPr>
            <a:r>
              <a:rPr lang="en-US" sz="1200" dirty="0">
                <a:solidFill>
                  <a:schemeClr val="tx1"/>
                </a:solidFill>
              </a:rPr>
              <a:t>A policy can target the blueprint and cover every current and future agent made from it.</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74320"/>
            <a:ext cx="3657600" cy="201168"/>
          </a:xfrm>
          <a:prstGeom prst="rect">
            <a:avLst/>
          </a:prstGeom>
          <a:noFill/>
          <a:ln/>
        </p:spPr>
        <p:txBody>
          <a:bodyPr wrap="square" lIns="0" tIns="0" rIns="0" bIns="0" rtlCol="0" anchor="ctr"/>
          <a:lstStyle/>
          <a:p>
            <a:pPr indent="0" marL="0">
              <a:buNone/>
            </a:pPr>
            <a:r>
              <a:rPr lang="en-US" sz="1000" b="1" spc="200" kern="0" dirty="0">
                <a:solidFill>
                  <a:schemeClr val="accent1"/>
                </a:solidFill>
              </a:rPr>
              <a:t>BLUEPRINTS  ·  ACTIONS</a:t>
            </a:r>
            <a:endParaRPr lang="en-US" sz="1000" dirty="0"/>
          </a:p>
        </p:txBody>
      </p:sp>
      <p:sp>
        <p:nvSpPr>
          <p:cNvPr id="3"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Blueprint checklist for our Agent 365 rollout</a:t>
            </a:r>
            <a:endParaRPr lang="en-US" sz="2800" dirty="0"/>
          </a:p>
        </p:txBody>
      </p:sp>
      <p:sp>
        <p:nvSpPr>
          <p:cNvPr id="4" name="Step 1"/>
          <p:cNvSpPr/>
          <p:nvPr/>
        </p:nvSpPr>
        <p:spPr>
          <a:xfrm>
            <a:off x="457200" y="1280160"/>
            <a:ext cx="4023360" cy="914400"/>
          </a:xfrm>
          <a:prstGeom prst="roundRect">
            <a:avLst>
              <a:gd name="adj" fmla="val 10000"/>
            </a:avLst>
          </a:prstGeom>
          <a:solidFill>
            <a:schemeClr val="bg2"/>
          </a:solidFill>
          <a:ln/>
        </p:spPr>
      </p:sp>
      <p:sp>
        <p:nvSpPr>
          <p:cNvPr id="5" name="Step 1 badge"/>
          <p:cNvSpPr/>
          <p:nvPr/>
        </p:nvSpPr>
        <p:spPr>
          <a:xfrm>
            <a:off x="640080" y="1481328"/>
            <a:ext cx="512064" cy="512064"/>
          </a:xfrm>
          <a:prstGeom prst="ellipse">
            <a:avLst/>
          </a:prstGeom>
          <a:solidFill>
            <a:schemeClr val="accent1"/>
          </a:solidFill>
          <a:ln/>
        </p:spPr>
      </p:sp>
      <p:sp>
        <p:nvSpPr>
          <p:cNvPr id="6" name="Text 4"/>
          <p:cNvSpPr txBox="1"/>
          <p:nvPr/>
        </p:nvSpPr>
        <p:spPr>
          <a:xfrm>
            <a:off x="640080" y="1481328"/>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325880" y="1280160"/>
            <a:ext cx="3063240" cy="914400"/>
          </a:xfrm>
          <a:prstGeom prst="rect">
            <a:avLst/>
          </a:prstGeom>
          <a:noFill/>
          <a:ln/>
        </p:spPr>
        <p:txBody>
          <a:bodyPr wrap="square" lIns="0" tIns="0" rIns="0" bIns="0" rtlCol="0" anchor="ctr"/>
          <a:lstStyle/>
          <a:p>
            <a:pPr indent="0" marL="0">
              <a:buNone/>
            </a:pPr>
            <a:r>
              <a:rPr lang="en-US" sz="1400" b="1" dirty="0">
                <a:solidFill>
                  <a:schemeClr val="tx2"/>
                </a:solidFill>
              </a:rPr>
              <a:t>Inventory</a:t>
            </a:r>
            <a:endParaRPr lang="en-US" sz="1400" dirty="0"/>
          </a:p>
          <a:p>
            <a:pPr indent="0" marL="0">
              <a:buNone/>
            </a:pPr>
            <a:r>
              <a:rPr lang="en-US" sz="1200" dirty="0">
                <a:solidFill>
                  <a:schemeClr val="tx1"/>
                </a:solidFill>
              </a:rPr>
              <a:t>List blueprints in Entra › Agent ID; group registry agents by blueprint.</a:t>
            </a:r>
            <a:endParaRPr lang="en-US" sz="1400" dirty="0"/>
          </a:p>
        </p:txBody>
      </p:sp>
      <p:sp>
        <p:nvSpPr>
          <p:cNvPr id="8" name="Step 2"/>
          <p:cNvSpPr/>
          <p:nvPr/>
        </p:nvSpPr>
        <p:spPr>
          <a:xfrm>
            <a:off x="457200" y="2331720"/>
            <a:ext cx="4023360" cy="914400"/>
          </a:xfrm>
          <a:prstGeom prst="roundRect">
            <a:avLst>
              <a:gd name="adj" fmla="val 10000"/>
            </a:avLst>
          </a:prstGeom>
          <a:solidFill>
            <a:schemeClr val="bg2"/>
          </a:solidFill>
          <a:ln/>
        </p:spPr>
      </p:sp>
      <p:sp>
        <p:nvSpPr>
          <p:cNvPr id="9" name="Step 2 badge"/>
          <p:cNvSpPr/>
          <p:nvPr/>
        </p:nvSpPr>
        <p:spPr>
          <a:xfrm>
            <a:off x="640080" y="2532888"/>
            <a:ext cx="512064" cy="512064"/>
          </a:xfrm>
          <a:prstGeom prst="ellipse">
            <a:avLst/>
          </a:prstGeom>
          <a:solidFill>
            <a:schemeClr val="accent1"/>
          </a:solidFill>
          <a:ln/>
        </p:spPr>
      </p:sp>
      <p:sp>
        <p:nvSpPr>
          <p:cNvPr id="10" name="Text 8"/>
          <p:cNvSpPr txBox="1"/>
          <p:nvPr/>
        </p:nvSpPr>
        <p:spPr>
          <a:xfrm>
            <a:off x="640080" y="2532888"/>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9"/>
          <p:cNvSpPr txBox="1"/>
          <p:nvPr/>
        </p:nvSpPr>
        <p:spPr>
          <a:xfrm>
            <a:off x="1325880" y="2331720"/>
            <a:ext cx="3063240" cy="914400"/>
          </a:xfrm>
          <a:prstGeom prst="rect">
            <a:avLst/>
          </a:prstGeom>
          <a:noFill/>
          <a:ln/>
        </p:spPr>
        <p:txBody>
          <a:bodyPr wrap="square" lIns="0" tIns="0" rIns="0" bIns="0" rtlCol="0" anchor="ctr"/>
          <a:lstStyle/>
          <a:p>
            <a:pPr indent="0" marL="0">
              <a:buNone/>
            </a:pPr>
            <a:r>
              <a:rPr lang="en-US" sz="1400" b="1" dirty="0">
                <a:solidFill>
                  <a:schemeClr val="tx2"/>
                </a:solidFill>
              </a:rPr>
              <a:t>Review inheritable permissions</a:t>
            </a:r>
            <a:endParaRPr lang="en-US" sz="1400" dirty="0"/>
          </a:p>
          <a:p>
            <a:pPr indent="0" marL="0">
              <a:buNone/>
            </a:pPr>
            <a:r>
              <a:rPr lang="en-US" sz="1200" dirty="0">
                <a:solidFill>
                  <a:schemeClr val="tx1"/>
                </a:solidFill>
              </a:rPr>
              <a:t>Least privilege – approve once per blueprint, not per agent.</a:t>
            </a:r>
            <a:endParaRPr lang="en-US" sz="1400" dirty="0"/>
          </a:p>
        </p:txBody>
      </p:sp>
      <p:sp>
        <p:nvSpPr>
          <p:cNvPr id="12" name="Step 3"/>
          <p:cNvSpPr/>
          <p:nvPr/>
        </p:nvSpPr>
        <p:spPr>
          <a:xfrm>
            <a:off x="457200" y="3383280"/>
            <a:ext cx="4023360" cy="914400"/>
          </a:xfrm>
          <a:prstGeom prst="roundRect">
            <a:avLst>
              <a:gd name="adj" fmla="val 10000"/>
            </a:avLst>
          </a:prstGeom>
          <a:solidFill>
            <a:schemeClr val="bg2"/>
          </a:solidFill>
          <a:ln/>
        </p:spPr>
      </p:sp>
      <p:sp>
        <p:nvSpPr>
          <p:cNvPr id="13" name="Step 3 badge"/>
          <p:cNvSpPr/>
          <p:nvPr/>
        </p:nvSpPr>
        <p:spPr>
          <a:xfrm>
            <a:off x="640080" y="3584448"/>
            <a:ext cx="512064" cy="512064"/>
          </a:xfrm>
          <a:prstGeom prst="ellipse">
            <a:avLst/>
          </a:prstGeom>
          <a:solidFill>
            <a:schemeClr val="accent1"/>
          </a:solidFill>
          <a:ln/>
        </p:spPr>
      </p:sp>
      <p:sp>
        <p:nvSpPr>
          <p:cNvPr id="14" name="Text 12"/>
          <p:cNvSpPr txBox="1"/>
          <p:nvPr/>
        </p:nvSpPr>
        <p:spPr>
          <a:xfrm>
            <a:off x="640080" y="3584448"/>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3"/>
          <p:cNvSpPr txBox="1"/>
          <p:nvPr/>
        </p:nvSpPr>
        <p:spPr>
          <a:xfrm>
            <a:off x="1325880" y="3383280"/>
            <a:ext cx="3063240" cy="914400"/>
          </a:xfrm>
          <a:prstGeom prst="rect">
            <a:avLst/>
          </a:prstGeom>
          <a:noFill/>
          <a:ln/>
        </p:spPr>
        <p:txBody>
          <a:bodyPr wrap="square" lIns="0" tIns="0" rIns="0" bIns="0" rtlCol="0" anchor="ctr"/>
          <a:lstStyle/>
          <a:p>
            <a:pPr indent="0" marL="0">
              <a:buNone/>
            </a:pPr>
            <a:r>
              <a:rPr lang="en-US" sz="1400" b="1" dirty="0">
                <a:solidFill>
                  <a:schemeClr val="tx2"/>
                </a:solidFill>
              </a:rPr>
              <a:t>Govern credentials</a:t>
            </a:r>
            <a:endParaRPr lang="en-US" sz="1400" dirty="0"/>
          </a:p>
          <a:p>
            <a:pPr indent="0" marL="0">
              <a:buNone/>
            </a:pPr>
            <a:r>
              <a:rPr lang="en-US" sz="1200" dirty="0">
                <a:solidFill>
                  <a:schemeClr val="tx1"/>
                </a:solidFill>
              </a:rPr>
              <a:t>Prefer certificates or federated credentials; track expiry.</a:t>
            </a:r>
            <a:endParaRPr lang="en-US" sz="1400" dirty="0"/>
          </a:p>
        </p:txBody>
      </p:sp>
      <p:sp>
        <p:nvSpPr>
          <p:cNvPr id="16" name="Step 4"/>
          <p:cNvSpPr/>
          <p:nvPr/>
        </p:nvSpPr>
        <p:spPr>
          <a:xfrm>
            <a:off x="4663440" y="1280160"/>
            <a:ext cx="4023360" cy="914400"/>
          </a:xfrm>
          <a:prstGeom prst="roundRect">
            <a:avLst>
              <a:gd name="adj" fmla="val 10000"/>
            </a:avLst>
          </a:prstGeom>
          <a:solidFill>
            <a:schemeClr val="bg2"/>
          </a:solidFill>
          <a:ln/>
        </p:spPr>
      </p:sp>
      <p:sp>
        <p:nvSpPr>
          <p:cNvPr id="17" name="Step 4 badge"/>
          <p:cNvSpPr/>
          <p:nvPr/>
        </p:nvSpPr>
        <p:spPr>
          <a:xfrm>
            <a:off x="4846320" y="1481328"/>
            <a:ext cx="512064" cy="512064"/>
          </a:xfrm>
          <a:prstGeom prst="ellipse">
            <a:avLst/>
          </a:prstGeom>
          <a:solidFill>
            <a:schemeClr val="accent1"/>
          </a:solidFill>
          <a:ln/>
        </p:spPr>
      </p:sp>
      <p:sp>
        <p:nvSpPr>
          <p:cNvPr id="18" name="Text 16"/>
          <p:cNvSpPr txBox="1"/>
          <p:nvPr/>
        </p:nvSpPr>
        <p:spPr>
          <a:xfrm>
            <a:off x="4846320" y="1481328"/>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7"/>
          <p:cNvSpPr txBox="1"/>
          <p:nvPr/>
        </p:nvSpPr>
        <p:spPr>
          <a:xfrm>
            <a:off x="5532120" y="1280160"/>
            <a:ext cx="3063240" cy="914400"/>
          </a:xfrm>
          <a:prstGeom prst="rect">
            <a:avLst/>
          </a:prstGeom>
          <a:noFill/>
          <a:ln/>
        </p:spPr>
        <p:txBody>
          <a:bodyPr wrap="square" lIns="0" tIns="0" rIns="0" bIns="0" rtlCol="0" anchor="ctr"/>
          <a:lstStyle/>
          <a:p>
            <a:pPr indent="0" marL="0">
              <a:buNone/>
            </a:pPr>
            <a:r>
              <a:rPr lang="en-US" sz="1400" b="1" dirty="0">
                <a:solidFill>
                  <a:schemeClr val="tx2"/>
                </a:solidFill>
              </a:rPr>
              <a:t>Assign owners and sponsors</a:t>
            </a:r>
            <a:endParaRPr lang="en-US" sz="1400" dirty="0"/>
          </a:p>
          <a:p>
            <a:pPr indent="0" marL="0">
              <a:buNone/>
            </a:pPr>
            <a:r>
              <a:rPr lang="en-US" sz="1200" dirty="0">
                <a:solidFill>
                  <a:schemeClr val="tx1"/>
                </a:solidFill>
              </a:rPr>
              <a:t>Named people on every blueprint, reviewed when roles change.</a:t>
            </a:r>
            <a:endParaRPr lang="en-US" sz="1400" dirty="0"/>
          </a:p>
        </p:txBody>
      </p:sp>
      <p:sp>
        <p:nvSpPr>
          <p:cNvPr id="20" name="Step 5"/>
          <p:cNvSpPr/>
          <p:nvPr/>
        </p:nvSpPr>
        <p:spPr>
          <a:xfrm>
            <a:off x="4663440" y="2331720"/>
            <a:ext cx="4023360" cy="914400"/>
          </a:xfrm>
          <a:prstGeom prst="roundRect">
            <a:avLst>
              <a:gd name="adj" fmla="val 10000"/>
            </a:avLst>
          </a:prstGeom>
          <a:solidFill>
            <a:schemeClr val="bg2"/>
          </a:solidFill>
          <a:ln/>
        </p:spPr>
      </p:sp>
      <p:sp>
        <p:nvSpPr>
          <p:cNvPr id="21" name="Step 5 badge"/>
          <p:cNvSpPr/>
          <p:nvPr/>
        </p:nvSpPr>
        <p:spPr>
          <a:xfrm>
            <a:off x="4846320" y="2532888"/>
            <a:ext cx="512064" cy="512064"/>
          </a:xfrm>
          <a:prstGeom prst="ellipse">
            <a:avLst/>
          </a:prstGeom>
          <a:solidFill>
            <a:schemeClr val="accent1"/>
          </a:solidFill>
          <a:ln/>
        </p:spPr>
      </p:sp>
      <p:sp>
        <p:nvSpPr>
          <p:cNvPr id="22" name="Text 20"/>
          <p:cNvSpPr txBox="1"/>
          <p:nvPr/>
        </p:nvSpPr>
        <p:spPr>
          <a:xfrm>
            <a:off x="4846320" y="2532888"/>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21"/>
          <p:cNvSpPr txBox="1"/>
          <p:nvPr/>
        </p:nvSpPr>
        <p:spPr>
          <a:xfrm>
            <a:off x="5532120" y="2331720"/>
            <a:ext cx="3063240" cy="914400"/>
          </a:xfrm>
          <a:prstGeom prst="rect">
            <a:avLst/>
          </a:prstGeom>
          <a:noFill/>
          <a:ln/>
        </p:spPr>
        <p:txBody>
          <a:bodyPr wrap="square" lIns="0" tIns="0" rIns="0" bIns="0" rtlCol="0" anchor="ctr"/>
          <a:lstStyle/>
          <a:p>
            <a:pPr indent="0" marL="0">
              <a:buNone/>
            </a:pPr>
            <a:r>
              <a:rPr lang="en-US" sz="1400" b="1" dirty="0">
                <a:solidFill>
                  <a:schemeClr val="tx2"/>
                </a:solidFill>
              </a:rPr>
              <a:t>Scope Conditional Access</a:t>
            </a:r>
            <a:endParaRPr lang="en-US" sz="1400" dirty="0"/>
          </a:p>
          <a:p>
            <a:pPr indent="0" marL="0">
              <a:buNone/>
            </a:pPr>
            <a:r>
              <a:rPr lang="en-US" sz="1200" dirty="0">
                <a:solidFill>
                  <a:schemeClr val="tx1"/>
                </a:solidFill>
              </a:rPr>
              <a:t>Target by blueprint for whole families; exclude explicitly.</a:t>
            </a:r>
            <a:endParaRPr lang="en-US" sz="1400" dirty="0"/>
          </a:p>
        </p:txBody>
      </p:sp>
      <p:sp>
        <p:nvSpPr>
          <p:cNvPr id="24" name="Step 6"/>
          <p:cNvSpPr/>
          <p:nvPr/>
        </p:nvSpPr>
        <p:spPr>
          <a:xfrm>
            <a:off x="4663440" y="3383280"/>
            <a:ext cx="4023360" cy="914400"/>
          </a:xfrm>
          <a:prstGeom prst="roundRect">
            <a:avLst>
              <a:gd name="adj" fmla="val 10000"/>
            </a:avLst>
          </a:prstGeom>
          <a:solidFill>
            <a:schemeClr val="bg2"/>
          </a:solidFill>
          <a:ln/>
        </p:spPr>
      </p:sp>
      <p:sp>
        <p:nvSpPr>
          <p:cNvPr id="25" name="Step 6 badge"/>
          <p:cNvSpPr/>
          <p:nvPr/>
        </p:nvSpPr>
        <p:spPr>
          <a:xfrm>
            <a:off x="4846320" y="3584448"/>
            <a:ext cx="512064" cy="512064"/>
          </a:xfrm>
          <a:prstGeom prst="ellipse">
            <a:avLst/>
          </a:prstGeom>
          <a:solidFill>
            <a:schemeClr val="accent1"/>
          </a:solidFill>
          <a:ln/>
        </p:spPr>
      </p:sp>
      <p:sp>
        <p:nvSpPr>
          <p:cNvPr id="26" name="Text 24"/>
          <p:cNvSpPr txBox="1"/>
          <p:nvPr/>
        </p:nvSpPr>
        <p:spPr>
          <a:xfrm>
            <a:off x="4846320" y="3584448"/>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7" name="Text 25"/>
          <p:cNvSpPr txBox="1"/>
          <p:nvPr/>
        </p:nvSpPr>
        <p:spPr>
          <a:xfrm>
            <a:off x="5532120" y="3383280"/>
            <a:ext cx="3063240" cy="914400"/>
          </a:xfrm>
          <a:prstGeom prst="rect">
            <a:avLst/>
          </a:prstGeom>
          <a:noFill/>
          <a:ln/>
        </p:spPr>
        <p:txBody>
          <a:bodyPr wrap="square" lIns="0" tIns="0" rIns="0" bIns="0" rtlCol="0" anchor="ctr"/>
          <a:lstStyle/>
          <a:p>
            <a:pPr indent="0" marL="0">
              <a:buNone/>
            </a:pPr>
            <a:r>
              <a:rPr lang="en-US" sz="1400" b="1" dirty="0">
                <a:solidFill>
                  <a:schemeClr val="tx2"/>
                </a:solidFill>
              </a:rPr>
              <a:t>Control creation</a:t>
            </a:r>
            <a:endParaRPr lang="en-US" sz="1400" dirty="0"/>
          </a:p>
          <a:p>
            <a:pPr indent="0" marL="0">
              <a:buNone/>
            </a:pPr>
            <a:r>
              <a:rPr lang="en-US" sz="1200" dirty="0">
                <a:solidFill>
                  <a:schemeClr val="tx1"/>
                </a:solidFill>
              </a:rPr>
              <a:t>Platforms create their own; custom agents need one blueprint per product plus approval.</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Before we start: licensing and prerequisites</a:t>
            </a:r>
            <a:endParaRPr lang="en-US" sz="2800" dirty="0"/>
          </a:p>
        </p:txBody>
      </p:sp>
      <p:sp>
        <p:nvSpPr>
          <p:cNvPr id="3" name="Prereq row 1"/>
          <p:cNvSpPr/>
          <p:nvPr/>
        </p:nvSpPr>
        <p:spPr>
          <a:xfrm>
            <a:off x="457200" y="1280160"/>
            <a:ext cx="8229600" cy="960120"/>
          </a:xfrm>
          <a:prstGeom prst="roundRect">
            <a:avLst>
              <a:gd name="adj" fmla="val 9524"/>
            </a:avLst>
          </a:prstGeom>
          <a:solidFill>
            <a:schemeClr val="bg2"/>
          </a:solidFill>
          <a:ln/>
        </p:spPr>
      </p:sp>
      <p:sp>
        <p:nvSpPr>
          <p:cNvPr id="4" name="Prereq icon bg 1"/>
          <p:cNvSpPr/>
          <p:nvPr/>
        </p:nvSpPr>
        <p:spPr>
          <a:xfrm>
            <a:off x="658368" y="1508760"/>
            <a:ext cx="502920" cy="502920"/>
          </a:xfrm>
          <a:prstGeom prst="ellipse">
            <a:avLst/>
          </a:prstGeom>
          <a:solidFill>
            <a:schemeClr val="accent3"/>
          </a:solidFill>
          <a:ln/>
        </p:spPr>
      </p:sp>
      <p:pic>
        <p:nvPicPr>
          <p:cNvPr id="5" name="Image 0" descr="Licensing">    </p:cNvPr>
          <p:cNvPicPr>
            <a:picLocks noChangeAspect="1"/>
          </p:cNvPicPr>
          <p:nvPr/>
        </p:nvPicPr>
        <p:blipFill>
          <a:blip r:embed="rId1"/>
          <a:stretch>
            <a:fillRect/>
          </a:stretch>
        </p:blipFill>
        <p:spPr>
          <a:xfrm>
            <a:off x="768096" y="1618488"/>
            <a:ext cx="283464" cy="283464"/>
          </a:xfrm>
          <a:prstGeom prst="rect">
            <a:avLst/>
          </a:prstGeom>
        </p:spPr>
      </p:pic>
      <p:sp>
        <p:nvSpPr>
          <p:cNvPr id="6" name="Text 3"/>
          <p:cNvSpPr txBox="1"/>
          <p:nvPr/>
        </p:nvSpPr>
        <p:spPr>
          <a:xfrm>
            <a:off x="1371600" y="1280160"/>
            <a:ext cx="1554480" cy="960120"/>
          </a:xfrm>
          <a:prstGeom prst="rect">
            <a:avLst/>
          </a:prstGeom>
          <a:noFill/>
          <a:ln/>
        </p:spPr>
        <p:txBody>
          <a:bodyPr wrap="square" lIns="0" tIns="0" rIns="0" bIns="0" rtlCol="0" anchor="ctr"/>
          <a:lstStyle/>
          <a:p>
            <a:pPr indent="0" marL="0">
              <a:buNone/>
            </a:pPr>
            <a:r>
              <a:rPr lang="en-US" sz="1600" b="1" dirty="0">
                <a:solidFill>
                  <a:schemeClr val="tx2"/>
                </a:solidFill>
              </a:rPr>
              <a:t>Licensing</a:t>
            </a:r>
            <a:endParaRPr lang="en-US" sz="1600" dirty="0"/>
          </a:p>
        </p:txBody>
      </p:sp>
      <p:sp>
        <p:nvSpPr>
          <p:cNvPr id="7" name="Text 4"/>
          <p:cNvSpPr txBox="1"/>
          <p:nvPr/>
        </p:nvSpPr>
        <p:spPr>
          <a:xfrm>
            <a:off x="2926080" y="1280160"/>
            <a:ext cx="5577840" cy="960120"/>
          </a:xfrm>
          <a:prstGeom prst="rect">
            <a:avLst/>
          </a:prstGeom>
          <a:noFill/>
          <a:ln/>
        </p:spPr>
        <p:txBody>
          <a:bodyPr wrap="square" lIns="0" tIns="0" rIns="0" bIns="0" rtlCol="0" anchor="ctr"/>
          <a:lstStyle/>
          <a:p>
            <a:pPr indent="0" marL="0">
              <a:buNone/>
            </a:pPr>
            <a:r>
              <a:rPr lang="en-US" sz="1300" dirty="0">
                <a:solidFill>
                  <a:schemeClr val="tx1"/>
                </a:solidFill>
              </a:rPr>
              <a:t>Agent 365 is licensed per user. Microsoft docs say it became generally available for the commercial segment on 1 May 2026 (earlier access was through the Frontier preview). Confirm current SKU and pricing with our Microsoft partner.</a:t>
            </a:r>
            <a:endParaRPr lang="en-US" sz="1300" dirty="0"/>
          </a:p>
        </p:txBody>
      </p:sp>
      <p:sp>
        <p:nvSpPr>
          <p:cNvPr id="8" name="Prereq row 2"/>
          <p:cNvSpPr/>
          <p:nvPr/>
        </p:nvSpPr>
        <p:spPr>
          <a:xfrm>
            <a:off x="457200" y="2395728"/>
            <a:ext cx="8229600" cy="960120"/>
          </a:xfrm>
          <a:prstGeom prst="roundRect">
            <a:avLst>
              <a:gd name="adj" fmla="val 9524"/>
            </a:avLst>
          </a:prstGeom>
          <a:solidFill>
            <a:schemeClr val="bg2"/>
          </a:solidFill>
          <a:ln/>
        </p:spPr>
      </p:sp>
      <p:sp>
        <p:nvSpPr>
          <p:cNvPr id="9" name="Prereq icon bg 2"/>
          <p:cNvSpPr/>
          <p:nvPr/>
        </p:nvSpPr>
        <p:spPr>
          <a:xfrm>
            <a:off x="658368" y="2624328"/>
            <a:ext cx="502920" cy="502920"/>
          </a:xfrm>
          <a:prstGeom prst="ellipse">
            <a:avLst/>
          </a:prstGeom>
          <a:solidFill>
            <a:schemeClr val="accent3"/>
          </a:solidFill>
          <a:ln/>
        </p:spPr>
      </p:sp>
      <p:pic>
        <p:nvPicPr>
          <p:cNvPr id="10" name="Image 1" descr="Admin roles">    </p:cNvPr>
          <p:cNvPicPr>
            <a:picLocks noChangeAspect="1"/>
          </p:cNvPicPr>
          <p:nvPr/>
        </p:nvPicPr>
        <p:blipFill>
          <a:blip r:embed="rId2"/>
          <a:stretch>
            <a:fillRect/>
          </a:stretch>
        </p:blipFill>
        <p:spPr>
          <a:xfrm>
            <a:off x="768096" y="2734056"/>
            <a:ext cx="283464" cy="283464"/>
          </a:xfrm>
          <a:prstGeom prst="rect">
            <a:avLst/>
          </a:prstGeom>
        </p:spPr>
      </p:pic>
      <p:sp>
        <p:nvSpPr>
          <p:cNvPr id="11" name="Text 7"/>
          <p:cNvSpPr txBox="1"/>
          <p:nvPr/>
        </p:nvSpPr>
        <p:spPr>
          <a:xfrm>
            <a:off x="1371600" y="2395728"/>
            <a:ext cx="1554480" cy="960120"/>
          </a:xfrm>
          <a:prstGeom prst="rect">
            <a:avLst/>
          </a:prstGeom>
          <a:noFill/>
          <a:ln/>
        </p:spPr>
        <p:txBody>
          <a:bodyPr wrap="square" lIns="0" tIns="0" rIns="0" bIns="0" rtlCol="0" anchor="ctr"/>
          <a:lstStyle/>
          <a:p>
            <a:pPr indent="0" marL="0">
              <a:buNone/>
            </a:pPr>
            <a:r>
              <a:rPr lang="en-US" sz="1600" b="1" dirty="0">
                <a:solidFill>
                  <a:schemeClr val="tx2"/>
                </a:solidFill>
              </a:rPr>
              <a:t>Admin roles</a:t>
            </a:r>
            <a:endParaRPr lang="en-US" sz="1600" dirty="0"/>
          </a:p>
        </p:txBody>
      </p:sp>
      <p:sp>
        <p:nvSpPr>
          <p:cNvPr id="12" name="Text 8"/>
          <p:cNvSpPr txBox="1"/>
          <p:nvPr/>
        </p:nvSpPr>
        <p:spPr>
          <a:xfrm>
            <a:off x="2926080" y="2395728"/>
            <a:ext cx="5577840" cy="960120"/>
          </a:xfrm>
          <a:prstGeom prst="rect">
            <a:avLst/>
          </a:prstGeom>
          <a:noFill/>
          <a:ln/>
        </p:spPr>
        <p:txBody>
          <a:bodyPr wrap="square" lIns="0" tIns="0" rIns="0" bIns="0" rtlCol="0" anchor="ctr"/>
          <a:lstStyle/>
          <a:p>
            <a:pPr indent="0" marL="0">
              <a:buNone/>
            </a:pPr>
            <a:r>
              <a:rPr lang="en-US" sz="1300" dirty="0">
                <a:solidFill>
                  <a:schemeClr val="tx1"/>
                </a:solidFill>
              </a:rPr>
              <a:t>Global Administrator or AI Administrator to manage Agent 365 in the admin center; Entra, Purview and Defender roles for their parts.</a:t>
            </a:r>
            <a:endParaRPr lang="en-US" sz="1300" dirty="0"/>
          </a:p>
        </p:txBody>
      </p:sp>
      <p:sp>
        <p:nvSpPr>
          <p:cNvPr id="13" name="Prereq row 3"/>
          <p:cNvSpPr/>
          <p:nvPr/>
        </p:nvSpPr>
        <p:spPr>
          <a:xfrm>
            <a:off x="457200" y="3511296"/>
            <a:ext cx="8229600" cy="960120"/>
          </a:xfrm>
          <a:prstGeom prst="roundRect">
            <a:avLst>
              <a:gd name="adj" fmla="val 9524"/>
            </a:avLst>
          </a:prstGeom>
          <a:solidFill>
            <a:schemeClr val="bg2"/>
          </a:solidFill>
          <a:ln/>
        </p:spPr>
      </p:sp>
      <p:sp>
        <p:nvSpPr>
          <p:cNvPr id="14" name="Prereq icon bg 3"/>
          <p:cNvSpPr/>
          <p:nvPr/>
        </p:nvSpPr>
        <p:spPr>
          <a:xfrm>
            <a:off x="658368" y="3739896"/>
            <a:ext cx="502920" cy="502920"/>
          </a:xfrm>
          <a:prstGeom prst="ellipse">
            <a:avLst/>
          </a:prstGeom>
          <a:solidFill>
            <a:schemeClr val="accent3"/>
          </a:solidFill>
          <a:ln/>
        </p:spPr>
      </p:sp>
      <p:pic>
        <p:nvPicPr>
          <p:cNvPr id="15" name="Image 2" descr="Watch-outs">    </p:cNvPr>
          <p:cNvPicPr>
            <a:picLocks noChangeAspect="1"/>
          </p:cNvPicPr>
          <p:nvPr/>
        </p:nvPicPr>
        <p:blipFill>
          <a:blip r:embed="rId3"/>
          <a:stretch>
            <a:fillRect/>
          </a:stretch>
        </p:blipFill>
        <p:spPr>
          <a:xfrm>
            <a:off x="768096" y="3849624"/>
            <a:ext cx="283464" cy="283464"/>
          </a:xfrm>
          <a:prstGeom prst="rect">
            <a:avLst/>
          </a:prstGeom>
        </p:spPr>
      </p:pic>
      <p:sp>
        <p:nvSpPr>
          <p:cNvPr id="16" name="Text 11"/>
          <p:cNvSpPr txBox="1"/>
          <p:nvPr/>
        </p:nvSpPr>
        <p:spPr>
          <a:xfrm>
            <a:off x="1371600" y="3511296"/>
            <a:ext cx="1554480" cy="960120"/>
          </a:xfrm>
          <a:prstGeom prst="rect">
            <a:avLst/>
          </a:prstGeom>
          <a:noFill/>
          <a:ln/>
        </p:spPr>
        <p:txBody>
          <a:bodyPr wrap="square" lIns="0" tIns="0" rIns="0" bIns="0" rtlCol="0" anchor="ctr"/>
          <a:lstStyle/>
          <a:p>
            <a:pPr indent="0" marL="0">
              <a:buNone/>
            </a:pPr>
            <a:r>
              <a:rPr lang="en-US" sz="1600" b="1" dirty="0">
                <a:solidFill>
                  <a:schemeClr val="tx2"/>
                </a:solidFill>
              </a:rPr>
              <a:t>Watch-outs</a:t>
            </a:r>
            <a:endParaRPr lang="en-US" sz="1600" dirty="0"/>
          </a:p>
        </p:txBody>
      </p:sp>
      <p:sp>
        <p:nvSpPr>
          <p:cNvPr id="17" name="Text 12"/>
          <p:cNvSpPr txBox="1"/>
          <p:nvPr/>
        </p:nvSpPr>
        <p:spPr>
          <a:xfrm>
            <a:off x="2926080" y="3511296"/>
            <a:ext cx="5577840" cy="960120"/>
          </a:xfrm>
          <a:prstGeom prst="rect">
            <a:avLst/>
          </a:prstGeom>
          <a:noFill/>
          <a:ln/>
        </p:spPr>
        <p:txBody>
          <a:bodyPr wrap="square" lIns="0" tIns="0" rIns="0" bIns="0" rtlCol="0" anchor="ctr"/>
          <a:lstStyle/>
          <a:p>
            <a:pPr indent="0" marL="0">
              <a:buNone/>
            </a:pPr>
            <a:r>
              <a:rPr lang="en-US" sz="1300" dirty="0">
                <a:solidFill>
                  <a:schemeClr val="tx1"/>
                </a:solidFill>
              </a:rPr>
              <a:t>The old Entra agent registry and its API were retired in 2026. Re-register any custom agents with the new Agent 365 registration Graph API.</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5029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Our roadmap: from visibility to value</a:t>
            </a:r>
            <a:endParaRPr lang="en-US" sz="2800" dirty="0"/>
          </a:p>
        </p:txBody>
      </p:sp>
      <p:sp>
        <p:nvSpPr>
          <p:cNvPr id="3" name="Phase 1"/>
          <p:cNvSpPr/>
          <p:nvPr/>
        </p:nvSpPr>
        <p:spPr>
          <a:xfrm>
            <a:off x="457200" y="1325880"/>
            <a:ext cx="1920240" cy="3200400"/>
          </a:xfrm>
          <a:prstGeom prst="roundRect">
            <a:avLst>
              <a:gd name="adj" fmla="val 5714"/>
            </a:avLst>
          </a:prstGeom>
          <a:solidFill>
            <a:schemeClr val="bg2"/>
          </a:solidFill>
          <a:ln/>
        </p:spPr>
      </p:sp>
      <p:sp>
        <p:nvSpPr>
          <p:cNvPr id="4" name="Phase 1 badge"/>
          <p:cNvSpPr/>
          <p:nvPr/>
        </p:nvSpPr>
        <p:spPr>
          <a:xfrm>
            <a:off x="640080" y="1508760"/>
            <a:ext cx="548640" cy="548640"/>
          </a:xfrm>
          <a:prstGeom prst="ellipse">
            <a:avLst/>
          </a:prstGeom>
          <a:solidFill>
            <a:schemeClr val="accent1"/>
          </a:solidFill>
          <a:ln/>
        </p:spPr>
      </p:sp>
      <p:sp>
        <p:nvSpPr>
          <p:cNvPr id="5" name="Text 3"/>
          <p:cNvSpPr txBox="1"/>
          <p:nvPr/>
        </p:nvSpPr>
        <p:spPr>
          <a:xfrm>
            <a:off x="640080"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640080" y="2194560"/>
            <a:ext cx="1645920" cy="365760"/>
          </a:xfrm>
          <a:prstGeom prst="rect">
            <a:avLst/>
          </a:prstGeom>
          <a:noFill/>
          <a:ln/>
        </p:spPr>
        <p:txBody>
          <a:bodyPr wrap="square" lIns="0" tIns="0" rIns="0" bIns="0" rtlCol="0" anchor="ctr"/>
          <a:lstStyle/>
          <a:p>
            <a:pPr indent="0" marL="0">
              <a:buNone/>
            </a:pPr>
            <a:r>
              <a:rPr lang="en-US" sz="1800" b="1" dirty="0">
                <a:solidFill>
                  <a:schemeClr val="tx2"/>
                </a:solidFill>
              </a:rPr>
              <a:t>Discover</a:t>
            </a:r>
            <a:endParaRPr lang="en-US" sz="1800" dirty="0"/>
          </a:p>
        </p:txBody>
      </p:sp>
      <p:sp>
        <p:nvSpPr>
          <p:cNvPr id="7" name="Text 5"/>
          <p:cNvSpPr txBox="1"/>
          <p:nvPr/>
        </p:nvSpPr>
        <p:spPr>
          <a:xfrm>
            <a:off x="640080" y="2651760"/>
            <a:ext cx="1645920" cy="17373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Review the Overview dashboard</a:t>
            </a:r>
            <a:endParaRPr lang="en-US" sz="1200" dirty="0"/>
          </a:p>
          <a:p>
            <a:pPr marL="342900" indent="-342900">
              <a:spcAft>
                <a:spcPts val="600"/>
              </a:spcAft>
              <a:buSzPct val="100000"/>
              <a:buChar char="•"/>
            </a:pPr>
            <a:r>
              <a:rPr lang="en-US" sz="1200" dirty="0">
                <a:solidFill>
                  <a:schemeClr val="tx1"/>
                </a:solidFill>
              </a:rPr>
              <a:t>Inventory agents in the registry</a:t>
            </a:r>
            <a:endParaRPr lang="en-US" sz="1200" dirty="0"/>
          </a:p>
          <a:p>
            <a:pPr marL="342900" indent="-342900">
              <a:spcAft>
                <a:spcPts val="600"/>
              </a:spcAft>
              <a:buSzPct val="100000"/>
              <a:buChar char="•"/>
            </a:pPr>
            <a:r>
              <a:rPr lang="en-US" sz="1200" dirty="0">
                <a:solidFill>
                  <a:schemeClr val="tx1"/>
                </a:solidFill>
              </a:rPr>
              <a:t>Explore the Agent Map</a:t>
            </a:r>
            <a:endParaRPr lang="en-US" sz="1200" dirty="0"/>
          </a:p>
        </p:txBody>
      </p:sp>
      <p:sp>
        <p:nvSpPr>
          <p:cNvPr id="8" name="Arrow 1"/>
          <p:cNvSpPr/>
          <p:nvPr/>
        </p:nvSpPr>
        <p:spPr>
          <a:xfrm>
            <a:off x="2395728" y="1645920"/>
            <a:ext cx="146304" cy="274320"/>
          </a:xfrm>
          <a:prstGeom prst="chevron">
            <a:avLst/>
          </a:prstGeom>
          <a:solidFill>
            <a:schemeClr val="accent6"/>
          </a:solidFill>
          <a:ln/>
        </p:spPr>
      </p:sp>
      <p:sp>
        <p:nvSpPr>
          <p:cNvPr id="9" name="Phase 2"/>
          <p:cNvSpPr/>
          <p:nvPr/>
        </p:nvSpPr>
        <p:spPr>
          <a:xfrm>
            <a:off x="2560320" y="1325880"/>
            <a:ext cx="1920240" cy="3200400"/>
          </a:xfrm>
          <a:prstGeom prst="roundRect">
            <a:avLst>
              <a:gd name="adj" fmla="val 5714"/>
            </a:avLst>
          </a:prstGeom>
          <a:solidFill>
            <a:schemeClr val="bg2"/>
          </a:solidFill>
          <a:ln/>
        </p:spPr>
      </p:sp>
      <p:sp>
        <p:nvSpPr>
          <p:cNvPr id="10" name="Phase 2 badge"/>
          <p:cNvSpPr/>
          <p:nvPr/>
        </p:nvSpPr>
        <p:spPr>
          <a:xfrm>
            <a:off x="2743200" y="1508760"/>
            <a:ext cx="548640" cy="548640"/>
          </a:xfrm>
          <a:prstGeom prst="ellipse">
            <a:avLst/>
          </a:prstGeom>
          <a:solidFill>
            <a:schemeClr val="accent5"/>
          </a:solidFill>
          <a:ln/>
        </p:spPr>
      </p:sp>
      <p:sp>
        <p:nvSpPr>
          <p:cNvPr id="11" name="Text 9"/>
          <p:cNvSpPr txBox="1"/>
          <p:nvPr/>
        </p:nvSpPr>
        <p:spPr>
          <a:xfrm>
            <a:off x="2743200"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2" name="Text 10"/>
          <p:cNvSpPr txBox="1"/>
          <p:nvPr/>
        </p:nvSpPr>
        <p:spPr>
          <a:xfrm>
            <a:off x="2743200" y="2194560"/>
            <a:ext cx="1645920" cy="365760"/>
          </a:xfrm>
          <a:prstGeom prst="rect">
            <a:avLst/>
          </a:prstGeom>
          <a:noFill/>
          <a:ln/>
        </p:spPr>
        <p:txBody>
          <a:bodyPr wrap="square" lIns="0" tIns="0" rIns="0" bIns="0" rtlCol="0" anchor="ctr"/>
          <a:lstStyle/>
          <a:p>
            <a:pPr indent="0" marL="0">
              <a:buNone/>
            </a:pPr>
            <a:r>
              <a:rPr lang="en-US" sz="1800" b="1" dirty="0">
                <a:solidFill>
                  <a:schemeClr val="tx2"/>
                </a:solidFill>
              </a:rPr>
              <a:t>Govern</a:t>
            </a:r>
            <a:endParaRPr lang="en-US" sz="1800" dirty="0"/>
          </a:p>
        </p:txBody>
      </p:sp>
      <p:sp>
        <p:nvSpPr>
          <p:cNvPr id="13" name="Text 11"/>
          <p:cNvSpPr txBox="1"/>
          <p:nvPr/>
        </p:nvSpPr>
        <p:spPr>
          <a:xfrm>
            <a:off x="2743200" y="2651760"/>
            <a:ext cx="1645920" cy="17373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Assign owners to ownerless agents</a:t>
            </a:r>
            <a:endParaRPr lang="en-US" sz="1200" dirty="0"/>
          </a:p>
          <a:p>
            <a:pPr marL="342900" indent="-342900">
              <a:spcAft>
                <a:spcPts val="600"/>
              </a:spcAft>
              <a:buSzPct val="100000"/>
              <a:buChar char="•"/>
            </a:pPr>
            <a:r>
              <a:rPr lang="en-US" sz="1200" dirty="0">
                <a:solidFill>
                  <a:schemeClr val="tx1"/>
                </a:solidFill>
              </a:rPr>
              <a:t>Set the approve / publish process</a:t>
            </a:r>
            <a:endParaRPr lang="en-US" sz="1200" dirty="0"/>
          </a:p>
          <a:p>
            <a:pPr marL="342900" indent="-342900">
              <a:spcAft>
                <a:spcPts val="600"/>
              </a:spcAft>
              <a:buSzPct val="100000"/>
              <a:buChar char="•"/>
            </a:pPr>
            <a:r>
              <a:rPr lang="en-US" sz="1200" dirty="0">
                <a:solidFill>
                  <a:schemeClr val="tx1"/>
                </a:solidFill>
              </a:rPr>
              <a:t>Turn on Entra Agent ID controls</a:t>
            </a:r>
            <a:endParaRPr lang="en-US" sz="1200" dirty="0"/>
          </a:p>
        </p:txBody>
      </p:sp>
      <p:sp>
        <p:nvSpPr>
          <p:cNvPr id="14" name="Arrow 2"/>
          <p:cNvSpPr/>
          <p:nvPr/>
        </p:nvSpPr>
        <p:spPr>
          <a:xfrm>
            <a:off x="4498848" y="1645920"/>
            <a:ext cx="146304" cy="274320"/>
          </a:xfrm>
          <a:prstGeom prst="chevron">
            <a:avLst/>
          </a:prstGeom>
          <a:solidFill>
            <a:schemeClr val="accent6"/>
          </a:solidFill>
          <a:ln/>
        </p:spPr>
      </p:sp>
      <p:sp>
        <p:nvSpPr>
          <p:cNvPr id="15" name="Phase 3"/>
          <p:cNvSpPr/>
          <p:nvPr/>
        </p:nvSpPr>
        <p:spPr>
          <a:xfrm>
            <a:off x="4663440" y="1325880"/>
            <a:ext cx="1920240" cy="3200400"/>
          </a:xfrm>
          <a:prstGeom prst="roundRect">
            <a:avLst>
              <a:gd name="adj" fmla="val 5714"/>
            </a:avLst>
          </a:prstGeom>
          <a:solidFill>
            <a:schemeClr val="bg2"/>
          </a:solidFill>
          <a:ln/>
        </p:spPr>
      </p:sp>
      <p:sp>
        <p:nvSpPr>
          <p:cNvPr id="16" name="Phase 3 badge"/>
          <p:cNvSpPr/>
          <p:nvPr/>
        </p:nvSpPr>
        <p:spPr>
          <a:xfrm>
            <a:off x="4846320" y="1508760"/>
            <a:ext cx="548640" cy="548640"/>
          </a:xfrm>
          <a:prstGeom prst="ellipse">
            <a:avLst/>
          </a:prstGeom>
          <a:solidFill>
            <a:schemeClr val="accent4"/>
          </a:solidFill>
          <a:ln/>
        </p:spPr>
      </p:sp>
      <p:sp>
        <p:nvSpPr>
          <p:cNvPr id="17" name="Text 15"/>
          <p:cNvSpPr txBox="1"/>
          <p:nvPr/>
        </p:nvSpPr>
        <p:spPr>
          <a:xfrm>
            <a:off x="4846320"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8" name="Text 16"/>
          <p:cNvSpPr txBox="1"/>
          <p:nvPr/>
        </p:nvSpPr>
        <p:spPr>
          <a:xfrm>
            <a:off x="4846320" y="2194560"/>
            <a:ext cx="1645920" cy="365760"/>
          </a:xfrm>
          <a:prstGeom prst="rect">
            <a:avLst/>
          </a:prstGeom>
          <a:noFill/>
          <a:ln/>
        </p:spPr>
        <p:txBody>
          <a:bodyPr wrap="square" lIns="0" tIns="0" rIns="0" bIns="0" rtlCol="0" anchor="ctr"/>
          <a:lstStyle/>
          <a:p>
            <a:pPr indent="0" marL="0">
              <a:buNone/>
            </a:pPr>
            <a:r>
              <a:rPr lang="en-US" sz="1800" b="1" dirty="0">
                <a:solidFill>
                  <a:schemeClr val="tx2"/>
                </a:solidFill>
              </a:rPr>
              <a:t>Protect</a:t>
            </a:r>
            <a:endParaRPr lang="en-US" sz="1800" dirty="0"/>
          </a:p>
        </p:txBody>
      </p:sp>
      <p:sp>
        <p:nvSpPr>
          <p:cNvPr id="19" name="Text 17"/>
          <p:cNvSpPr txBox="1"/>
          <p:nvPr/>
        </p:nvSpPr>
        <p:spPr>
          <a:xfrm>
            <a:off x="4846320" y="2651760"/>
            <a:ext cx="1645920" cy="17373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Extend Purview labels, DLP and audit</a:t>
            </a:r>
            <a:endParaRPr lang="en-US" sz="1200" dirty="0"/>
          </a:p>
          <a:p>
            <a:pPr marL="342900" indent="-342900">
              <a:spcAft>
                <a:spcPts val="600"/>
              </a:spcAft>
              <a:buSzPct val="100000"/>
              <a:buChar char="•"/>
            </a:pPr>
            <a:r>
              <a:rPr lang="en-US" sz="1200" dirty="0">
                <a:solidFill>
                  <a:schemeClr val="tx1"/>
                </a:solidFill>
              </a:rPr>
              <a:t>Enable Defender for agents</a:t>
            </a:r>
            <a:endParaRPr lang="en-US" sz="1200" dirty="0"/>
          </a:p>
          <a:p>
            <a:pPr marL="342900" indent="-342900">
              <a:spcAft>
                <a:spcPts val="600"/>
              </a:spcAft>
              <a:buSzPct val="100000"/>
              <a:buChar char="•"/>
            </a:pPr>
            <a:r>
              <a:rPr lang="en-US" sz="1200" dirty="0">
                <a:solidFill>
                  <a:schemeClr val="tx1"/>
                </a:solidFill>
              </a:rPr>
              <a:t>Add agents to SOC playbooks</a:t>
            </a:r>
            <a:endParaRPr lang="en-US" sz="1200" dirty="0"/>
          </a:p>
        </p:txBody>
      </p:sp>
      <p:sp>
        <p:nvSpPr>
          <p:cNvPr id="20" name="Arrow 3"/>
          <p:cNvSpPr/>
          <p:nvPr/>
        </p:nvSpPr>
        <p:spPr>
          <a:xfrm>
            <a:off x="6601968" y="1645920"/>
            <a:ext cx="146304" cy="274320"/>
          </a:xfrm>
          <a:prstGeom prst="chevron">
            <a:avLst/>
          </a:prstGeom>
          <a:solidFill>
            <a:schemeClr val="accent6"/>
          </a:solidFill>
          <a:ln/>
        </p:spPr>
      </p:sp>
      <p:sp>
        <p:nvSpPr>
          <p:cNvPr id="21" name="Phase 4"/>
          <p:cNvSpPr/>
          <p:nvPr/>
        </p:nvSpPr>
        <p:spPr>
          <a:xfrm>
            <a:off x="6766560" y="1325880"/>
            <a:ext cx="1920240" cy="3200400"/>
          </a:xfrm>
          <a:prstGeom prst="roundRect">
            <a:avLst>
              <a:gd name="adj" fmla="val 5714"/>
            </a:avLst>
          </a:prstGeom>
          <a:solidFill>
            <a:schemeClr val="bg2"/>
          </a:solidFill>
          <a:ln/>
        </p:spPr>
      </p:sp>
      <p:sp>
        <p:nvSpPr>
          <p:cNvPr id="22" name="Phase 4 badge"/>
          <p:cNvSpPr/>
          <p:nvPr/>
        </p:nvSpPr>
        <p:spPr>
          <a:xfrm>
            <a:off x="6949440" y="1508760"/>
            <a:ext cx="548640" cy="548640"/>
          </a:xfrm>
          <a:prstGeom prst="ellipse">
            <a:avLst/>
          </a:prstGeom>
          <a:solidFill>
            <a:schemeClr val="accent2"/>
          </a:solidFill>
          <a:ln/>
        </p:spPr>
      </p:sp>
      <p:sp>
        <p:nvSpPr>
          <p:cNvPr id="23" name="Text 21"/>
          <p:cNvSpPr txBox="1"/>
          <p:nvPr/>
        </p:nvSpPr>
        <p:spPr>
          <a:xfrm>
            <a:off x="6949440"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4" name="Text 22"/>
          <p:cNvSpPr txBox="1"/>
          <p:nvPr/>
        </p:nvSpPr>
        <p:spPr>
          <a:xfrm>
            <a:off x="6949440" y="2194560"/>
            <a:ext cx="1645920" cy="365760"/>
          </a:xfrm>
          <a:prstGeom prst="rect">
            <a:avLst/>
          </a:prstGeom>
          <a:noFill/>
          <a:ln/>
        </p:spPr>
        <p:txBody>
          <a:bodyPr wrap="square" lIns="0" tIns="0" rIns="0" bIns="0" rtlCol="0" anchor="ctr"/>
          <a:lstStyle/>
          <a:p>
            <a:pPr indent="0" marL="0">
              <a:buNone/>
            </a:pPr>
            <a:r>
              <a:rPr lang="en-US" sz="1800" b="1" dirty="0">
                <a:solidFill>
                  <a:schemeClr val="tx2"/>
                </a:solidFill>
              </a:rPr>
              <a:t>Optimise</a:t>
            </a:r>
            <a:endParaRPr lang="en-US" sz="1800" dirty="0"/>
          </a:p>
        </p:txBody>
      </p:sp>
      <p:sp>
        <p:nvSpPr>
          <p:cNvPr id="25" name="Text 23"/>
          <p:cNvSpPr txBox="1"/>
          <p:nvPr/>
        </p:nvSpPr>
        <p:spPr>
          <a:xfrm>
            <a:off x="6949440" y="2651760"/>
            <a:ext cx="1645920" cy="17373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Track usage and errors</a:t>
            </a:r>
            <a:endParaRPr lang="en-US" sz="1200" dirty="0"/>
          </a:p>
          <a:p>
            <a:pPr marL="342900" indent="-342900">
              <a:spcAft>
                <a:spcPts val="600"/>
              </a:spcAft>
              <a:buSzPct val="100000"/>
              <a:buChar char="•"/>
            </a:pPr>
            <a:r>
              <a:rPr lang="en-US" sz="1200" dirty="0">
                <a:solidFill>
                  <a:schemeClr val="tx1"/>
                </a:solidFill>
              </a:rPr>
              <a:t>Retire unused agents</a:t>
            </a:r>
            <a:endParaRPr lang="en-US" sz="1200" dirty="0"/>
          </a:p>
          <a:p>
            <a:pPr marL="342900" indent="-342900">
              <a:spcAft>
                <a:spcPts val="600"/>
              </a:spcAft>
              <a:buSzPct val="100000"/>
              <a:buChar char="•"/>
            </a:pPr>
            <a:r>
              <a:rPr lang="en-US" sz="1200" dirty="0">
                <a:solidFill>
                  <a:schemeClr val="tx1"/>
                </a:solidFill>
              </a:rPr>
              <a:t>Build with the SDK and MCP tools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eco circle large"/>
          <p:cNvSpPr/>
          <p:nvPr/>
        </p:nvSpPr>
        <p:spPr>
          <a:xfrm>
            <a:off x="6492240" y="-1097280"/>
            <a:ext cx="3840480" cy="3840480"/>
          </a:xfrm>
          <a:prstGeom prst="ellipse">
            <a:avLst/>
          </a:prstGeom>
          <a:solidFill>
            <a:schemeClr val="accent1">
              <a:alpha val="45000"/>
            </a:schemeClr>
          </a:solidFill>
          <a:ln/>
        </p:spPr>
      </p:sp>
      <p:sp>
        <p:nvSpPr>
          <p:cNvPr id="3" name="Deco circle small"/>
          <p:cNvSpPr/>
          <p:nvPr/>
        </p:nvSpPr>
        <p:spPr>
          <a:xfrm>
            <a:off x="7589520" y="3291840"/>
            <a:ext cx="2011680" cy="2011680"/>
          </a:xfrm>
          <a:prstGeom prst="ellipse">
            <a:avLst/>
          </a:prstGeom>
          <a:solidFill>
            <a:schemeClr val="accent2">
              <a:alpha val="50000"/>
            </a:schemeClr>
          </a:solidFill>
          <a:ln/>
        </p:spPr>
      </p:sp>
      <p:sp>
        <p:nvSpPr>
          <p:cNvPr id="4" name="Text 0"/>
          <p:cNvSpPr/>
          <p:nvPr>
            <p:ph idx="100" type="title" hasCustomPrompt="1"/>
          </p:nvPr>
        </p:nvSpPr>
        <p:spPr>
          <a:xfrm>
            <a:off x="548640" y="1417320"/>
            <a:ext cx="7680960" cy="1371600"/>
          </a:xfrm>
          <a:prstGeom prst="rect">
            <a:avLst/>
          </a:prstGeom>
          <a:noFill/>
          <a:ln/>
        </p:spPr>
        <p:txBody>
          <a:bodyPr wrap="square" lIns="0" tIns="0" rIns="0" bIns="0" rtlCol="0" anchor="b"/>
          <a:lstStyle/>
          <a:p>
            <a:pPr algn="l" indent="0" marL="0">
              <a:buNone/>
            </a:pPr>
            <a:r>
              <a:rPr lang="en-US" sz="4000" b="1" dirty="0">
                <a:solidFill>
                  <a:schemeClr val="bg1"/>
                </a:solidFill>
              </a:rPr>
              <a:t>What we will achieve</a:t>
            </a:r>
            <a:endParaRPr lang="en-US" sz="4000" dirty="0"/>
          </a:p>
        </p:txBody>
      </p:sp>
      <p:sp>
        <p:nvSpPr>
          <p:cNvPr id="5" name="Text 0"/>
          <p:cNvSpPr/>
          <p:nvPr>
            <p:ph idx="101" type="body" hasCustomPrompt="1"/>
          </p:nvPr>
        </p:nvSpPr>
        <p:spPr>
          <a:xfrm>
            <a:off x="548640" y="2926080"/>
            <a:ext cx="7680960" cy="822960"/>
          </a:xfrm>
          <a:prstGeom prst="rect">
            <a:avLst/>
          </a:prstGeom>
          <a:noFill/>
          <a:ln/>
        </p:spPr>
        <p:txBody>
          <a:bodyPr wrap="square" lIns="0" tIns="0" rIns="0" bIns="0" rtlCol="0" anchor="t"/>
          <a:lstStyle/>
          <a:p>
            <a:pPr algn="l" indent="0" marL="0">
              <a:buNone/>
            </a:pPr>
            <a:r>
              <a:rPr lang="en-US" sz="1800" dirty="0">
                <a:solidFill>
                  <a:schemeClr val="bg2"/>
                </a:solidFill>
              </a:rPr>
              <a:t>See every agent  •  Control who builds, uses and owns them  •  Protect our data  •  Prove their value</a:t>
            </a:r>
            <a:endParaRPr lang="en-US" sz="1800" dirty="0"/>
          </a:p>
        </p:txBody>
      </p:sp>
      <p:sp>
        <p:nvSpPr>
          <p:cNvPr id="6" name="Text 4"/>
          <p:cNvSpPr txBox="1"/>
          <p:nvPr/>
        </p:nvSpPr>
        <p:spPr>
          <a:xfrm>
            <a:off x="548640" y="4206240"/>
            <a:ext cx="5486400" cy="365760"/>
          </a:xfrm>
          <a:prstGeom prst="rect">
            <a:avLst/>
          </a:prstGeom>
          <a:noFill/>
          <a:ln/>
        </p:spPr>
        <p:txBody>
          <a:bodyPr wrap="square" lIns="0" tIns="0" rIns="0" bIns="0" rtlCol="0" anchor="ctr"/>
          <a:lstStyle/>
          <a:p>
            <a:pPr indent="0" marL="0">
              <a:buNone/>
            </a:pPr>
            <a:r>
              <a:rPr lang="en-US" sz="1600" b="1" dirty="0">
                <a:solidFill>
                  <a:schemeClr val="accent2"/>
                </a:solidFill>
              </a:rPr>
              <a:t>Questions &amp; discussion</a:t>
            </a:r>
            <a:endParaRPr lang="en-US" sz="1600" dirty="0"/>
          </a:p>
        </p:txBody>
      </p:sp>
    </p:spTree>
  </p:cSld>
  <p:clrMapOvr>
    <a:masterClrMapping/>
  </p:clrMapOvr>
</p:sld>
</file>

<file path=ppt/theme/theme1.xml><?xml version="1.0" encoding="utf-8"?>
<a:theme xmlns:a="http://schemas.openxmlformats.org/drawingml/2006/main" name="Agent 365">
  <a:themeElements>
    <a:clrScheme name="Agent 365">
      <a:dk1>
        <a:srgbClr val="1A1530"/>
      </a:dk1>
      <a:lt1>
        <a:srgbClr val="FFFFFF"/>
      </a:lt1>
      <a:dk2>
        <a:srgbClr val="221A4D"/>
      </a:dk2>
      <a:lt2>
        <a:srgbClr val="F1EEFF"/>
      </a:lt2>
      <a:accent1>
        <a:srgbClr val="6D4AFF"/>
      </a:accent1>
      <a:accent2>
        <a:srgbClr val="12B5A6"/>
      </a:accent2>
      <a:accent3>
        <a:srgbClr val="F2A93B"/>
      </a:accent3>
      <a:accent4>
        <a:srgbClr val="E2557A"/>
      </a:accent4>
      <a:accent5>
        <a:srgbClr val="3A86FF"/>
      </a:accent5>
      <a:accent6>
        <a:srgbClr val="8A84A8"/>
      </a:accent6>
      <a:hlink>
        <a:srgbClr val="6D4AFF"/>
      </a:hlink>
      <a:folHlink>
        <a:srgbClr val="8A84A8"/>
      </a:folHlink>
    </a:clrScheme>
    <a:fontScheme name="Agent 365">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Agent 365 – What we will achieve</dc:title>
  <dc:subject>PptxGenJS Presentation</dc:subject>
  <dc:creator>IT / Modern Workplace</dc:creator>
  <cp:lastModifiedBy>IT / Modern Workplace</cp:lastModifiedBy>
  <cp:revision>1</cp:revision>
  <dcterms:created xsi:type="dcterms:W3CDTF">2026-10-12T00:02:30Z</dcterms:created>
  <dcterms:modified xsi:type="dcterms:W3CDTF">2026-10-12T00:02:30Z</dcterms:modified>
</cp:coreProperties>
</file>