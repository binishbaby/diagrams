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6813e60-1f0b-56cf-e2a2-9efbc724328f}">
          <p14:sldIdLst>
            <p14:sldId id="256"/>
            <p14:sldId id="257"/>
            <p14:sldId id="258"/>
          </p14:sldIdLst>
        </p14:section>
        <p14:section name="Capabilities" id="{77b3a711-ef68-7aa6-5a9d-be8e9be2600a}">
          <p14:sldIdLst>
            <p14:sldId id="259"/>
            <p14:sldId id="260"/>
            <p14:sldId id="261"/>
            <p14:sldId id="262"/>
            <p14:sldId id="263"/>
            <p14:sldId id="264"/>
            <p14:sldId id="265"/>
            <p14:sldId id="266"/>
            <p14:sldId id="267"/>
          </p14:sldIdLst>
        </p14:section>
        <p14:section name="Plan" id="{51c97190-ff94-3edb-2967-39386d519d4e}">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share what Microsoft Agent 365 is and what each capability in the Microsoft 365 admin center will give us. One slide per capability: what it is, what it brings us, and where to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365 extends the tools we already use for people (Microsoft 365 admin center, Entra, Purview, Defender) to AI agents, wherever they were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capabilities group into pillars: Observe (see every agent), Govern (control lifecycle and access), Secure (protect data and detect threats), Optimise and 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dashboard. What it is: The landing page of Agent 365 in the Microsoft 365 admin center. It summarises the agent inventory, adoption, usage trends and governance status, and highlights items that need admin attention. What it brings: One view of health – how many agents we have, how many are active and which need attention. Early warning – spot rising adoption, risky or ownerless agents before they become problems. Easy reporting – ready-made numbers for leadership and governance boards. Where: Admin center › Agent 365 ›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registry. What it is: A single, tenant-wide inventory of all agents – Microsoft, Copilot Studio, third-party and custom. Each entry shows metadata, owner, capabilities, data sources, requested permissions, risk signals and usage. Copilot Studio agents register automatically. It replaced the Entra registry in 2026. What it brings: No more shadow AI – every agent is discovered and listed, regardless of where it was built. Accountability – ownerless agents (creator left) are flagged so we can reassign them. Risk at a glance – a Risks column brings high-severity Entra alerts per agent. Where: Admin center › Agent 365 › Agent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Map. What it is: A visual map of the agents in our tenant, grouped by the platform they were built on. Filter by status, publisher type, platform, channel, data source or usage, then drill into an agent for ownership, configuration and activity. What it brings: Understand scale – make sense of hundreds of agents without reading long lists. Find patterns – see which platforms, channels and data sources are used most. Tell the story – a clear picture for stakeholders and security reviews. Where: Admin center › Agent 365 › Agent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governance. What it is: Admin actions on every agent from the registry: approve and publish, deploy and pin for users or groups, block, remove, delete and reassign ownership. Blocking stops users from installing or using the agent in Microsoft 365 experiences. What it brings: Only approved agents – users get agents we have reviewed and published. Fast response – block a risky or broken agent for everyone in one click. Continuity – reassign agents when owners change role or leave. Where: Admin center › Agent 365 › Agent registry › select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 Agent ID. What it is: Microsoft Entra gives each agent its own identity – like a user account for the agent. We can apply Conditional Access, risk-based access, least-privilege permissions, access reviews and sponsors/owners, and see sign-in logs. What it brings: Zero Trust for agents – the same identity controls we use for people. Least privilege – agents only reach the data and apps they really need. Clear audit trail – every agent sign-in and action is attributable. Where: Entra admin center › Agent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Purview data security. What it is: Microsoft Purview applies our existing data security and compliance to agents: sensitivity labels, data loss prevention, audit, data security posture for AI, retention and eDiscovery of agent interactions. What it brings: Stop oversharing – agents respect labels and DLP, so confidential data stays protected. Compliance ready – agent activity is audited and retained for regulators. Reuse what we have – no new policy set – we extend today's Purview policies. Where: Purview portal › DSPM for AI, DLP,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Defender threat protection. What it is: Microsoft Defender adds continuous threat detection and real-time protection for agents – for example prompt-injection attempts, unusual behaviour or a compromised agent – with incidents investigated in Defender XDR. What it brings: SOC visibility – agent threats appear next to user, device and email threats. Real-time protection – unsafe agent actions can be detected and blocked. Faster response – investigate and contain an agent like any other asset. Where: Defender portal › Incidents &amp; alerts, AI security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&amp; telemetry. What it is: Agent 365 collects telemetry on every agent – activity, usage, errors and performance. Agents built with the Agent 365 SDK send detailed traces, and the data feeds the registry, Agent Map and dashboard. What it brings: Prove ROI – see which agents are actually used and by whom. Fix issues quickly – error and health signals help makers and IT troubleshoot. Control cost – retire unused agents and invest in the ones that work. Where: Admin center › Agent 365 › Agent registry › agent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Interoperability (MCP &amp; SDK). What it is: Agent 365 is a control plane for agents however they are built or bought. Agentic tools expose MCP servers and SDKs for Outlook, Teams, SharePoint and business systems, so agents can act in Microsoft 365 under the same governance. What it brings: No lock-in – Copilot Studio, Foundry, third-party and custom agents are all governed. Agents in the flow of work – agents join Teams, mail and documents like a colleague. Consistent controls – one set of policies, whatever the agent was built with. Where: Agent 365 SDK &amp; MCP tools (developer), registry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Licensing and availability change quickly – sources differ between GA and Frontier preview wording. Validate with the current Microsoft licensing page before budgeting.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phased adoption. Phase 1 needs only the admin center; later phases bring in Entra, Purview and Defender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outcomes and open the floor for questions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768096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Microsoft Agent 365  |  Capability overview</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circle large"/>
          <p:cNvSpPr/>
          <p:nvPr/>
        </p:nvSpPr>
        <p:spPr>
          <a:xfrm>
            <a:off x="6492240" y="-1097280"/>
            <a:ext cx="3840480" cy="3840480"/>
          </a:xfrm>
          <a:prstGeom prst="ellipse">
            <a:avLst/>
          </a:prstGeom>
          <a:solidFill>
            <a:schemeClr val="accent1">
              <a:alpha val="45000"/>
            </a:schemeClr>
          </a:solidFill>
          <a:ln/>
        </p:spPr>
      </p:sp>
      <p:sp>
        <p:nvSpPr>
          <p:cNvPr id="3" name="Deco circle small"/>
          <p:cNvSpPr/>
          <p:nvPr/>
        </p:nvSpPr>
        <p:spPr>
          <a:xfrm>
            <a:off x="7589520" y="3291840"/>
            <a:ext cx="2011680" cy="2011680"/>
          </a:xfrm>
          <a:prstGeom prst="ellipse">
            <a:avLst/>
          </a:prstGeom>
          <a:solidFill>
            <a:schemeClr val="accent2">
              <a:alpha val="50000"/>
            </a:schemeClr>
          </a:solidFill>
          <a:ln/>
        </p:spPr>
      </p:sp>
      <p:sp>
        <p:nvSpPr>
          <p:cNvPr id="4" name="Logo circle"/>
          <p:cNvSpPr/>
          <p:nvPr/>
        </p:nvSpPr>
        <p:spPr>
          <a:xfrm>
            <a:off x="548640" y="502920"/>
            <a:ext cx="685800" cy="685800"/>
          </a:xfrm>
          <a:prstGeom prst="ellipse">
            <a:avLst/>
          </a:prstGeom>
          <a:solidFill>
            <a:schemeClr val="accent1"/>
          </a:solidFill>
          <a:ln/>
        </p:spPr>
      </p:sp>
      <p:pic>
        <p:nvPicPr>
          <p:cNvPr id="5" name="Image 0" descr="Agent icon">    </p:cNvPr>
          <p:cNvPicPr>
            <a:picLocks noChangeAspect="1"/>
          </p:cNvPicPr>
          <p:nvPr/>
        </p:nvPicPr>
        <p:blipFill>
          <a:blip r:embed="rId1"/>
          <a:stretch>
            <a:fillRect/>
          </a:stretch>
        </p:blipFill>
        <p:spPr>
          <a:xfrm>
            <a:off x="685800" y="640080"/>
            <a:ext cx="411480" cy="411480"/>
          </a:xfrm>
          <a:prstGeom prst="rect">
            <a:avLst/>
          </a:prstGeom>
        </p:spPr>
      </p:pic>
      <p:sp>
        <p:nvSpPr>
          <p:cNvPr id="6" name="Text 0"/>
          <p:cNvSpPr/>
          <p:nvPr>
            <p:ph idx="100" type="title" hasCustomPrompt="1"/>
          </p:nvPr>
        </p:nvSpPr>
        <p:spPr>
          <a:xfrm>
            <a:off x="548640" y="1417320"/>
            <a:ext cx="7680960" cy="1371600"/>
          </a:xfrm>
          <a:prstGeom prst="rect">
            <a:avLst/>
          </a:prstGeom>
          <a:noFill/>
          <a:ln/>
        </p:spPr>
        <p:txBody>
          <a:bodyPr wrap="square" lIns="0" tIns="0" rIns="0" bIns="0" rtlCol="0" anchor="b"/>
          <a:lstStyle/>
          <a:p>
            <a:pPr algn="l" indent="0" marL="0">
              <a:buNone/>
            </a:pPr>
            <a:r>
              <a:rPr lang="en-US" sz="4000" b="1" dirty="0">
                <a:solidFill>
                  <a:schemeClr val="bg1"/>
                </a:solidFill>
              </a:rPr>
              <a:t>Microsoft Agent 365</a:t>
            </a:r>
            <a:endParaRPr lang="en-US" sz="4000" dirty="0"/>
          </a:p>
        </p:txBody>
      </p:sp>
      <p:sp>
        <p:nvSpPr>
          <p:cNvPr id="7" name="Text 0"/>
          <p:cNvSpPr/>
          <p:nvPr>
            <p:ph idx="101" type="body" hasCustomPrompt="1"/>
          </p:nvPr>
        </p:nvSpPr>
        <p:spPr>
          <a:xfrm>
            <a:off x="548640" y="2926080"/>
            <a:ext cx="7680960" cy="822960"/>
          </a:xfrm>
          <a:prstGeom prst="rect">
            <a:avLst/>
          </a:prstGeom>
          <a:noFill/>
          <a:ln/>
        </p:spPr>
        <p:txBody>
          <a:bodyPr wrap="square" lIns="0" tIns="0" rIns="0" bIns="0" rtlCol="0" anchor="t"/>
          <a:lstStyle/>
          <a:p>
            <a:pPr algn="l" indent="0" marL="0">
              <a:buNone/>
            </a:pPr>
            <a:r>
              <a:rPr lang="en-US" sz="1800" dirty="0">
                <a:solidFill>
                  <a:schemeClr val="bg2"/>
                </a:solidFill>
              </a:rPr>
              <a:t>The control plane for AI agents – what it is, and what it brings to our organisation</a:t>
            </a:r>
            <a:endParaRPr lang="en-US" sz="1800" dirty="0"/>
          </a:p>
        </p:txBody>
      </p:sp>
      <p:sp>
        <p:nvSpPr>
          <p:cNvPr id="8" name="Text 5"/>
          <p:cNvSpPr txBox="1"/>
          <p:nvPr/>
        </p:nvSpPr>
        <p:spPr>
          <a:xfrm>
            <a:off x="548640" y="4343400"/>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Study &amp; planning deck  •  Based on the Agent 365 area of the Microsoft 365 admin center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Why Agent 365: agents are the new workforce</a:t>
            </a:r>
            <a:endParaRPr lang="en-US" sz="2800" dirty="0"/>
          </a:p>
        </p:txBody>
      </p:sp>
      <p:sp>
        <p:nvSpPr>
          <p:cNvPr id="3" name="Text 1"/>
          <p:cNvSpPr txBox="1"/>
          <p:nvPr/>
        </p:nvSpPr>
        <p:spPr>
          <a:xfrm>
            <a:off x="457200" y="1188720"/>
            <a:ext cx="8229600" cy="548640"/>
          </a:xfrm>
          <a:prstGeom prst="rect">
            <a:avLst/>
          </a:prstGeom>
          <a:noFill/>
          <a:ln/>
        </p:spPr>
        <p:txBody>
          <a:bodyPr wrap="square" lIns="0" tIns="0" rIns="0" bIns="0" rtlCol="0" anchor="ctr"/>
          <a:lstStyle/>
          <a:p>
            <a:pPr indent="0" marL="0">
              <a:buNone/>
            </a:pPr>
            <a:r>
              <a:rPr lang="en-US" sz="1400" dirty="0">
                <a:solidFill>
                  <a:schemeClr val="tx1"/>
                </a:solidFill>
              </a:rPr>
              <a:t>Agents are being built everywhere – Copilot Studio, Microsoft Foundry, third-party SaaS and custom code. Without a control plane we can't answer three basic questions:</a:t>
            </a:r>
            <a:endParaRPr lang="en-US" sz="1400" dirty="0"/>
          </a:p>
        </p:txBody>
      </p:sp>
      <p:sp>
        <p:nvSpPr>
          <p:cNvPr id="4" name="Question card 1"/>
          <p:cNvSpPr/>
          <p:nvPr/>
        </p:nvSpPr>
        <p:spPr>
          <a:xfrm>
            <a:off x="457200" y="1874520"/>
            <a:ext cx="2596896" cy="1874520"/>
          </a:xfrm>
          <a:prstGeom prst="roundRect">
            <a:avLst>
              <a:gd name="adj" fmla="val 5854"/>
            </a:avLst>
          </a:prstGeom>
          <a:solidFill>
            <a:schemeClr val="bg2"/>
          </a:solidFill>
          <a:ln/>
        </p:spPr>
      </p:sp>
      <p:sp>
        <p:nvSpPr>
          <p:cNvPr id="5" name="Question icon bg 1"/>
          <p:cNvSpPr/>
          <p:nvPr/>
        </p:nvSpPr>
        <p:spPr>
          <a:xfrm>
            <a:off x="685800" y="2075688"/>
            <a:ext cx="502920" cy="502920"/>
          </a:xfrm>
          <a:prstGeom prst="ellipse">
            <a:avLst/>
          </a:prstGeom>
          <a:solidFill>
            <a:schemeClr val="accent4"/>
          </a:solidFill>
          <a:ln/>
        </p:spPr>
      </p:sp>
      <p:pic>
        <p:nvPicPr>
          <p:cNvPr id="6" name="Image 0" descr="Who owns it?">    </p:cNvPr>
          <p:cNvPicPr>
            <a:picLocks noChangeAspect="1"/>
          </p:cNvPicPr>
          <p:nvPr/>
        </p:nvPicPr>
        <p:blipFill>
          <a:blip r:embed="rId1"/>
          <a:stretch>
            <a:fillRect/>
          </a:stretch>
        </p:blipFill>
        <p:spPr>
          <a:xfrm>
            <a:off x="795528" y="2185416"/>
            <a:ext cx="283464" cy="283464"/>
          </a:xfrm>
          <a:prstGeom prst="rect">
            <a:avLst/>
          </a:prstGeom>
        </p:spPr>
      </p:pic>
      <p:sp>
        <p:nvSpPr>
          <p:cNvPr id="7" name="Text 4"/>
          <p:cNvSpPr txBox="1"/>
          <p:nvPr/>
        </p:nvSpPr>
        <p:spPr>
          <a:xfrm>
            <a:off x="685800" y="2697480"/>
            <a:ext cx="2194560" cy="320040"/>
          </a:xfrm>
          <a:prstGeom prst="rect">
            <a:avLst/>
          </a:prstGeom>
          <a:noFill/>
          <a:ln/>
        </p:spPr>
        <p:txBody>
          <a:bodyPr wrap="square" lIns="0" tIns="0" rIns="0" bIns="0" rtlCol="0" anchor="ctr"/>
          <a:lstStyle/>
          <a:p>
            <a:pPr indent="0" marL="0">
              <a:buNone/>
            </a:pPr>
            <a:r>
              <a:rPr lang="en-US" sz="1500" b="1" dirty="0">
                <a:solidFill>
                  <a:schemeClr val="tx2"/>
                </a:solidFill>
              </a:rPr>
              <a:t>Who owns it?</a:t>
            </a:r>
            <a:endParaRPr lang="en-US" sz="1500" dirty="0"/>
          </a:p>
        </p:txBody>
      </p:sp>
      <p:sp>
        <p:nvSpPr>
          <p:cNvPr id="8" name="Text 5"/>
          <p:cNvSpPr txBox="1"/>
          <p:nvPr/>
        </p:nvSpPr>
        <p:spPr>
          <a:xfrm>
            <a:off x="685800" y="3035808"/>
            <a:ext cx="2194560" cy="640080"/>
          </a:xfrm>
          <a:prstGeom prst="rect">
            <a:avLst/>
          </a:prstGeom>
          <a:noFill/>
          <a:ln/>
        </p:spPr>
        <p:txBody>
          <a:bodyPr wrap="square" lIns="0" tIns="0" rIns="0" bIns="0" rtlCol="0" anchor="t"/>
          <a:lstStyle/>
          <a:p>
            <a:pPr indent="0" marL="0">
              <a:buNone/>
            </a:pPr>
            <a:r>
              <a:rPr lang="en-US" sz="1200" dirty="0">
                <a:solidFill>
                  <a:schemeClr val="tx1"/>
                </a:solidFill>
              </a:rPr>
              <a:t>Agents appear in many tools; owners leave and agents become orphaned.</a:t>
            </a:r>
            <a:endParaRPr lang="en-US" sz="1200" dirty="0"/>
          </a:p>
        </p:txBody>
      </p:sp>
      <p:sp>
        <p:nvSpPr>
          <p:cNvPr id="9" name="Question card 2"/>
          <p:cNvSpPr/>
          <p:nvPr/>
        </p:nvSpPr>
        <p:spPr>
          <a:xfrm>
            <a:off x="3273552" y="1874520"/>
            <a:ext cx="2596896" cy="1874520"/>
          </a:xfrm>
          <a:prstGeom prst="roundRect">
            <a:avLst>
              <a:gd name="adj" fmla="val 5854"/>
            </a:avLst>
          </a:prstGeom>
          <a:solidFill>
            <a:schemeClr val="bg2"/>
          </a:solidFill>
          <a:ln/>
        </p:spPr>
      </p:sp>
      <p:sp>
        <p:nvSpPr>
          <p:cNvPr id="10" name="Question icon bg 2"/>
          <p:cNvSpPr/>
          <p:nvPr/>
        </p:nvSpPr>
        <p:spPr>
          <a:xfrm>
            <a:off x="3502152" y="2075688"/>
            <a:ext cx="502920" cy="502920"/>
          </a:xfrm>
          <a:prstGeom prst="ellipse">
            <a:avLst/>
          </a:prstGeom>
          <a:solidFill>
            <a:schemeClr val="accent4"/>
          </a:solidFill>
          <a:ln/>
        </p:spPr>
      </p:sp>
      <p:pic>
        <p:nvPicPr>
          <p:cNvPr id="11" name="Image 1" descr="What can it access?">    </p:cNvPr>
          <p:cNvPicPr>
            <a:picLocks noChangeAspect="1"/>
          </p:cNvPicPr>
          <p:nvPr/>
        </p:nvPicPr>
        <p:blipFill>
          <a:blip r:embed="rId2"/>
          <a:stretch>
            <a:fillRect/>
          </a:stretch>
        </p:blipFill>
        <p:spPr>
          <a:xfrm>
            <a:off x="3611880" y="2185416"/>
            <a:ext cx="283464" cy="283464"/>
          </a:xfrm>
          <a:prstGeom prst="rect">
            <a:avLst/>
          </a:prstGeom>
        </p:spPr>
      </p:pic>
      <p:sp>
        <p:nvSpPr>
          <p:cNvPr id="12" name="Text 8"/>
          <p:cNvSpPr txBox="1"/>
          <p:nvPr/>
        </p:nvSpPr>
        <p:spPr>
          <a:xfrm>
            <a:off x="3502152" y="2697480"/>
            <a:ext cx="2194560" cy="320040"/>
          </a:xfrm>
          <a:prstGeom prst="rect">
            <a:avLst/>
          </a:prstGeom>
          <a:noFill/>
          <a:ln/>
        </p:spPr>
        <p:txBody>
          <a:bodyPr wrap="square" lIns="0" tIns="0" rIns="0" bIns="0" rtlCol="0" anchor="ctr"/>
          <a:lstStyle/>
          <a:p>
            <a:pPr indent="0" marL="0">
              <a:buNone/>
            </a:pPr>
            <a:r>
              <a:rPr lang="en-US" sz="1500" b="1" dirty="0">
                <a:solidFill>
                  <a:schemeClr val="tx2"/>
                </a:solidFill>
              </a:rPr>
              <a:t>What can it access?</a:t>
            </a:r>
            <a:endParaRPr lang="en-US" sz="1500" dirty="0"/>
          </a:p>
        </p:txBody>
      </p:sp>
      <p:sp>
        <p:nvSpPr>
          <p:cNvPr id="13" name="Text 9"/>
          <p:cNvSpPr txBox="1"/>
          <p:nvPr/>
        </p:nvSpPr>
        <p:spPr>
          <a:xfrm>
            <a:off x="3502152" y="3035808"/>
            <a:ext cx="2194560" cy="640080"/>
          </a:xfrm>
          <a:prstGeom prst="rect">
            <a:avLst/>
          </a:prstGeom>
          <a:noFill/>
          <a:ln/>
        </p:spPr>
        <p:txBody>
          <a:bodyPr wrap="square" lIns="0" tIns="0" rIns="0" bIns="0" rtlCol="0" anchor="t"/>
          <a:lstStyle/>
          <a:p>
            <a:pPr indent="0" marL="0">
              <a:buNone/>
            </a:pPr>
            <a:r>
              <a:rPr lang="en-US" sz="1200" dirty="0">
                <a:solidFill>
                  <a:schemeClr val="tx1"/>
                </a:solidFill>
              </a:rPr>
              <a:t>Agents read mail, files and business data – often with broad permissions.</a:t>
            </a:r>
            <a:endParaRPr lang="en-US" sz="1200" dirty="0"/>
          </a:p>
        </p:txBody>
      </p:sp>
      <p:sp>
        <p:nvSpPr>
          <p:cNvPr id="14" name="Question card 3"/>
          <p:cNvSpPr/>
          <p:nvPr/>
        </p:nvSpPr>
        <p:spPr>
          <a:xfrm>
            <a:off x="6089904" y="1874520"/>
            <a:ext cx="2596896" cy="1874520"/>
          </a:xfrm>
          <a:prstGeom prst="roundRect">
            <a:avLst>
              <a:gd name="adj" fmla="val 5854"/>
            </a:avLst>
          </a:prstGeom>
          <a:solidFill>
            <a:schemeClr val="bg2"/>
          </a:solidFill>
          <a:ln/>
        </p:spPr>
      </p:sp>
      <p:sp>
        <p:nvSpPr>
          <p:cNvPr id="15" name="Question icon bg 3"/>
          <p:cNvSpPr/>
          <p:nvPr/>
        </p:nvSpPr>
        <p:spPr>
          <a:xfrm>
            <a:off x="6318504" y="2075688"/>
            <a:ext cx="502920" cy="502920"/>
          </a:xfrm>
          <a:prstGeom prst="ellipse">
            <a:avLst/>
          </a:prstGeom>
          <a:solidFill>
            <a:schemeClr val="accent4"/>
          </a:solidFill>
          <a:ln/>
        </p:spPr>
      </p:sp>
      <p:pic>
        <p:nvPicPr>
          <p:cNvPr id="16" name="Image 2" descr="Is it safe and worth it?">    </p:cNvPr>
          <p:cNvPicPr>
            <a:picLocks noChangeAspect="1"/>
          </p:cNvPicPr>
          <p:nvPr/>
        </p:nvPicPr>
        <p:blipFill>
          <a:blip r:embed="rId3"/>
          <a:stretch>
            <a:fillRect/>
          </a:stretch>
        </p:blipFill>
        <p:spPr>
          <a:xfrm>
            <a:off x="6428232" y="2185416"/>
            <a:ext cx="283464" cy="283464"/>
          </a:xfrm>
          <a:prstGeom prst="rect">
            <a:avLst/>
          </a:prstGeom>
        </p:spPr>
      </p:pic>
      <p:sp>
        <p:nvSpPr>
          <p:cNvPr id="17" name="Text 12"/>
          <p:cNvSpPr txBox="1"/>
          <p:nvPr/>
        </p:nvSpPr>
        <p:spPr>
          <a:xfrm>
            <a:off x="6318504" y="2697480"/>
            <a:ext cx="2194560" cy="320040"/>
          </a:xfrm>
          <a:prstGeom prst="rect">
            <a:avLst/>
          </a:prstGeom>
          <a:noFill/>
          <a:ln/>
        </p:spPr>
        <p:txBody>
          <a:bodyPr wrap="square" lIns="0" tIns="0" rIns="0" bIns="0" rtlCol="0" anchor="ctr"/>
          <a:lstStyle/>
          <a:p>
            <a:pPr indent="0" marL="0">
              <a:buNone/>
            </a:pPr>
            <a:r>
              <a:rPr lang="en-US" sz="1500" b="1" dirty="0">
                <a:solidFill>
                  <a:schemeClr val="tx2"/>
                </a:solidFill>
              </a:rPr>
              <a:t>Is it safe and worth it?</a:t>
            </a:r>
            <a:endParaRPr lang="en-US" sz="1500" dirty="0"/>
          </a:p>
        </p:txBody>
      </p:sp>
      <p:sp>
        <p:nvSpPr>
          <p:cNvPr id="18" name="Text 13"/>
          <p:cNvSpPr txBox="1"/>
          <p:nvPr/>
        </p:nvSpPr>
        <p:spPr>
          <a:xfrm>
            <a:off x="6318504" y="3035808"/>
            <a:ext cx="2194560" cy="640080"/>
          </a:xfrm>
          <a:prstGeom prst="rect">
            <a:avLst/>
          </a:prstGeom>
          <a:noFill/>
          <a:ln/>
        </p:spPr>
        <p:txBody>
          <a:bodyPr wrap="square" lIns="0" tIns="0" rIns="0" bIns="0" rtlCol="0" anchor="t"/>
          <a:lstStyle/>
          <a:p>
            <a:pPr indent="0" marL="0">
              <a:buNone/>
            </a:pPr>
            <a:r>
              <a:rPr lang="en-US" sz="1200" dirty="0">
                <a:solidFill>
                  <a:schemeClr val="tx1"/>
                </a:solidFill>
              </a:rPr>
              <a:t>No common view of risk, usage, errors or business value.</a:t>
            </a:r>
            <a:endParaRPr lang="en-US" sz="1200" dirty="0"/>
          </a:p>
        </p:txBody>
      </p:sp>
      <p:sp>
        <p:nvSpPr>
          <p:cNvPr id="19" name="Answer banner"/>
          <p:cNvSpPr/>
          <p:nvPr/>
        </p:nvSpPr>
        <p:spPr>
          <a:xfrm>
            <a:off x="457200" y="3931920"/>
            <a:ext cx="8229600" cy="640080"/>
          </a:xfrm>
          <a:prstGeom prst="roundRect">
            <a:avLst>
              <a:gd name="adj" fmla="val 14286"/>
            </a:avLst>
          </a:prstGeom>
          <a:solidFill>
            <a:schemeClr val="tx2"/>
          </a:solidFill>
          <a:ln/>
        </p:spPr>
      </p:sp>
      <p:sp>
        <p:nvSpPr>
          <p:cNvPr id="20" name="Text 15"/>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400" b="1" dirty="0">
                <a:solidFill>
                  <a:schemeClr val="bg1"/>
                </a:solidFill>
              </a:rPr>
              <a:t>Agent 365 answers them: </a:t>
            </a:r>
            <a:pPr indent="0" marL="0">
              <a:buNone/>
            </a:pPr>
            <a:r>
              <a:rPr lang="en-US" sz="1400" dirty="0">
                <a:solidFill>
                  <a:schemeClr val="bg2"/>
                </a:solidFill>
              </a:rPr>
              <a:t>manage agents the way we already manage users – one registry, an identity, access control, data protection and threat protection.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What we will cover: nine capabilities</a:t>
            </a:r>
            <a:endParaRPr lang="en-US" sz="2800" dirty="0"/>
          </a:p>
        </p:txBody>
      </p:sp>
      <p:sp>
        <p:nvSpPr>
          <p:cNvPr id="3" name="Capability 1"/>
          <p:cNvSpPr/>
          <p:nvPr/>
        </p:nvSpPr>
        <p:spPr>
          <a:xfrm>
            <a:off x="457200" y="1280160"/>
            <a:ext cx="2596896" cy="960120"/>
          </a:xfrm>
          <a:prstGeom prst="roundRect">
            <a:avLst>
              <a:gd name="adj" fmla="val 9524"/>
            </a:avLst>
          </a:prstGeom>
          <a:solidFill>
            <a:schemeClr val="bg2"/>
          </a:solidFill>
          <a:ln/>
        </p:spPr>
      </p:sp>
      <p:sp>
        <p:nvSpPr>
          <p:cNvPr id="4" name="Capability icon bg 1"/>
          <p:cNvSpPr/>
          <p:nvPr/>
        </p:nvSpPr>
        <p:spPr>
          <a:xfrm>
            <a:off x="640080" y="1508760"/>
            <a:ext cx="502920" cy="502920"/>
          </a:xfrm>
          <a:prstGeom prst="ellipse">
            <a:avLst/>
          </a:prstGeom>
          <a:solidFill>
            <a:schemeClr val="accent1"/>
          </a:solidFill>
          <a:ln/>
        </p:spPr>
      </p:sp>
      <p:pic>
        <p:nvPicPr>
          <p:cNvPr id="5" name="Image 0" descr="Overview dashboard">    </p:cNvPr>
          <p:cNvPicPr>
            <a:picLocks noChangeAspect="1"/>
          </p:cNvPicPr>
          <p:nvPr/>
        </p:nvPicPr>
        <p:blipFill>
          <a:blip r:embed="rId1"/>
          <a:stretch>
            <a:fillRect/>
          </a:stretch>
        </p:blipFill>
        <p:spPr>
          <a:xfrm>
            <a:off x="749808" y="1618488"/>
            <a:ext cx="283464" cy="283464"/>
          </a:xfrm>
          <a:prstGeom prst="rect">
            <a:avLst/>
          </a:prstGeom>
        </p:spPr>
      </p:pic>
      <p:sp>
        <p:nvSpPr>
          <p:cNvPr id="6" name="Text 3"/>
          <p:cNvSpPr txBox="1"/>
          <p:nvPr/>
        </p:nvSpPr>
        <p:spPr>
          <a:xfrm>
            <a:off x="1280160" y="1481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OBSERVE</a:t>
            </a:r>
            <a:endParaRPr lang="en-US" sz="1000" dirty="0"/>
          </a:p>
        </p:txBody>
      </p:sp>
      <p:sp>
        <p:nvSpPr>
          <p:cNvPr id="7" name="Text 4"/>
          <p:cNvSpPr txBox="1"/>
          <p:nvPr/>
        </p:nvSpPr>
        <p:spPr>
          <a:xfrm>
            <a:off x="1280160" y="1691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1. Overview dashboard</a:t>
            </a:r>
            <a:endParaRPr lang="en-US" sz="1300" dirty="0"/>
          </a:p>
        </p:txBody>
      </p:sp>
      <p:sp>
        <p:nvSpPr>
          <p:cNvPr id="8" name="Capability 2"/>
          <p:cNvSpPr/>
          <p:nvPr/>
        </p:nvSpPr>
        <p:spPr>
          <a:xfrm>
            <a:off x="3273552" y="1280160"/>
            <a:ext cx="2596896" cy="960120"/>
          </a:xfrm>
          <a:prstGeom prst="roundRect">
            <a:avLst>
              <a:gd name="adj" fmla="val 9524"/>
            </a:avLst>
          </a:prstGeom>
          <a:solidFill>
            <a:schemeClr val="bg2"/>
          </a:solidFill>
          <a:ln/>
        </p:spPr>
      </p:sp>
      <p:sp>
        <p:nvSpPr>
          <p:cNvPr id="9" name="Capability icon bg 2"/>
          <p:cNvSpPr/>
          <p:nvPr/>
        </p:nvSpPr>
        <p:spPr>
          <a:xfrm>
            <a:off x="3456432" y="1508760"/>
            <a:ext cx="502920" cy="502920"/>
          </a:xfrm>
          <a:prstGeom prst="ellipse">
            <a:avLst/>
          </a:prstGeom>
          <a:solidFill>
            <a:schemeClr val="accent1"/>
          </a:solidFill>
          <a:ln/>
        </p:spPr>
      </p:sp>
      <p:pic>
        <p:nvPicPr>
          <p:cNvPr id="10" name="Image 1" descr="Agent registry">    </p:cNvPr>
          <p:cNvPicPr>
            <a:picLocks noChangeAspect="1"/>
          </p:cNvPicPr>
          <p:nvPr/>
        </p:nvPicPr>
        <p:blipFill>
          <a:blip r:embed="rId2"/>
          <a:stretch>
            <a:fillRect/>
          </a:stretch>
        </p:blipFill>
        <p:spPr>
          <a:xfrm>
            <a:off x="3566160" y="1618488"/>
            <a:ext cx="283464" cy="283464"/>
          </a:xfrm>
          <a:prstGeom prst="rect">
            <a:avLst/>
          </a:prstGeom>
        </p:spPr>
      </p:pic>
      <p:sp>
        <p:nvSpPr>
          <p:cNvPr id="11" name="Text 7"/>
          <p:cNvSpPr txBox="1"/>
          <p:nvPr/>
        </p:nvSpPr>
        <p:spPr>
          <a:xfrm>
            <a:off x="4096512" y="1481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OBSERVE</a:t>
            </a:r>
            <a:endParaRPr lang="en-US" sz="1000" dirty="0"/>
          </a:p>
        </p:txBody>
      </p:sp>
      <p:sp>
        <p:nvSpPr>
          <p:cNvPr id="12" name="Text 8"/>
          <p:cNvSpPr txBox="1"/>
          <p:nvPr/>
        </p:nvSpPr>
        <p:spPr>
          <a:xfrm>
            <a:off x="4096512" y="1691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2. Agent registry</a:t>
            </a:r>
            <a:endParaRPr lang="en-US" sz="1300" dirty="0"/>
          </a:p>
        </p:txBody>
      </p:sp>
      <p:sp>
        <p:nvSpPr>
          <p:cNvPr id="13" name="Capability 3"/>
          <p:cNvSpPr/>
          <p:nvPr/>
        </p:nvSpPr>
        <p:spPr>
          <a:xfrm>
            <a:off x="6089904" y="1280160"/>
            <a:ext cx="2596896" cy="960120"/>
          </a:xfrm>
          <a:prstGeom prst="roundRect">
            <a:avLst>
              <a:gd name="adj" fmla="val 9524"/>
            </a:avLst>
          </a:prstGeom>
          <a:solidFill>
            <a:schemeClr val="bg2"/>
          </a:solidFill>
          <a:ln/>
        </p:spPr>
      </p:sp>
      <p:sp>
        <p:nvSpPr>
          <p:cNvPr id="14" name="Capability icon bg 3"/>
          <p:cNvSpPr/>
          <p:nvPr/>
        </p:nvSpPr>
        <p:spPr>
          <a:xfrm>
            <a:off x="6272784" y="1508760"/>
            <a:ext cx="502920" cy="502920"/>
          </a:xfrm>
          <a:prstGeom prst="ellipse">
            <a:avLst/>
          </a:prstGeom>
          <a:solidFill>
            <a:schemeClr val="accent1"/>
          </a:solidFill>
          <a:ln/>
        </p:spPr>
      </p:sp>
      <p:pic>
        <p:nvPicPr>
          <p:cNvPr id="15" name="Image 2" descr="Agent Map">    </p:cNvPr>
          <p:cNvPicPr>
            <a:picLocks noChangeAspect="1"/>
          </p:cNvPicPr>
          <p:nvPr/>
        </p:nvPicPr>
        <p:blipFill>
          <a:blip r:embed="rId3"/>
          <a:stretch>
            <a:fillRect/>
          </a:stretch>
        </p:blipFill>
        <p:spPr>
          <a:xfrm>
            <a:off x="6382512" y="1618488"/>
            <a:ext cx="283464" cy="283464"/>
          </a:xfrm>
          <a:prstGeom prst="rect">
            <a:avLst/>
          </a:prstGeom>
        </p:spPr>
      </p:pic>
      <p:sp>
        <p:nvSpPr>
          <p:cNvPr id="16" name="Text 11"/>
          <p:cNvSpPr txBox="1"/>
          <p:nvPr/>
        </p:nvSpPr>
        <p:spPr>
          <a:xfrm>
            <a:off x="6912864" y="1481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OBSERVE</a:t>
            </a:r>
            <a:endParaRPr lang="en-US" sz="1000" dirty="0"/>
          </a:p>
        </p:txBody>
      </p:sp>
      <p:sp>
        <p:nvSpPr>
          <p:cNvPr id="17" name="Text 12"/>
          <p:cNvSpPr txBox="1"/>
          <p:nvPr/>
        </p:nvSpPr>
        <p:spPr>
          <a:xfrm>
            <a:off x="6912864" y="1691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3. Agent Map</a:t>
            </a:r>
            <a:endParaRPr lang="en-US" sz="1300" dirty="0"/>
          </a:p>
        </p:txBody>
      </p:sp>
      <p:sp>
        <p:nvSpPr>
          <p:cNvPr id="18" name="Capability 4"/>
          <p:cNvSpPr/>
          <p:nvPr/>
        </p:nvSpPr>
        <p:spPr>
          <a:xfrm>
            <a:off x="457200" y="2423160"/>
            <a:ext cx="2596896" cy="960120"/>
          </a:xfrm>
          <a:prstGeom prst="roundRect">
            <a:avLst>
              <a:gd name="adj" fmla="val 9524"/>
            </a:avLst>
          </a:prstGeom>
          <a:solidFill>
            <a:schemeClr val="bg2"/>
          </a:solidFill>
          <a:ln/>
        </p:spPr>
      </p:sp>
      <p:sp>
        <p:nvSpPr>
          <p:cNvPr id="19" name="Capability icon bg 4"/>
          <p:cNvSpPr/>
          <p:nvPr/>
        </p:nvSpPr>
        <p:spPr>
          <a:xfrm>
            <a:off x="640080" y="2651760"/>
            <a:ext cx="502920" cy="502920"/>
          </a:xfrm>
          <a:prstGeom prst="ellipse">
            <a:avLst/>
          </a:prstGeom>
          <a:solidFill>
            <a:schemeClr val="accent5"/>
          </a:solidFill>
          <a:ln/>
        </p:spPr>
      </p:sp>
      <p:pic>
        <p:nvPicPr>
          <p:cNvPr id="20" name="Image 3" descr="Lifecycle governance">    </p:cNvPr>
          <p:cNvPicPr>
            <a:picLocks noChangeAspect="1"/>
          </p:cNvPicPr>
          <p:nvPr/>
        </p:nvPicPr>
        <p:blipFill>
          <a:blip r:embed="rId4"/>
          <a:stretch>
            <a:fillRect/>
          </a:stretch>
        </p:blipFill>
        <p:spPr>
          <a:xfrm>
            <a:off x="749808" y="2761488"/>
            <a:ext cx="283464" cy="283464"/>
          </a:xfrm>
          <a:prstGeom prst="rect">
            <a:avLst/>
          </a:prstGeom>
        </p:spPr>
      </p:pic>
      <p:sp>
        <p:nvSpPr>
          <p:cNvPr id="21" name="Text 15"/>
          <p:cNvSpPr txBox="1"/>
          <p:nvPr/>
        </p:nvSpPr>
        <p:spPr>
          <a:xfrm>
            <a:off x="1280160" y="2624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5"/>
                </a:solidFill>
              </a:rPr>
              <a:t>GOVERN</a:t>
            </a:r>
            <a:endParaRPr lang="en-US" sz="1000" dirty="0"/>
          </a:p>
        </p:txBody>
      </p:sp>
      <p:sp>
        <p:nvSpPr>
          <p:cNvPr id="22" name="Text 16"/>
          <p:cNvSpPr txBox="1"/>
          <p:nvPr/>
        </p:nvSpPr>
        <p:spPr>
          <a:xfrm>
            <a:off x="1280160" y="2834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4. Lifecycle governance</a:t>
            </a:r>
            <a:endParaRPr lang="en-US" sz="1300" dirty="0"/>
          </a:p>
        </p:txBody>
      </p:sp>
      <p:sp>
        <p:nvSpPr>
          <p:cNvPr id="23" name="Capability 5"/>
          <p:cNvSpPr/>
          <p:nvPr/>
        </p:nvSpPr>
        <p:spPr>
          <a:xfrm>
            <a:off x="3273552" y="2423160"/>
            <a:ext cx="2596896" cy="960120"/>
          </a:xfrm>
          <a:prstGeom prst="roundRect">
            <a:avLst>
              <a:gd name="adj" fmla="val 9524"/>
            </a:avLst>
          </a:prstGeom>
          <a:solidFill>
            <a:schemeClr val="bg2"/>
          </a:solidFill>
          <a:ln/>
        </p:spPr>
      </p:sp>
      <p:sp>
        <p:nvSpPr>
          <p:cNvPr id="24" name="Capability icon bg 5"/>
          <p:cNvSpPr/>
          <p:nvPr/>
        </p:nvSpPr>
        <p:spPr>
          <a:xfrm>
            <a:off x="3456432" y="2651760"/>
            <a:ext cx="502920" cy="502920"/>
          </a:xfrm>
          <a:prstGeom prst="ellipse">
            <a:avLst/>
          </a:prstGeom>
          <a:solidFill>
            <a:schemeClr val="accent5"/>
          </a:solidFill>
          <a:ln/>
        </p:spPr>
      </p:sp>
      <p:pic>
        <p:nvPicPr>
          <p:cNvPr id="25" name="Image 4" descr="Entra Agent ID">    </p:cNvPr>
          <p:cNvPicPr>
            <a:picLocks noChangeAspect="1"/>
          </p:cNvPicPr>
          <p:nvPr/>
        </p:nvPicPr>
        <p:blipFill>
          <a:blip r:embed="rId5"/>
          <a:stretch>
            <a:fillRect/>
          </a:stretch>
        </p:blipFill>
        <p:spPr>
          <a:xfrm>
            <a:off x="3566160" y="2761488"/>
            <a:ext cx="283464" cy="283464"/>
          </a:xfrm>
          <a:prstGeom prst="rect">
            <a:avLst/>
          </a:prstGeom>
        </p:spPr>
      </p:pic>
      <p:sp>
        <p:nvSpPr>
          <p:cNvPr id="26" name="Text 19"/>
          <p:cNvSpPr txBox="1"/>
          <p:nvPr/>
        </p:nvSpPr>
        <p:spPr>
          <a:xfrm>
            <a:off x="4096512" y="2624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5"/>
                </a:solidFill>
              </a:rPr>
              <a:t>GOVERN</a:t>
            </a:r>
            <a:endParaRPr lang="en-US" sz="1000" dirty="0"/>
          </a:p>
        </p:txBody>
      </p:sp>
      <p:sp>
        <p:nvSpPr>
          <p:cNvPr id="27" name="Text 20"/>
          <p:cNvSpPr txBox="1"/>
          <p:nvPr/>
        </p:nvSpPr>
        <p:spPr>
          <a:xfrm>
            <a:off x="4096512" y="2834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5. Entra Agent ID</a:t>
            </a:r>
            <a:endParaRPr lang="en-US" sz="1300" dirty="0"/>
          </a:p>
        </p:txBody>
      </p:sp>
      <p:sp>
        <p:nvSpPr>
          <p:cNvPr id="28" name="Capability 6"/>
          <p:cNvSpPr/>
          <p:nvPr/>
        </p:nvSpPr>
        <p:spPr>
          <a:xfrm>
            <a:off x="6089904" y="2423160"/>
            <a:ext cx="2596896" cy="960120"/>
          </a:xfrm>
          <a:prstGeom prst="roundRect">
            <a:avLst>
              <a:gd name="adj" fmla="val 9524"/>
            </a:avLst>
          </a:prstGeom>
          <a:solidFill>
            <a:schemeClr val="bg2"/>
          </a:solidFill>
          <a:ln/>
        </p:spPr>
      </p:sp>
      <p:sp>
        <p:nvSpPr>
          <p:cNvPr id="29" name="Capability icon bg 6"/>
          <p:cNvSpPr/>
          <p:nvPr/>
        </p:nvSpPr>
        <p:spPr>
          <a:xfrm>
            <a:off x="6272784" y="2651760"/>
            <a:ext cx="502920" cy="502920"/>
          </a:xfrm>
          <a:prstGeom prst="ellipse">
            <a:avLst/>
          </a:prstGeom>
          <a:solidFill>
            <a:schemeClr val="accent4"/>
          </a:solidFill>
          <a:ln/>
        </p:spPr>
      </p:sp>
      <p:pic>
        <p:nvPicPr>
          <p:cNvPr id="30" name="Image 5" descr="Purview data security">    </p:cNvPr>
          <p:cNvPicPr>
            <a:picLocks noChangeAspect="1"/>
          </p:cNvPicPr>
          <p:nvPr/>
        </p:nvPicPr>
        <p:blipFill>
          <a:blip r:embed="rId6"/>
          <a:stretch>
            <a:fillRect/>
          </a:stretch>
        </p:blipFill>
        <p:spPr>
          <a:xfrm>
            <a:off x="6382512" y="2761488"/>
            <a:ext cx="283464" cy="283464"/>
          </a:xfrm>
          <a:prstGeom prst="rect">
            <a:avLst/>
          </a:prstGeom>
        </p:spPr>
      </p:pic>
      <p:sp>
        <p:nvSpPr>
          <p:cNvPr id="31" name="Text 23"/>
          <p:cNvSpPr txBox="1"/>
          <p:nvPr/>
        </p:nvSpPr>
        <p:spPr>
          <a:xfrm>
            <a:off x="6912864" y="2624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4"/>
                </a:solidFill>
              </a:rPr>
              <a:t>SECURE</a:t>
            </a:r>
            <a:endParaRPr lang="en-US" sz="1000" dirty="0"/>
          </a:p>
        </p:txBody>
      </p:sp>
      <p:sp>
        <p:nvSpPr>
          <p:cNvPr id="32" name="Text 24"/>
          <p:cNvSpPr txBox="1"/>
          <p:nvPr/>
        </p:nvSpPr>
        <p:spPr>
          <a:xfrm>
            <a:off x="6912864" y="2834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6. Purview data security</a:t>
            </a:r>
            <a:endParaRPr lang="en-US" sz="1300" dirty="0"/>
          </a:p>
        </p:txBody>
      </p:sp>
      <p:sp>
        <p:nvSpPr>
          <p:cNvPr id="33" name="Capability 7"/>
          <p:cNvSpPr/>
          <p:nvPr/>
        </p:nvSpPr>
        <p:spPr>
          <a:xfrm>
            <a:off x="457200" y="3566160"/>
            <a:ext cx="2596896" cy="960120"/>
          </a:xfrm>
          <a:prstGeom prst="roundRect">
            <a:avLst>
              <a:gd name="adj" fmla="val 9524"/>
            </a:avLst>
          </a:prstGeom>
          <a:solidFill>
            <a:schemeClr val="bg2"/>
          </a:solidFill>
          <a:ln/>
        </p:spPr>
      </p:sp>
      <p:sp>
        <p:nvSpPr>
          <p:cNvPr id="34" name="Capability icon bg 7"/>
          <p:cNvSpPr/>
          <p:nvPr/>
        </p:nvSpPr>
        <p:spPr>
          <a:xfrm>
            <a:off x="640080" y="3794760"/>
            <a:ext cx="502920" cy="502920"/>
          </a:xfrm>
          <a:prstGeom prst="ellipse">
            <a:avLst/>
          </a:prstGeom>
          <a:solidFill>
            <a:schemeClr val="accent4"/>
          </a:solidFill>
          <a:ln/>
        </p:spPr>
      </p:sp>
      <p:pic>
        <p:nvPicPr>
          <p:cNvPr id="35" name="Image 6" descr="Defender threat protection">    </p:cNvPr>
          <p:cNvPicPr>
            <a:picLocks noChangeAspect="1"/>
          </p:cNvPicPr>
          <p:nvPr/>
        </p:nvPicPr>
        <p:blipFill>
          <a:blip r:embed="rId7"/>
          <a:stretch>
            <a:fillRect/>
          </a:stretch>
        </p:blipFill>
        <p:spPr>
          <a:xfrm>
            <a:off x="749808" y="3904488"/>
            <a:ext cx="283464" cy="283464"/>
          </a:xfrm>
          <a:prstGeom prst="rect">
            <a:avLst/>
          </a:prstGeom>
        </p:spPr>
      </p:pic>
      <p:sp>
        <p:nvSpPr>
          <p:cNvPr id="36" name="Text 27"/>
          <p:cNvSpPr txBox="1"/>
          <p:nvPr/>
        </p:nvSpPr>
        <p:spPr>
          <a:xfrm>
            <a:off x="1280160" y="3767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4"/>
                </a:solidFill>
              </a:rPr>
              <a:t>SECURE</a:t>
            </a:r>
            <a:endParaRPr lang="en-US" sz="1000" dirty="0"/>
          </a:p>
        </p:txBody>
      </p:sp>
      <p:sp>
        <p:nvSpPr>
          <p:cNvPr id="37" name="Text 28"/>
          <p:cNvSpPr txBox="1"/>
          <p:nvPr/>
        </p:nvSpPr>
        <p:spPr>
          <a:xfrm>
            <a:off x="1280160" y="3977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7. Defender threat protection</a:t>
            </a:r>
            <a:endParaRPr lang="en-US" sz="1300" dirty="0"/>
          </a:p>
        </p:txBody>
      </p:sp>
      <p:sp>
        <p:nvSpPr>
          <p:cNvPr id="38" name="Capability 8"/>
          <p:cNvSpPr/>
          <p:nvPr/>
        </p:nvSpPr>
        <p:spPr>
          <a:xfrm>
            <a:off x="3273552" y="3566160"/>
            <a:ext cx="2596896" cy="960120"/>
          </a:xfrm>
          <a:prstGeom prst="roundRect">
            <a:avLst>
              <a:gd name="adj" fmla="val 9524"/>
            </a:avLst>
          </a:prstGeom>
          <a:solidFill>
            <a:schemeClr val="bg2"/>
          </a:solidFill>
          <a:ln/>
        </p:spPr>
      </p:sp>
      <p:sp>
        <p:nvSpPr>
          <p:cNvPr id="39" name="Capability icon bg 8"/>
          <p:cNvSpPr/>
          <p:nvPr/>
        </p:nvSpPr>
        <p:spPr>
          <a:xfrm>
            <a:off x="3456432" y="3794760"/>
            <a:ext cx="502920" cy="502920"/>
          </a:xfrm>
          <a:prstGeom prst="ellipse">
            <a:avLst/>
          </a:prstGeom>
          <a:solidFill>
            <a:schemeClr val="accent2"/>
          </a:solidFill>
          <a:ln/>
        </p:spPr>
      </p:sp>
      <p:pic>
        <p:nvPicPr>
          <p:cNvPr id="40" name="Image 7" descr="Observability &amp; telemetry">    </p:cNvPr>
          <p:cNvPicPr>
            <a:picLocks noChangeAspect="1"/>
          </p:cNvPicPr>
          <p:nvPr/>
        </p:nvPicPr>
        <p:blipFill>
          <a:blip r:embed="rId8"/>
          <a:stretch>
            <a:fillRect/>
          </a:stretch>
        </p:blipFill>
        <p:spPr>
          <a:xfrm>
            <a:off x="3566160" y="3904488"/>
            <a:ext cx="283464" cy="283464"/>
          </a:xfrm>
          <a:prstGeom prst="rect">
            <a:avLst/>
          </a:prstGeom>
        </p:spPr>
      </p:pic>
      <p:sp>
        <p:nvSpPr>
          <p:cNvPr id="41" name="Text 31"/>
          <p:cNvSpPr txBox="1"/>
          <p:nvPr/>
        </p:nvSpPr>
        <p:spPr>
          <a:xfrm>
            <a:off x="4096512" y="3767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OPTIMISE</a:t>
            </a:r>
            <a:endParaRPr lang="en-US" sz="1000" dirty="0"/>
          </a:p>
        </p:txBody>
      </p:sp>
      <p:sp>
        <p:nvSpPr>
          <p:cNvPr id="42" name="Text 32"/>
          <p:cNvSpPr txBox="1"/>
          <p:nvPr/>
        </p:nvSpPr>
        <p:spPr>
          <a:xfrm>
            <a:off x="4096512" y="3977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8. Observability &amp; telemetry</a:t>
            </a:r>
            <a:endParaRPr lang="en-US" sz="1300" dirty="0"/>
          </a:p>
        </p:txBody>
      </p:sp>
      <p:sp>
        <p:nvSpPr>
          <p:cNvPr id="43" name="Capability 9"/>
          <p:cNvSpPr/>
          <p:nvPr/>
        </p:nvSpPr>
        <p:spPr>
          <a:xfrm>
            <a:off x="6089904" y="3566160"/>
            <a:ext cx="2596896" cy="960120"/>
          </a:xfrm>
          <a:prstGeom prst="roundRect">
            <a:avLst>
              <a:gd name="adj" fmla="val 9524"/>
            </a:avLst>
          </a:prstGeom>
          <a:solidFill>
            <a:schemeClr val="bg2"/>
          </a:solidFill>
          <a:ln/>
        </p:spPr>
      </p:sp>
      <p:sp>
        <p:nvSpPr>
          <p:cNvPr id="44" name="Capability icon bg 9"/>
          <p:cNvSpPr/>
          <p:nvPr/>
        </p:nvSpPr>
        <p:spPr>
          <a:xfrm>
            <a:off x="6272784" y="3794760"/>
            <a:ext cx="502920" cy="502920"/>
          </a:xfrm>
          <a:prstGeom prst="ellipse">
            <a:avLst/>
          </a:prstGeom>
          <a:solidFill>
            <a:schemeClr val="accent2"/>
          </a:solidFill>
          <a:ln/>
        </p:spPr>
      </p:sp>
      <p:pic>
        <p:nvPicPr>
          <p:cNvPr id="45" name="Image 8" descr="Interoperability (MCP &amp; SDK)">    </p:cNvPr>
          <p:cNvPicPr>
            <a:picLocks noChangeAspect="1"/>
          </p:cNvPicPr>
          <p:nvPr/>
        </p:nvPicPr>
        <p:blipFill>
          <a:blip r:embed="rId9"/>
          <a:stretch>
            <a:fillRect/>
          </a:stretch>
        </p:blipFill>
        <p:spPr>
          <a:xfrm>
            <a:off x="6382512" y="3904488"/>
            <a:ext cx="283464" cy="283464"/>
          </a:xfrm>
          <a:prstGeom prst="rect">
            <a:avLst/>
          </a:prstGeom>
        </p:spPr>
      </p:pic>
      <p:sp>
        <p:nvSpPr>
          <p:cNvPr id="46" name="Text 35"/>
          <p:cNvSpPr txBox="1"/>
          <p:nvPr/>
        </p:nvSpPr>
        <p:spPr>
          <a:xfrm>
            <a:off x="6912864" y="3767328"/>
            <a:ext cx="1645920"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EXTEND</a:t>
            </a:r>
            <a:endParaRPr lang="en-US" sz="1000" dirty="0"/>
          </a:p>
        </p:txBody>
      </p:sp>
      <p:sp>
        <p:nvSpPr>
          <p:cNvPr id="47" name="Text 36"/>
          <p:cNvSpPr txBox="1"/>
          <p:nvPr/>
        </p:nvSpPr>
        <p:spPr>
          <a:xfrm>
            <a:off x="6912864" y="3977640"/>
            <a:ext cx="1691640" cy="411480"/>
          </a:xfrm>
          <a:prstGeom prst="rect">
            <a:avLst/>
          </a:prstGeom>
          <a:noFill/>
          <a:ln/>
        </p:spPr>
        <p:txBody>
          <a:bodyPr wrap="square" lIns="0" tIns="0" rIns="0" bIns="0" rtlCol="0" anchor="t"/>
          <a:lstStyle/>
          <a:p>
            <a:pPr indent="0" marL="0">
              <a:buNone/>
            </a:pPr>
            <a:r>
              <a:rPr lang="en-US" sz="1300" b="1" dirty="0">
                <a:solidFill>
                  <a:schemeClr val="tx2"/>
                </a:solidFill>
              </a:rPr>
              <a:t>9. Interoperability (MCP &amp; SDK)</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01  ·  OBSERVE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Overview dashboard: our agents at a glance</a:t>
            </a:r>
            <a:endParaRPr lang="en-US" sz="2800" dirty="0"/>
          </a:p>
        </p:txBody>
      </p:sp>
      <p:sp>
        <p:nvSpPr>
          <p:cNvPr id="4" name="Feature icon bg"/>
          <p:cNvSpPr/>
          <p:nvPr/>
        </p:nvSpPr>
        <p:spPr>
          <a:xfrm>
            <a:off x="457200" y="1325880"/>
            <a:ext cx="640080" cy="640080"/>
          </a:xfrm>
          <a:prstGeom prst="ellipse">
            <a:avLst/>
          </a:prstGeom>
          <a:solidFill>
            <a:schemeClr val="accent1"/>
          </a:solidFill>
          <a:ln/>
        </p:spPr>
      </p:sp>
      <p:pic>
        <p:nvPicPr>
          <p:cNvPr id="5" name="Image 0" descr="Overview dashboard">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landing page of Agent 365 in the Microsoft 365 admin center. It summarises the agent inventory, adoption, usage trends and governance status, and highlights items that need admin attention.</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Admin center › Agent 365 › Overview</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One view of health</a:t>
            </a:r>
            <a:endParaRPr lang="en-US" sz="1300" dirty="0"/>
          </a:p>
          <a:p>
            <a:pPr indent="0" marL="0">
              <a:buNone/>
            </a:pPr>
            <a:r>
              <a:rPr lang="en-US" sz="1300" dirty="0">
                <a:solidFill>
                  <a:schemeClr val="bg2"/>
                </a:solidFill>
              </a:rPr>
              <a:t>how many agents we have, how many are active and which need attention.</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Early warning</a:t>
            </a:r>
            <a:endParaRPr lang="en-US" sz="1300" dirty="0"/>
          </a:p>
          <a:p>
            <a:pPr indent="0" marL="0">
              <a:buNone/>
            </a:pPr>
            <a:r>
              <a:rPr lang="en-US" sz="1300" dirty="0">
                <a:solidFill>
                  <a:schemeClr val="bg2"/>
                </a:solidFill>
              </a:rPr>
              <a:t>spot rising adoption, risky or ownerless agents before they become problems.</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Easy reporting</a:t>
            </a:r>
            <a:endParaRPr lang="en-US" sz="1300" dirty="0"/>
          </a:p>
          <a:p>
            <a:pPr indent="0" marL="0">
              <a:buNone/>
            </a:pPr>
            <a:r>
              <a:rPr lang="en-US" sz="1300" dirty="0">
                <a:solidFill>
                  <a:schemeClr val="bg2"/>
                </a:solidFill>
              </a:rPr>
              <a:t>ready-made numbers for leadership and governance boards.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02  ·  OBSERVE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Agent registry: one inventory of every agent</a:t>
            </a:r>
            <a:endParaRPr lang="en-US" sz="2800" dirty="0"/>
          </a:p>
        </p:txBody>
      </p:sp>
      <p:sp>
        <p:nvSpPr>
          <p:cNvPr id="4" name="Feature icon bg"/>
          <p:cNvSpPr/>
          <p:nvPr/>
        </p:nvSpPr>
        <p:spPr>
          <a:xfrm>
            <a:off x="457200" y="1325880"/>
            <a:ext cx="640080" cy="640080"/>
          </a:xfrm>
          <a:prstGeom prst="ellipse">
            <a:avLst/>
          </a:prstGeom>
          <a:solidFill>
            <a:schemeClr val="accent1"/>
          </a:solidFill>
          <a:ln/>
        </p:spPr>
      </p:sp>
      <p:pic>
        <p:nvPicPr>
          <p:cNvPr id="5" name="Image 0" descr="Agent registry">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 single, tenant-wide inventory of all agents – Microsoft, Copilot Studio, third-party and custom. Each entry shows metadata, owner, capabilities, data sources, requested permissions, risk signals and usage. Copilot Studio agents register automatically. It replaced the Entra registry in 2026.</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Admin center › Agent 365 › Agent registry</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No more shadow AI</a:t>
            </a:r>
            <a:endParaRPr lang="en-US" sz="1300" dirty="0"/>
          </a:p>
          <a:p>
            <a:pPr indent="0" marL="0">
              <a:buNone/>
            </a:pPr>
            <a:r>
              <a:rPr lang="en-US" sz="1300" dirty="0">
                <a:solidFill>
                  <a:schemeClr val="bg2"/>
                </a:solidFill>
              </a:rPr>
              <a:t>every agent is discovered and listed, regardless of where it was built.</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Accountability</a:t>
            </a:r>
            <a:endParaRPr lang="en-US" sz="1300" dirty="0"/>
          </a:p>
          <a:p>
            <a:pPr indent="0" marL="0">
              <a:buNone/>
            </a:pPr>
            <a:r>
              <a:rPr lang="en-US" sz="1300" dirty="0">
                <a:solidFill>
                  <a:schemeClr val="bg2"/>
                </a:solidFill>
              </a:rPr>
              <a:t>ownerless agents (creator left) are flagged so we can reassign them.</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Risk at a glance</a:t>
            </a:r>
            <a:endParaRPr lang="en-US" sz="1300" dirty="0"/>
          </a:p>
          <a:p>
            <a:pPr indent="0" marL="0">
              <a:buNone/>
            </a:pPr>
            <a:r>
              <a:rPr lang="en-US" sz="1300" dirty="0">
                <a:solidFill>
                  <a:schemeClr val="bg2"/>
                </a:solidFill>
              </a:rPr>
              <a:t>a Risks column brings high-severity Entra alerts per agent.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1"/>
                </a:solidFill>
              </a:rPr>
              <a:t>03  ·  OBSERVE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Agent Map: visualise how agents spread</a:t>
            </a:r>
            <a:endParaRPr lang="en-US" sz="2800" dirty="0"/>
          </a:p>
        </p:txBody>
      </p:sp>
      <p:sp>
        <p:nvSpPr>
          <p:cNvPr id="4" name="Feature icon bg"/>
          <p:cNvSpPr/>
          <p:nvPr/>
        </p:nvSpPr>
        <p:spPr>
          <a:xfrm>
            <a:off x="457200" y="1325880"/>
            <a:ext cx="640080" cy="640080"/>
          </a:xfrm>
          <a:prstGeom prst="ellipse">
            <a:avLst/>
          </a:prstGeom>
          <a:solidFill>
            <a:schemeClr val="accent1"/>
          </a:solidFill>
          <a:ln/>
        </p:spPr>
      </p:sp>
      <p:pic>
        <p:nvPicPr>
          <p:cNvPr id="5" name="Image 0" descr="Agent Map">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 visual map of the agents in our tenant, grouped by the platform they were built on. Filter by status, publisher type, platform, channel, data source or usage, then drill into an agent for ownership, configuration and activity.</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Admin center › Agent 365 › Agent Map</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Understand scale</a:t>
            </a:r>
            <a:endParaRPr lang="en-US" sz="1300" dirty="0"/>
          </a:p>
          <a:p>
            <a:pPr indent="0" marL="0">
              <a:buNone/>
            </a:pPr>
            <a:r>
              <a:rPr lang="en-US" sz="1300" dirty="0">
                <a:solidFill>
                  <a:schemeClr val="bg2"/>
                </a:solidFill>
              </a:rPr>
              <a:t>make sense of hundreds of agents without reading long lists.</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Find patterns</a:t>
            </a:r>
            <a:endParaRPr lang="en-US" sz="1300" dirty="0"/>
          </a:p>
          <a:p>
            <a:pPr indent="0" marL="0">
              <a:buNone/>
            </a:pPr>
            <a:r>
              <a:rPr lang="en-US" sz="1300" dirty="0">
                <a:solidFill>
                  <a:schemeClr val="bg2"/>
                </a:solidFill>
              </a:rPr>
              <a:t>see which platforms, channels and data sources are used most.</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Tell the story</a:t>
            </a:r>
            <a:endParaRPr lang="en-US" sz="1300" dirty="0"/>
          </a:p>
          <a:p>
            <a:pPr indent="0" marL="0">
              <a:buNone/>
            </a:pPr>
            <a:r>
              <a:rPr lang="en-US" sz="1300" dirty="0">
                <a:solidFill>
                  <a:schemeClr val="bg2"/>
                </a:solidFill>
              </a:rPr>
              <a:t>a clear picture for stakeholders and security reviews.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5"/>
                </a:solidFill>
              </a:rPr>
              <a:t>04  ·  GOVERN</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Lifecycle: from request to retirement</a:t>
            </a:r>
            <a:endParaRPr lang="en-US" sz="2800" dirty="0"/>
          </a:p>
        </p:txBody>
      </p:sp>
      <p:sp>
        <p:nvSpPr>
          <p:cNvPr id="4" name="Feature icon bg"/>
          <p:cNvSpPr/>
          <p:nvPr/>
        </p:nvSpPr>
        <p:spPr>
          <a:xfrm>
            <a:off x="457200" y="1325880"/>
            <a:ext cx="640080" cy="640080"/>
          </a:xfrm>
          <a:prstGeom prst="ellipse">
            <a:avLst/>
          </a:prstGeom>
          <a:solidFill>
            <a:schemeClr val="accent5"/>
          </a:solidFill>
          <a:ln/>
        </p:spPr>
      </p:sp>
      <p:pic>
        <p:nvPicPr>
          <p:cNvPr id="5" name="Image 0" descr="Lifecycle governance">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Admin actions on every agent from the registry: approve and publish, deploy and pin for users or groups, block, remove, delete and reassign ownership. Blocking stops users from installing or using the agent in Microsoft 365 experiences.</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Admin center › Agent 365 › Agent registry › select agent</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Only approved agents</a:t>
            </a:r>
            <a:endParaRPr lang="en-US" sz="1300" dirty="0"/>
          </a:p>
          <a:p>
            <a:pPr indent="0" marL="0">
              <a:buNone/>
            </a:pPr>
            <a:r>
              <a:rPr lang="en-US" sz="1300" dirty="0">
                <a:solidFill>
                  <a:schemeClr val="bg2"/>
                </a:solidFill>
              </a:rPr>
              <a:t>users get agents we have reviewed and published.</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Fast response</a:t>
            </a:r>
            <a:endParaRPr lang="en-US" sz="1300" dirty="0"/>
          </a:p>
          <a:p>
            <a:pPr indent="0" marL="0">
              <a:buNone/>
            </a:pPr>
            <a:r>
              <a:rPr lang="en-US" sz="1300" dirty="0">
                <a:solidFill>
                  <a:schemeClr val="bg2"/>
                </a:solidFill>
              </a:rPr>
              <a:t>block a risky or broken agent for everyone in one click.</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Continuity</a:t>
            </a:r>
            <a:endParaRPr lang="en-US" sz="1300" dirty="0"/>
          </a:p>
          <a:p>
            <a:pPr indent="0" marL="0">
              <a:buNone/>
            </a:pPr>
            <a:r>
              <a:rPr lang="en-US" sz="1300" dirty="0">
                <a:solidFill>
                  <a:schemeClr val="bg2"/>
                </a:solidFill>
              </a:rPr>
              <a:t>reassign agents when owners change role or leave.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5"/>
                </a:solidFill>
              </a:rPr>
              <a:t>05  ·  GOVERN</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Entra Agent ID: every agent gets an identity</a:t>
            </a:r>
            <a:endParaRPr lang="en-US" sz="2800" dirty="0"/>
          </a:p>
        </p:txBody>
      </p:sp>
      <p:sp>
        <p:nvSpPr>
          <p:cNvPr id="4" name="Feature icon bg"/>
          <p:cNvSpPr/>
          <p:nvPr/>
        </p:nvSpPr>
        <p:spPr>
          <a:xfrm>
            <a:off x="457200" y="1325880"/>
            <a:ext cx="640080" cy="640080"/>
          </a:xfrm>
          <a:prstGeom prst="ellipse">
            <a:avLst/>
          </a:prstGeom>
          <a:solidFill>
            <a:schemeClr val="accent5"/>
          </a:solidFill>
          <a:ln/>
        </p:spPr>
      </p:sp>
      <p:pic>
        <p:nvPicPr>
          <p:cNvPr id="5" name="Image 0" descr="Entra Agent ID">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Microsoft Entra gives each agent its own identity – like a user account for the agent. We can apply Conditional Access, risk-based access, least-privilege permissions, access reviews and sponsors/owners, and see sign-in logs.</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Entra admin center › Agent ID</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Zero Trust for agents</a:t>
            </a:r>
            <a:endParaRPr lang="en-US" sz="1300" dirty="0"/>
          </a:p>
          <a:p>
            <a:pPr indent="0" marL="0">
              <a:buNone/>
            </a:pPr>
            <a:r>
              <a:rPr lang="en-US" sz="1300" dirty="0">
                <a:solidFill>
                  <a:schemeClr val="bg2"/>
                </a:solidFill>
              </a:rPr>
              <a:t>the same identity controls we use for people.</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Least privilege</a:t>
            </a:r>
            <a:endParaRPr lang="en-US" sz="1300" dirty="0"/>
          </a:p>
          <a:p>
            <a:pPr indent="0" marL="0">
              <a:buNone/>
            </a:pPr>
            <a:r>
              <a:rPr lang="en-US" sz="1300" dirty="0">
                <a:solidFill>
                  <a:schemeClr val="bg2"/>
                </a:solidFill>
              </a:rPr>
              <a:t>agents only reach the data and apps they really need.</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Clear audit trail</a:t>
            </a:r>
            <a:endParaRPr lang="en-US" sz="1300" dirty="0"/>
          </a:p>
          <a:p>
            <a:pPr indent="0" marL="0">
              <a:buNone/>
            </a:pPr>
            <a:r>
              <a:rPr lang="en-US" sz="1300" dirty="0">
                <a:solidFill>
                  <a:schemeClr val="bg2"/>
                </a:solidFill>
              </a:rPr>
              <a:t>every agent sign-in and action is attributable.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4"/>
                </a:solidFill>
              </a:rPr>
              <a:t>06  ·  SECURE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Purview: protect the data agents touch</a:t>
            </a:r>
            <a:endParaRPr lang="en-US" sz="2800" dirty="0"/>
          </a:p>
        </p:txBody>
      </p:sp>
      <p:sp>
        <p:nvSpPr>
          <p:cNvPr id="4" name="Feature icon bg"/>
          <p:cNvSpPr/>
          <p:nvPr/>
        </p:nvSpPr>
        <p:spPr>
          <a:xfrm>
            <a:off x="457200" y="1325880"/>
            <a:ext cx="640080" cy="640080"/>
          </a:xfrm>
          <a:prstGeom prst="ellipse">
            <a:avLst/>
          </a:prstGeom>
          <a:solidFill>
            <a:schemeClr val="accent4"/>
          </a:solidFill>
          <a:ln/>
        </p:spPr>
      </p:sp>
      <p:pic>
        <p:nvPicPr>
          <p:cNvPr id="5" name="Image 0" descr="Purview data security">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Microsoft Purview applies our existing data security and compliance to agents: sensitivity labels, data loss prevention, audit, data security posture for AI, retention and eDiscovery of agent interactions.</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Purview portal › DSPM for AI, DLP, Audit</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Stop oversharing</a:t>
            </a:r>
            <a:endParaRPr lang="en-US" sz="1300" dirty="0"/>
          </a:p>
          <a:p>
            <a:pPr indent="0" marL="0">
              <a:buNone/>
            </a:pPr>
            <a:r>
              <a:rPr lang="en-US" sz="1300" dirty="0">
                <a:solidFill>
                  <a:schemeClr val="bg2"/>
                </a:solidFill>
              </a:rPr>
              <a:t>agents respect labels and DLP, so confidential data stays protected.</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Compliance ready</a:t>
            </a:r>
            <a:endParaRPr lang="en-US" sz="1300" dirty="0"/>
          </a:p>
          <a:p>
            <a:pPr indent="0" marL="0">
              <a:buNone/>
            </a:pPr>
            <a:r>
              <a:rPr lang="en-US" sz="1300" dirty="0">
                <a:solidFill>
                  <a:schemeClr val="bg2"/>
                </a:solidFill>
              </a:rPr>
              <a:t>agent activity is audited and retained for regulators.</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Reuse what we have</a:t>
            </a:r>
            <a:endParaRPr lang="en-US" sz="1300" dirty="0"/>
          </a:p>
          <a:p>
            <a:pPr indent="0" marL="0">
              <a:buNone/>
            </a:pPr>
            <a:r>
              <a:rPr lang="en-US" sz="1300" dirty="0">
                <a:solidFill>
                  <a:schemeClr val="bg2"/>
                </a:solidFill>
              </a:rPr>
              <a:t>no new policy set – we extend today's Purview policies.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4"/>
                </a:solidFill>
              </a:rPr>
              <a:t>07  ·  SECURE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Defender: detect and stop agent threats</a:t>
            </a:r>
            <a:endParaRPr lang="en-US" sz="2800" dirty="0"/>
          </a:p>
        </p:txBody>
      </p:sp>
      <p:sp>
        <p:nvSpPr>
          <p:cNvPr id="4" name="Feature icon bg"/>
          <p:cNvSpPr/>
          <p:nvPr/>
        </p:nvSpPr>
        <p:spPr>
          <a:xfrm>
            <a:off x="457200" y="1325880"/>
            <a:ext cx="640080" cy="640080"/>
          </a:xfrm>
          <a:prstGeom prst="ellipse">
            <a:avLst/>
          </a:prstGeom>
          <a:solidFill>
            <a:schemeClr val="accent4"/>
          </a:solidFill>
          <a:ln/>
        </p:spPr>
      </p:sp>
      <p:pic>
        <p:nvPicPr>
          <p:cNvPr id="5" name="Image 0" descr="Defender threat protection">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Microsoft Defender adds continuous threat detection and real-time protection for agents – for example prompt-injection attempts, unusual behaviour or a compromised agent – with incidents investigated in Defender XDR.</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Defender portal › Incidents &amp; alerts, AI security posture</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SOC visibility</a:t>
            </a:r>
            <a:endParaRPr lang="en-US" sz="1300" dirty="0"/>
          </a:p>
          <a:p>
            <a:pPr indent="0" marL="0">
              <a:buNone/>
            </a:pPr>
            <a:r>
              <a:rPr lang="en-US" sz="1300" dirty="0">
                <a:solidFill>
                  <a:schemeClr val="bg2"/>
                </a:solidFill>
              </a:rPr>
              <a:t>agent threats appear next to user, device and email threats.</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Real-time protection</a:t>
            </a:r>
            <a:endParaRPr lang="en-US" sz="1300" dirty="0"/>
          </a:p>
          <a:p>
            <a:pPr indent="0" marL="0">
              <a:buNone/>
            </a:pPr>
            <a:r>
              <a:rPr lang="en-US" sz="1300" dirty="0">
                <a:solidFill>
                  <a:schemeClr val="bg2"/>
                </a:solidFill>
              </a:rPr>
              <a:t>unsafe agent actions can be detected and blocked.</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Faster response</a:t>
            </a:r>
            <a:endParaRPr lang="en-US" sz="1300" dirty="0"/>
          </a:p>
          <a:p>
            <a:pPr indent="0" marL="0">
              <a:buNone/>
            </a:pPr>
            <a:r>
              <a:rPr lang="en-US" sz="1300" dirty="0">
                <a:solidFill>
                  <a:schemeClr val="bg2"/>
                </a:solidFill>
              </a:rPr>
              <a:t>investigate and contain an agent like any other asset.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08  ·  OPTIMISE</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Observability: usage, health and value</a:t>
            </a:r>
            <a:endParaRPr lang="en-US" sz="2800" dirty="0"/>
          </a:p>
        </p:txBody>
      </p:sp>
      <p:sp>
        <p:nvSpPr>
          <p:cNvPr id="4" name="Feature icon bg"/>
          <p:cNvSpPr/>
          <p:nvPr/>
        </p:nvSpPr>
        <p:spPr>
          <a:xfrm>
            <a:off x="457200" y="1325880"/>
            <a:ext cx="640080" cy="640080"/>
          </a:xfrm>
          <a:prstGeom prst="ellipse">
            <a:avLst/>
          </a:prstGeom>
          <a:solidFill>
            <a:schemeClr val="accent2"/>
          </a:solidFill>
          <a:ln/>
        </p:spPr>
      </p:sp>
      <p:pic>
        <p:nvPicPr>
          <p:cNvPr id="5" name="Image 0" descr="Observability &amp; telemetry">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Agent 365 collects telemetry on every agent – activity, usage, errors and performance. Agents built with the Agent 365 SDK send detailed traces, and the data feeds the registry, Agent Map and dashboard.</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Admin center › Agent 365 › Agent registry › agent details</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Prove ROI</a:t>
            </a:r>
            <a:endParaRPr lang="en-US" sz="1300" dirty="0"/>
          </a:p>
          <a:p>
            <a:pPr indent="0" marL="0">
              <a:buNone/>
            </a:pPr>
            <a:r>
              <a:rPr lang="en-US" sz="1300" dirty="0">
                <a:solidFill>
                  <a:schemeClr val="bg2"/>
                </a:solidFill>
              </a:rPr>
              <a:t>see which agents are actually used and by whom.</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Fix issues quickly</a:t>
            </a:r>
            <a:endParaRPr lang="en-US" sz="1300" dirty="0"/>
          </a:p>
          <a:p>
            <a:pPr indent="0" marL="0">
              <a:buNone/>
            </a:pPr>
            <a:r>
              <a:rPr lang="en-US" sz="1300" dirty="0">
                <a:solidFill>
                  <a:schemeClr val="bg2"/>
                </a:solidFill>
              </a:rPr>
              <a:t>error and health signals help makers and IT troubleshoot.</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Control cost</a:t>
            </a:r>
            <a:endParaRPr lang="en-US" sz="1300" dirty="0"/>
          </a:p>
          <a:p>
            <a:pPr indent="0" marL="0">
              <a:buNone/>
            </a:pPr>
            <a:r>
              <a:rPr lang="en-US" sz="1300" dirty="0">
                <a:solidFill>
                  <a:schemeClr val="bg2"/>
                </a:solidFill>
              </a:rPr>
              <a:t>retire unused agents and invest in the ones that work.</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3657600"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09  ·  EXTEND</a:t>
            </a:r>
            <a:endParaRPr lang="en-US" sz="1000" dirty="0"/>
          </a:p>
        </p:txBody>
      </p:sp>
      <p:sp>
        <p:nvSpPr>
          <p:cNvPr id="3"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Interoperability: build anywhere, work in M365</a:t>
            </a:r>
            <a:endParaRPr lang="en-US" sz="2800" dirty="0"/>
          </a:p>
        </p:txBody>
      </p:sp>
      <p:sp>
        <p:nvSpPr>
          <p:cNvPr id="4" name="Feature icon bg"/>
          <p:cNvSpPr/>
          <p:nvPr/>
        </p:nvSpPr>
        <p:spPr>
          <a:xfrm>
            <a:off x="457200" y="1325880"/>
            <a:ext cx="640080" cy="640080"/>
          </a:xfrm>
          <a:prstGeom prst="ellipse">
            <a:avLst/>
          </a:prstGeom>
          <a:solidFill>
            <a:schemeClr val="accent2"/>
          </a:solidFill>
          <a:ln/>
        </p:spPr>
      </p:sp>
      <p:pic>
        <p:nvPicPr>
          <p:cNvPr id="5" name="Image 0" descr="Interoperability (MCP &amp; SDK)">    </p:cNvPr>
          <p:cNvPicPr>
            <a:picLocks noChangeAspect="1"/>
          </p:cNvPicPr>
          <p:nvPr/>
        </p:nvPicPr>
        <p:blipFill>
          <a:blip r:embed="rId1"/>
          <a:stretch>
            <a:fillRect/>
          </a:stretch>
        </p:blipFill>
        <p:spPr>
          <a:xfrm>
            <a:off x="594360" y="1463040"/>
            <a:ext cx="365760" cy="365760"/>
          </a:xfrm>
          <a:prstGeom prst="rect">
            <a:avLst/>
          </a:prstGeom>
        </p:spPr>
      </p:pic>
      <p:sp>
        <p:nvSpPr>
          <p:cNvPr id="6" name="Text 3"/>
          <p:cNvSpPr txBox="1"/>
          <p:nvPr/>
        </p:nvSpPr>
        <p:spPr>
          <a:xfrm>
            <a:off x="1280160" y="1325880"/>
            <a:ext cx="2926080" cy="640080"/>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Text 4"/>
          <p:cNvSpPr txBox="1"/>
          <p:nvPr/>
        </p:nvSpPr>
        <p:spPr>
          <a:xfrm>
            <a:off x="457200" y="2148840"/>
            <a:ext cx="3840480" cy="17830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Agent 365 is a control plane for agents however they are built or bought. Agentic tools expose MCP servers and SDKs for Outlook, Teams, SharePoint and business systems, so agents can act in Microsoft 365 under the same governance.</a:t>
            </a:r>
            <a:endParaRPr lang="en-US" sz="1400" dirty="0"/>
          </a:p>
        </p:txBody>
      </p:sp>
      <p:sp>
        <p:nvSpPr>
          <p:cNvPr id="8" name="Portal path chip"/>
          <p:cNvSpPr/>
          <p:nvPr/>
        </p:nvSpPr>
        <p:spPr>
          <a:xfrm>
            <a:off x="457200" y="4069080"/>
            <a:ext cx="3840480" cy="457200"/>
          </a:xfrm>
          <a:prstGeom prst="roundRect">
            <a:avLst>
              <a:gd name="adj" fmla="val 50000"/>
            </a:avLst>
          </a:prstGeom>
          <a:solidFill>
            <a:schemeClr val="bg2"/>
          </a:solidFill>
          <a:ln/>
        </p:spPr>
      </p:sp>
      <p:pic>
        <p:nvPicPr>
          <p:cNvPr id="9" name="Image 1" descr="Location">    </p:cNvPr>
          <p:cNvPicPr>
            <a:picLocks noChangeAspect="1"/>
          </p:cNvPicPr>
          <p:nvPr/>
        </p:nvPicPr>
        <p:blipFill>
          <a:blip r:embed="rId2"/>
          <a:stretch>
            <a:fillRect/>
          </a:stretch>
        </p:blipFill>
        <p:spPr>
          <a:xfrm>
            <a:off x="594360" y="4160520"/>
            <a:ext cx="274320" cy="274320"/>
          </a:xfrm>
          <a:prstGeom prst="rect">
            <a:avLst/>
          </a:prstGeom>
        </p:spPr>
      </p:pic>
      <p:sp>
        <p:nvSpPr>
          <p:cNvPr id="10" name="Text 6"/>
          <p:cNvSpPr txBox="1"/>
          <p:nvPr/>
        </p:nvSpPr>
        <p:spPr>
          <a:xfrm>
            <a:off x="960120" y="4069080"/>
            <a:ext cx="3246120" cy="457200"/>
          </a:xfrm>
          <a:prstGeom prst="rect">
            <a:avLst/>
          </a:prstGeom>
          <a:noFill/>
          <a:ln/>
        </p:spPr>
        <p:txBody>
          <a:bodyPr wrap="square" lIns="0" tIns="0" rIns="0" bIns="0" rtlCol="0" anchor="ctr"/>
          <a:lstStyle/>
          <a:p>
            <a:pPr indent="0" marL="0">
              <a:buNone/>
            </a:pPr>
            <a:r>
              <a:rPr lang="en-US" sz="1100" dirty="0">
                <a:solidFill>
                  <a:schemeClr val="tx2"/>
                </a:solidFill>
              </a:rPr>
              <a:t>Agent 365 SDK &amp; MCP tools (developer), registry (admin)</a:t>
            </a:r>
            <a:endParaRPr lang="en-US" sz="1100" dirty="0"/>
          </a:p>
        </p:txBody>
      </p:sp>
      <p:sp>
        <p:nvSpPr>
          <p:cNvPr id="11" name="Benefits card"/>
          <p:cNvSpPr/>
          <p:nvPr/>
        </p:nvSpPr>
        <p:spPr>
          <a:xfrm>
            <a:off x="4663440" y="1325880"/>
            <a:ext cx="4023360" cy="3200400"/>
          </a:xfrm>
          <a:prstGeom prst="roundRect">
            <a:avLst>
              <a:gd name="adj" fmla="val 3429"/>
            </a:avLst>
          </a:prstGeom>
          <a:solidFill>
            <a:schemeClr val="tx2"/>
          </a:solidFill>
          <a:ln/>
        </p:spPr>
      </p:sp>
      <p:sp>
        <p:nvSpPr>
          <p:cNvPr id="12" name="Text 8"/>
          <p:cNvSpPr txBox="1"/>
          <p:nvPr/>
        </p:nvSpPr>
        <p:spPr>
          <a:xfrm>
            <a:off x="4937760" y="1463040"/>
            <a:ext cx="3566160" cy="457200"/>
          </a:xfrm>
          <a:prstGeom prst="rect">
            <a:avLst/>
          </a:prstGeom>
          <a:noFill/>
          <a:ln/>
        </p:spPr>
        <p:txBody>
          <a:bodyPr wrap="square" lIns="0" tIns="0" rIns="0" bIns="0" rtlCol="0" anchor="ctr"/>
          <a:lstStyle/>
          <a:p>
            <a:pPr indent="0" marL="0">
              <a:buNone/>
            </a:pPr>
            <a:r>
              <a:rPr lang="en-US" sz="1800" b="1" dirty="0">
                <a:solidFill>
                  <a:schemeClr val="bg1"/>
                </a:solidFill>
              </a:rPr>
              <a:t>What it brings us</a:t>
            </a:r>
            <a:endParaRPr lang="en-US" sz="1800" dirty="0"/>
          </a:p>
        </p:txBody>
      </p:sp>
      <p:pic>
        <p:nvPicPr>
          <p:cNvPr id="13" name="Image 2" descr="Benefit">    </p:cNvPr>
          <p:cNvPicPr>
            <a:picLocks noChangeAspect="1"/>
          </p:cNvPicPr>
          <p:nvPr/>
        </p:nvPicPr>
        <p:blipFill>
          <a:blip r:embed="rId3"/>
          <a:stretch>
            <a:fillRect/>
          </a:stretch>
        </p:blipFill>
        <p:spPr>
          <a:xfrm>
            <a:off x="4937760" y="2084832"/>
            <a:ext cx="256032" cy="256032"/>
          </a:xfrm>
          <a:prstGeom prst="rect">
            <a:avLst/>
          </a:prstGeom>
        </p:spPr>
      </p:pic>
      <p:sp>
        <p:nvSpPr>
          <p:cNvPr id="14" name="Text 9"/>
          <p:cNvSpPr txBox="1"/>
          <p:nvPr/>
        </p:nvSpPr>
        <p:spPr>
          <a:xfrm>
            <a:off x="5349240" y="2057400"/>
            <a:ext cx="3154680" cy="731520"/>
          </a:xfrm>
          <a:prstGeom prst="rect">
            <a:avLst/>
          </a:prstGeom>
          <a:noFill/>
          <a:ln/>
        </p:spPr>
        <p:txBody>
          <a:bodyPr wrap="square" lIns="0" tIns="0" rIns="0" bIns="0" rtlCol="0" anchor="t"/>
          <a:lstStyle/>
          <a:p>
            <a:pPr indent="0" marL="0">
              <a:buNone/>
            </a:pPr>
            <a:r>
              <a:rPr lang="en-US" sz="1300" b="1" dirty="0">
                <a:solidFill>
                  <a:schemeClr val="bg1"/>
                </a:solidFill>
              </a:rPr>
              <a:t>No lock-in</a:t>
            </a:r>
            <a:endParaRPr lang="en-US" sz="1300" dirty="0"/>
          </a:p>
          <a:p>
            <a:pPr indent="0" marL="0">
              <a:buNone/>
            </a:pPr>
            <a:r>
              <a:rPr lang="en-US" sz="1300" dirty="0">
                <a:solidFill>
                  <a:schemeClr val="bg2"/>
                </a:solidFill>
              </a:rPr>
              <a:t>Copilot Studio, Foundry, third-party and custom agents are all governed.</a:t>
            </a:r>
            <a:endParaRPr lang="en-US" sz="1300" dirty="0"/>
          </a:p>
        </p:txBody>
      </p:sp>
      <p:pic>
        <p:nvPicPr>
          <p:cNvPr id="15" name="Image 3" descr="Benefit">    </p:cNvPr>
          <p:cNvPicPr>
            <a:picLocks noChangeAspect="1"/>
          </p:cNvPicPr>
          <p:nvPr/>
        </p:nvPicPr>
        <p:blipFill>
          <a:blip r:embed="rId4"/>
          <a:stretch>
            <a:fillRect/>
          </a:stretch>
        </p:blipFill>
        <p:spPr>
          <a:xfrm>
            <a:off x="4937760" y="2889504"/>
            <a:ext cx="256032" cy="256032"/>
          </a:xfrm>
          <a:prstGeom prst="rect">
            <a:avLst/>
          </a:prstGeom>
        </p:spPr>
      </p:pic>
      <p:sp>
        <p:nvSpPr>
          <p:cNvPr id="16" name="Text 10"/>
          <p:cNvSpPr txBox="1"/>
          <p:nvPr/>
        </p:nvSpPr>
        <p:spPr>
          <a:xfrm>
            <a:off x="5349240" y="2862072"/>
            <a:ext cx="3154680" cy="731520"/>
          </a:xfrm>
          <a:prstGeom prst="rect">
            <a:avLst/>
          </a:prstGeom>
          <a:noFill/>
          <a:ln/>
        </p:spPr>
        <p:txBody>
          <a:bodyPr wrap="square" lIns="0" tIns="0" rIns="0" bIns="0" rtlCol="0" anchor="t"/>
          <a:lstStyle/>
          <a:p>
            <a:pPr indent="0" marL="0">
              <a:buNone/>
            </a:pPr>
            <a:r>
              <a:rPr lang="en-US" sz="1300" b="1" dirty="0">
                <a:solidFill>
                  <a:schemeClr val="bg1"/>
                </a:solidFill>
              </a:rPr>
              <a:t>Agents in the flow of work</a:t>
            </a:r>
            <a:endParaRPr lang="en-US" sz="1300" dirty="0"/>
          </a:p>
          <a:p>
            <a:pPr indent="0" marL="0">
              <a:buNone/>
            </a:pPr>
            <a:r>
              <a:rPr lang="en-US" sz="1300" dirty="0">
                <a:solidFill>
                  <a:schemeClr val="bg2"/>
                </a:solidFill>
              </a:rPr>
              <a:t>agents join Teams, mail and documents like a colleague.</a:t>
            </a:r>
            <a:endParaRPr lang="en-US" sz="1300" dirty="0"/>
          </a:p>
        </p:txBody>
      </p:sp>
      <p:pic>
        <p:nvPicPr>
          <p:cNvPr id="17" name="Image 4" descr="Benefit">    </p:cNvPr>
          <p:cNvPicPr>
            <a:picLocks noChangeAspect="1"/>
          </p:cNvPicPr>
          <p:nvPr/>
        </p:nvPicPr>
        <p:blipFill>
          <a:blip r:embed="rId5"/>
          <a:stretch>
            <a:fillRect/>
          </a:stretch>
        </p:blipFill>
        <p:spPr>
          <a:xfrm>
            <a:off x="4937760" y="3694176"/>
            <a:ext cx="256032" cy="256032"/>
          </a:xfrm>
          <a:prstGeom prst="rect">
            <a:avLst/>
          </a:prstGeom>
        </p:spPr>
      </p:pic>
      <p:sp>
        <p:nvSpPr>
          <p:cNvPr id="18" name="Text 11"/>
          <p:cNvSpPr txBox="1"/>
          <p:nvPr/>
        </p:nvSpPr>
        <p:spPr>
          <a:xfrm>
            <a:off x="5349240" y="3666744"/>
            <a:ext cx="3154680" cy="731520"/>
          </a:xfrm>
          <a:prstGeom prst="rect">
            <a:avLst/>
          </a:prstGeom>
          <a:noFill/>
          <a:ln/>
        </p:spPr>
        <p:txBody>
          <a:bodyPr wrap="square" lIns="0" tIns="0" rIns="0" bIns="0" rtlCol="0" anchor="t"/>
          <a:lstStyle/>
          <a:p>
            <a:pPr indent="0" marL="0">
              <a:buNone/>
            </a:pPr>
            <a:r>
              <a:rPr lang="en-US" sz="1300" b="1" dirty="0">
                <a:solidFill>
                  <a:schemeClr val="bg1"/>
                </a:solidFill>
              </a:rPr>
              <a:t>Consistent controls</a:t>
            </a:r>
            <a:endParaRPr lang="en-US" sz="1300" dirty="0"/>
          </a:p>
          <a:p>
            <a:pPr indent="0" marL="0">
              <a:buNone/>
            </a:pPr>
            <a:r>
              <a:rPr lang="en-US" sz="1300" dirty="0">
                <a:solidFill>
                  <a:schemeClr val="bg2"/>
                </a:solidFill>
              </a:rPr>
              <a:t>one set of policies, whatever the agent was built with.</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Before we start: licensing and prerequisites</a:t>
            </a:r>
            <a:endParaRPr lang="en-US" sz="2800" dirty="0"/>
          </a:p>
        </p:txBody>
      </p:sp>
      <p:sp>
        <p:nvSpPr>
          <p:cNvPr id="3" name="Prereq row 1"/>
          <p:cNvSpPr/>
          <p:nvPr/>
        </p:nvSpPr>
        <p:spPr>
          <a:xfrm>
            <a:off x="457200" y="1280160"/>
            <a:ext cx="8229600" cy="960120"/>
          </a:xfrm>
          <a:prstGeom prst="roundRect">
            <a:avLst>
              <a:gd name="adj" fmla="val 9524"/>
            </a:avLst>
          </a:prstGeom>
          <a:solidFill>
            <a:schemeClr val="bg2"/>
          </a:solidFill>
          <a:ln/>
        </p:spPr>
      </p:sp>
      <p:sp>
        <p:nvSpPr>
          <p:cNvPr id="4" name="Prereq icon bg 1"/>
          <p:cNvSpPr/>
          <p:nvPr/>
        </p:nvSpPr>
        <p:spPr>
          <a:xfrm>
            <a:off x="658368" y="1508760"/>
            <a:ext cx="502920" cy="502920"/>
          </a:xfrm>
          <a:prstGeom prst="ellipse">
            <a:avLst/>
          </a:prstGeom>
          <a:solidFill>
            <a:schemeClr val="accent3"/>
          </a:solidFill>
          <a:ln/>
        </p:spPr>
      </p:sp>
      <p:pic>
        <p:nvPicPr>
          <p:cNvPr id="5" name="Image 0" descr="Licensing">    </p:cNvPr>
          <p:cNvPicPr>
            <a:picLocks noChangeAspect="1"/>
          </p:cNvPicPr>
          <p:nvPr/>
        </p:nvPicPr>
        <p:blipFill>
          <a:blip r:embed="rId1"/>
          <a:stretch>
            <a:fillRect/>
          </a:stretch>
        </p:blipFill>
        <p:spPr>
          <a:xfrm>
            <a:off x="768096" y="1618488"/>
            <a:ext cx="283464" cy="283464"/>
          </a:xfrm>
          <a:prstGeom prst="rect">
            <a:avLst/>
          </a:prstGeom>
        </p:spPr>
      </p:pic>
      <p:sp>
        <p:nvSpPr>
          <p:cNvPr id="6" name="Text 3"/>
          <p:cNvSpPr txBox="1"/>
          <p:nvPr/>
        </p:nvSpPr>
        <p:spPr>
          <a:xfrm>
            <a:off x="1371600" y="1280160"/>
            <a:ext cx="1554480" cy="960120"/>
          </a:xfrm>
          <a:prstGeom prst="rect">
            <a:avLst/>
          </a:prstGeom>
          <a:noFill/>
          <a:ln/>
        </p:spPr>
        <p:txBody>
          <a:bodyPr wrap="square" lIns="0" tIns="0" rIns="0" bIns="0" rtlCol="0" anchor="ctr"/>
          <a:lstStyle/>
          <a:p>
            <a:pPr indent="0" marL="0">
              <a:buNone/>
            </a:pPr>
            <a:r>
              <a:rPr lang="en-US" sz="1600" b="1" dirty="0">
                <a:solidFill>
                  <a:schemeClr val="tx2"/>
                </a:solidFill>
              </a:rPr>
              <a:t>Licensing</a:t>
            </a:r>
            <a:endParaRPr lang="en-US" sz="1600" dirty="0"/>
          </a:p>
        </p:txBody>
      </p:sp>
      <p:sp>
        <p:nvSpPr>
          <p:cNvPr id="7" name="Text 4"/>
          <p:cNvSpPr txBox="1"/>
          <p:nvPr/>
        </p:nvSpPr>
        <p:spPr>
          <a:xfrm>
            <a:off x="2926080" y="1280160"/>
            <a:ext cx="5577840" cy="960120"/>
          </a:xfrm>
          <a:prstGeom prst="rect">
            <a:avLst/>
          </a:prstGeom>
          <a:noFill/>
          <a:ln/>
        </p:spPr>
        <p:txBody>
          <a:bodyPr wrap="square" lIns="0" tIns="0" rIns="0" bIns="0" rtlCol="0" anchor="ctr"/>
          <a:lstStyle/>
          <a:p>
            <a:pPr indent="0" marL="0">
              <a:buNone/>
            </a:pPr>
            <a:r>
              <a:rPr lang="en-US" sz="1300" dirty="0">
                <a:solidFill>
                  <a:schemeClr val="tx1"/>
                </a:solidFill>
              </a:rPr>
              <a:t>Agent 365 is licensed per user. Microsoft docs say it became generally available for the commercial segment on 1 May 2026 (earlier access was through the Frontier preview). Confirm current SKU and pricing with our Microsoft partner.</a:t>
            </a:r>
            <a:endParaRPr lang="en-US" sz="1300" dirty="0"/>
          </a:p>
        </p:txBody>
      </p:sp>
      <p:sp>
        <p:nvSpPr>
          <p:cNvPr id="8" name="Prereq row 2"/>
          <p:cNvSpPr/>
          <p:nvPr/>
        </p:nvSpPr>
        <p:spPr>
          <a:xfrm>
            <a:off x="457200" y="2395728"/>
            <a:ext cx="8229600" cy="960120"/>
          </a:xfrm>
          <a:prstGeom prst="roundRect">
            <a:avLst>
              <a:gd name="adj" fmla="val 9524"/>
            </a:avLst>
          </a:prstGeom>
          <a:solidFill>
            <a:schemeClr val="bg2"/>
          </a:solidFill>
          <a:ln/>
        </p:spPr>
      </p:sp>
      <p:sp>
        <p:nvSpPr>
          <p:cNvPr id="9" name="Prereq icon bg 2"/>
          <p:cNvSpPr/>
          <p:nvPr/>
        </p:nvSpPr>
        <p:spPr>
          <a:xfrm>
            <a:off x="658368" y="2624328"/>
            <a:ext cx="502920" cy="502920"/>
          </a:xfrm>
          <a:prstGeom prst="ellipse">
            <a:avLst/>
          </a:prstGeom>
          <a:solidFill>
            <a:schemeClr val="accent3"/>
          </a:solidFill>
          <a:ln/>
        </p:spPr>
      </p:sp>
      <p:pic>
        <p:nvPicPr>
          <p:cNvPr id="10" name="Image 1" descr="Admin roles">    </p:cNvPr>
          <p:cNvPicPr>
            <a:picLocks noChangeAspect="1"/>
          </p:cNvPicPr>
          <p:nvPr/>
        </p:nvPicPr>
        <p:blipFill>
          <a:blip r:embed="rId2"/>
          <a:stretch>
            <a:fillRect/>
          </a:stretch>
        </p:blipFill>
        <p:spPr>
          <a:xfrm>
            <a:off x="768096" y="2734056"/>
            <a:ext cx="283464" cy="283464"/>
          </a:xfrm>
          <a:prstGeom prst="rect">
            <a:avLst/>
          </a:prstGeom>
        </p:spPr>
      </p:pic>
      <p:sp>
        <p:nvSpPr>
          <p:cNvPr id="11" name="Text 7"/>
          <p:cNvSpPr txBox="1"/>
          <p:nvPr/>
        </p:nvSpPr>
        <p:spPr>
          <a:xfrm>
            <a:off x="1371600" y="2395728"/>
            <a:ext cx="1554480" cy="960120"/>
          </a:xfrm>
          <a:prstGeom prst="rect">
            <a:avLst/>
          </a:prstGeom>
          <a:noFill/>
          <a:ln/>
        </p:spPr>
        <p:txBody>
          <a:bodyPr wrap="square" lIns="0" tIns="0" rIns="0" bIns="0" rtlCol="0" anchor="ctr"/>
          <a:lstStyle/>
          <a:p>
            <a:pPr indent="0" marL="0">
              <a:buNone/>
            </a:pPr>
            <a:r>
              <a:rPr lang="en-US" sz="1600" b="1" dirty="0">
                <a:solidFill>
                  <a:schemeClr val="tx2"/>
                </a:solidFill>
              </a:rPr>
              <a:t>Admin roles</a:t>
            </a:r>
            <a:endParaRPr lang="en-US" sz="1600" dirty="0"/>
          </a:p>
        </p:txBody>
      </p:sp>
      <p:sp>
        <p:nvSpPr>
          <p:cNvPr id="12" name="Text 8"/>
          <p:cNvSpPr txBox="1"/>
          <p:nvPr/>
        </p:nvSpPr>
        <p:spPr>
          <a:xfrm>
            <a:off x="2926080" y="2395728"/>
            <a:ext cx="5577840" cy="960120"/>
          </a:xfrm>
          <a:prstGeom prst="rect">
            <a:avLst/>
          </a:prstGeom>
          <a:noFill/>
          <a:ln/>
        </p:spPr>
        <p:txBody>
          <a:bodyPr wrap="square" lIns="0" tIns="0" rIns="0" bIns="0" rtlCol="0" anchor="ctr"/>
          <a:lstStyle/>
          <a:p>
            <a:pPr indent="0" marL="0">
              <a:buNone/>
            </a:pPr>
            <a:r>
              <a:rPr lang="en-US" sz="1300" dirty="0">
                <a:solidFill>
                  <a:schemeClr val="tx1"/>
                </a:solidFill>
              </a:rPr>
              <a:t>Global Administrator or AI Administrator to manage Agent 365 in the admin center; Entra, Purview and Defender roles for their parts.</a:t>
            </a:r>
            <a:endParaRPr lang="en-US" sz="1300" dirty="0"/>
          </a:p>
        </p:txBody>
      </p:sp>
      <p:sp>
        <p:nvSpPr>
          <p:cNvPr id="13" name="Prereq row 3"/>
          <p:cNvSpPr/>
          <p:nvPr/>
        </p:nvSpPr>
        <p:spPr>
          <a:xfrm>
            <a:off x="457200" y="3511296"/>
            <a:ext cx="8229600" cy="960120"/>
          </a:xfrm>
          <a:prstGeom prst="roundRect">
            <a:avLst>
              <a:gd name="adj" fmla="val 9524"/>
            </a:avLst>
          </a:prstGeom>
          <a:solidFill>
            <a:schemeClr val="bg2"/>
          </a:solidFill>
          <a:ln/>
        </p:spPr>
      </p:sp>
      <p:sp>
        <p:nvSpPr>
          <p:cNvPr id="14" name="Prereq icon bg 3"/>
          <p:cNvSpPr/>
          <p:nvPr/>
        </p:nvSpPr>
        <p:spPr>
          <a:xfrm>
            <a:off x="658368" y="3739896"/>
            <a:ext cx="502920" cy="502920"/>
          </a:xfrm>
          <a:prstGeom prst="ellipse">
            <a:avLst/>
          </a:prstGeom>
          <a:solidFill>
            <a:schemeClr val="accent3"/>
          </a:solidFill>
          <a:ln/>
        </p:spPr>
      </p:sp>
      <p:pic>
        <p:nvPicPr>
          <p:cNvPr id="15" name="Image 2" descr="Watch-outs">    </p:cNvPr>
          <p:cNvPicPr>
            <a:picLocks noChangeAspect="1"/>
          </p:cNvPicPr>
          <p:nvPr/>
        </p:nvPicPr>
        <p:blipFill>
          <a:blip r:embed="rId3"/>
          <a:stretch>
            <a:fillRect/>
          </a:stretch>
        </p:blipFill>
        <p:spPr>
          <a:xfrm>
            <a:off x="768096" y="3849624"/>
            <a:ext cx="283464" cy="283464"/>
          </a:xfrm>
          <a:prstGeom prst="rect">
            <a:avLst/>
          </a:prstGeom>
        </p:spPr>
      </p:pic>
      <p:sp>
        <p:nvSpPr>
          <p:cNvPr id="16" name="Text 11"/>
          <p:cNvSpPr txBox="1"/>
          <p:nvPr/>
        </p:nvSpPr>
        <p:spPr>
          <a:xfrm>
            <a:off x="1371600" y="3511296"/>
            <a:ext cx="1554480" cy="960120"/>
          </a:xfrm>
          <a:prstGeom prst="rect">
            <a:avLst/>
          </a:prstGeom>
          <a:noFill/>
          <a:ln/>
        </p:spPr>
        <p:txBody>
          <a:bodyPr wrap="square" lIns="0" tIns="0" rIns="0" bIns="0" rtlCol="0" anchor="ctr"/>
          <a:lstStyle/>
          <a:p>
            <a:pPr indent="0" marL="0">
              <a:buNone/>
            </a:pPr>
            <a:r>
              <a:rPr lang="en-US" sz="1600" b="1" dirty="0">
                <a:solidFill>
                  <a:schemeClr val="tx2"/>
                </a:solidFill>
              </a:rPr>
              <a:t>Watch-outs</a:t>
            </a:r>
            <a:endParaRPr lang="en-US" sz="1600" dirty="0"/>
          </a:p>
        </p:txBody>
      </p:sp>
      <p:sp>
        <p:nvSpPr>
          <p:cNvPr id="17" name="Text 12"/>
          <p:cNvSpPr txBox="1"/>
          <p:nvPr/>
        </p:nvSpPr>
        <p:spPr>
          <a:xfrm>
            <a:off x="2926080" y="3511296"/>
            <a:ext cx="5577840" cy="960120"/>
          </a:xfrm>
          <a:prstGeom prst="rect">
            <a:avLst/>
          </a:prstGeom>
          <a:noFill/>
          <a:ln/>
        </p:spPr>
        <p:txBody>
          <a:bodyPr wrap="square" lIns="0" tIns="0" rIns="0" bIns="0" rtlCol="0" anchor="ctr"/>
          <a:lstStyle/>
          <a:p>
            <a:pPr indent="0" marL="0">
              <a:buNone/>
            </a:pPr>
            <a:r>
              <a:rPr lang="en-US" sz="1300" dirty="0">
                <a:solidFill>
                  <a:schemeClr val="tx1"/>
                </a:solidFill>
              </a:rPr>
              <a:t>The old Entra agent registry and its API were retired in 2026. Re-register any custom agents with the new Agent 365 registration Graph API.</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rPr>
              <a:t>Our roadmap: from visibility to value</a:t>
            </a:r>
            <a:endParaRPr lang="en-US" sz="2800" dirty="0"/>
          </a:p>
        </p:txBody>
      </p:sp>
      <p:sp>
        <p:nvSpPr>
          <p:cNvPr id="3" name="Phase 1"/>
          <p:cNvSpPr/>
          <p:nvPr/>
        </p:nvSpPr>
        <p:spPr>
          <a:xfrm>
            <a:off x="457200" y="1325880"/>
            <a:ext cx="1920240" cy="3200400"/>
          </a:xfrm>
          <a:prstGeom prst="roundRect">
            <a:avLst>
              <a:gd name="adj" fmla="val 5714"/>
            </a:avLst>
          </a:prstGeom>
          <a:solidFill>
            <a:schemeClr val="bg2"/>
          </a:solidFill>
          <a:ln/>
        </p:spPr>
      </p:sp>
      <p:sp>
        <p:nvSpPr>
          <p:cNvPr id="4" name="Phase 1 badge"/>
          <p:cNvSpPr/>
          <p:nvPr/>
        </p:nvSpPr>
        <p:spPr>
          <a:xfrm>
            <a:off x="640080" y="1508760"/>
            <a:ext cx="548640" cy="548640"/>
          </a:xfrm>
          <a:prstGeom prst="ellipse">
            <a:avLst/>
          </a:prstGeom>
          <a:solidFill>
            <a:schemeClr val="accent1"/>
          </a:solidFill>
          <a:ln/>
        </p:spPr>
      </p:sp>
      <p:sp>
        <p:nvSpPr>
          <p:cNvPr id="5" name="Text 3"/>
          <p:cNvSpPr txBox="1"/>
          <p:nvPr/>
        </p:nvSpPr>
        <p:spPr>
          <a:xfrm>
            <a:off x="64008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640080" y="219456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Discover</a:t>
            </a:r>
            <a:endParaRPr lang="en-US" sz="1800" dirty="0"/>
          </a:p>
        </p:txBody>
      </p:sp>
      <p:sp>
        <p:nvSpPr>
          <p:cNvPr id="7" name="Text 5"/>
          <p:cNvSpPr txBox="1"/>
          <p:nvPr/>
        </p:nvSpPr>
        <p:spPr>
          <a:xfrm>
            <a:off x="640080" y="2651760"/>
            <a:ext cx="16459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Review the Overview dashboard</a:t>
            </a:r>
            <a:endParaRPr lang="en-US" sz="1200" dirty="0"/>
          </a:p>
          <a:p>
            <a:pPr marL="342900" indent="-342900">
              <a:spcAft>
                <a:spcPts val="600"/>
              </a:spcAft>
              <a:buSzPct val="100000"/>
              <a:buChar char="•"/>
            </a:pPr>
            <a:r>
              <a:rPr lang="en-US" sz="1200" dirty="0">
                <a:solidFill>
                  <a:schemeClr val="tx1"/>
                </a:solidFill>
              </a:rPr>
              <a:t>Inventory agents in the registry</a:t>
            </a:r>
            <a:endParaRPr lang="en-US" sz="1200" dirty="0"/>
          </a:p>
          <a:p>
            <a:pPr marL="342900" indent="-342900">
              <a:spcAft>
                <a:spcPts val="600"/>
              </a:spcAft>
              <a:buSzPct val="100000"/>
              <a:buChar char="•"/>
            </a:pPr>
            <a:r>
              <a:rPr lang="en-US" sz="1200" dirty="0">
                <a:solidFill>
                  <a:schemeClr val="tx1"/>
                </a:solidFill>
              </a:rPr>
              <a:t>Explore the Agent Map</a:t>
            </a:r>
            <a:endParaRPr lang="en-US" sz="1200" dirty="0"/>
          </a:p>
        </p:txBody>
      </p:sp>
      <p:sp>
        <p:nvSpPr>
          <p:cNvPr id="8" name="Arrow 1"/>
          <p:cNvSpPr/>
          <p:nvPr/>
        </p:nvSpPr>
        <p:spPr>
          <a:xfrm>
            <a:off x="2395728" y="1645920"/>
            <a:ext cx="146304" cy="274320"/>
          </a:xfrm>
          <a:prstGeom prst="chevron">
            <a:avLst/>
          </a:prstGeom>
          <a:solidFill>
            <a:schemeClr val="accent6"/>
          </a:solidFill>
          <a:ln/>
        </p:spPr>
      </p:sp>
      <p:sp>
        <p:nvSpPr>
          <p:cNvPr id="9" name="Phase 2"/>
          <p:cNvSpPr/>
          <p:nvPr/>
        </p:nvSpPr>
        <p:spPr>
          <a:xfrm>
            <a:off x="2560320" y="1325880"/>
            <a:ext cx="1920240" cy="3200400"/>
          </a:xfrm>
          <a:prstGeom prst="roundRect">
            <a:avLst>
              <a:gd name="adj" fmla="val 5714"/>
            </a:avLst>
          </a:prstGeom>
          <a:solidFill>
            <a:schemeClr val="bg2"/>
          </a:solidFill>
          <a:ln/>
        </p:spPr>
      </p:sp>
      <p:sp>
        <p:nvSpPr>
          <p:cNvPr id="10" name="Phase 2 badge"/>
          <p:cNvSpPr/>
          <p:nvPr/>
        </p:nvSpPr>
        <p:spPr>
          <a:xfrm>
            <a:off x="2743200" y="1508760"/>
            <a:ext cx="548640" cy="548640"/>
          </a:xfrm>
          <a:prstGeom prst="ellipse">
            <a:avLst/>
          </a:prstGeom>
          <a:solidFill>
            <a:schemeClr val="accent5"/>
          </a:solidFill>
          <a:ln/>
        </p:spPr>
      </p:sp>
      <p:sp>
        <p:nvSpPr>
          <p:cNvPr id="11" name="Text 9"/>
          <p:cNvSpPr txBox="1"/>
          <p:nvPr/>
        </p:nvSpPr>
        <p:spPr>
          <a:xfrm>
            <a:off x="274320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2743200" y="219456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Govern</a:t>
            </a:r>
            <a:endParaRPr lang="en-US" sz="1800" dirty="0"/>
          </a:p>
        </p:txBody>
      </p:sp>
      <p:sp>
        <p:nvSpPr>
          <p:cNvPr id="13" name="Text 11"/>
          <p:cNvSpPr txBox="1"/>
          <p:nvPr/>
        </p:nvSpPr>
        <p:spPr>
          <a:xfrm>
            <a:off x="2743200" y="2651760"/>
            <a:ext cx="16459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Assign owners to ownerless agents</a:t>
            </a:r>
            <a:endParaRPr lang="en-US" sz="1200" dirty="0"/>
          </a:p>
          <a:p>
            <a:pPr marL="342900" indent="-342900">
              <a:spcAft>
                <a:spcPts val="600"/>
              </a:spcAft>
              <a:buSzPct val="100000"/>
              <a:buChar char="•"/>
            </a:pPr>
            <a:r>
              <a:rPr lang="en-US" sz="1200" dirty="0">
                <a:solidFill>
                  <a:schemeClr val="tx1"/>
                </a:solidFill>
              </a:rPr>
              <a:t>Set the approve / publish process</a:t>
            </a:r>
            <a:endParaRPr lang="en-US" sz="1200" dirty="0"/>
          </a:p>
          <a:p>
            <a:pPr marL="342900" indent="-342900">
              <a:spcAft>
                <a:spcPts val="600"/>
              </a:spcAft>
              <a:buSzPct val="100000"/>
              <a:buChar char="•"/>
            </a:pPr>
            <a:r>
              <a:rPr lang="en-US" sz="1200" dirty="0">
                <a:solidFill>
                  <a:schemeClr val="tx1"/>
                </a:solidFill>
              </a:rPr>
              <a:t>Turn on Entra Agent ID controls</a:t>
            </a:r>
            <a:endParaRPr lang="en-US" sz="1200" dirty="0"/>
          </a:p>
        </p:txBody>
      </p:sp>
      <p:sp>
        <p:nvSpPr>
          <p:cNvPr id="14" name="Arrow 2"/>
          <p:cNvSpPr/>
          <p:nvPr/>
        </p:nvSpPr>
        <p:spPr>
          <a:xfrm>
            <a:off x="4498848" y="1645920"/>
            <a:ext cx="146304" cy="274320"/>
          </a:xfrm>
          <a:prstGeom prst="chevron">
            <a:avLst/>
          </a:prstGeom>
          <a:solidFill>
            <a:schemeClr val="accent6"/>
          </a:solidFill>
          <a:ln/>
        </p:spPr>
      </p:sp>
      <p:sp>
        <p:nvSpPr>
          <p:cNvPr id="15" name="Phase 3"/>
          <p:cNvSpPr/>
          <p:nvPr/>
        </p:nvSpPr>
        <p:spPr>
          <a:xfrm>
            <a:off x="4663440" y="1325880"/>
            <a:ext cx="1920240" cy="3200400"/>
          </a:xfrm>
          <a:prstGeom prst="roundRect">
            <a:avLst>
              <a:gd name="adj" fmla="val 5714"/>
            </a:avLst>
          </a:prstGeom>
          <a:solidFill>
            <a:schemeClr val="bg2"/>
          </a:solidFill>
          <a:ln/>
        </p:spPr>
      </p:sp>
      <p:sp>
        <p:nvSpPr>
          <p:cNvPr id="16" name="Phase 3 badge"/>
          <p:cNvSpPr/>
          <p:nvPr/>
        </p:nvSpPr>
        <p:spPr>
          <a:xfrm>
            <a:off x="4846320" y="1508760"/>
            <a:ext cx="548640" cy="548640"/>
          </a:xfrm>
          <a:prstGeom prst="ellipse">
            <a:avLst/>
          </a:prstGeom>
          <a:solidFill>
            <a:schemeClr val="accent4"/>
          </a:solidFill>
          <a:ln/>
        </p:spPr>
      </p:sp>
      <p:sp>
        <p:nvSpPr>
          <p:cNvPr id="17" name="Text 15"/>
          <p:cNvSpPr txBox="1"/>
          <p:nvPr/>
        </p:nvSpPr>
        <p:spPr>
          <a:xfrm>
            <a:off x="484632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4846320" y="219456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Protect</a:t>
            </a:r>
            <a:endParaRPr lang="en-US" sz="1800" dirty="0"/>
          </a:p>
        </p:txBody>
      </p:sp>
      <p:sp>
        <p:nvSpPr>
          <p:cNvPr id="19" name="Text 17"/>
          <p:cNvSpPr txBox="1"/>
          <p:nvPr/>
        </p:nvSpPr>
        <p:spPr>
          <a:xfrm>
            <a:off x="4846320" y="2651760"/>
            <a:ext cx="16459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Extend Purview labels, DLP and audit</a:t>
            </a:r>
            <a:endParaRPr lang="en-US" sz="1200" dirty="0"/>
          </a:p>
          <a:p>
            <a:pPr marL="342900" indent="-342900">
              <a:spcAft>
                <a:spcPts val="600"/>
              </a:spcAft>
              <a:buSzPct val="100000"/>
              <a:buChar char="•"/>
            </a:pPr>
            <a:r>
              <a:rPr lang="en-US" sz="1200" dirty="0">
                <a:solidFill>
                  <a:schemeClr val="tx1"/>
                </a:solidFill>
              </a:rPr>
              <a:t>Enable Defender for agents</a:t>
            </a:r>
            <a:endParaRPr lang="en-US" sz="1200" dirty="0"/>
          </a:p>
          <a:p>
            <a:pPr marL="342900" indent="-342900">
              <a:spcAft>
                <a:spcPts val="600"/>
              </a:spcAft>
              <a:buSzPct val="100000"/>
              <a:buChar char="•"/>
            </a:pPr>
            <a:r>
              <a:rPr lang="en-US" sz="1200" dirty="0">
                <a:solidFill>
                  <a:schemeClr val="tx1"/>
                </a:solidFill>
              </a:rPr>
              <a:t>Add agents to SOC playbooks</a:t>
            </a:r>
            <a:endParaRPr lang="en-US" sz="1200" dirty="0"/>
          </a:p>
        </p:txBody>
      </p:sp>
      <p:sp>
        <p:nvSpPr>
          <p:cNvPr id="20" name="Arrow 3"/>
          <p:cNvSpPr/>
          <p:nvPr/>
        </p:nvSpPr>
        <p:spPr>
          <a:xfrm>
            <a:off x="6601968" y="1645920"/>
            <a:ext cx="146304" cy="274320"/>
          </a:xfrm>
          <a:prstGeom prst="chevron">
            <a:avLst/>
          </a:prstGeom>
          <a:solidFill>
            <a:schemeClr val="accent6"/>
          </a:solidFill>
          <a:ln/>
        </p:spPr>
      </p:sp>
      <p:sp>
        <p:nvSpPr>
          <p:cNvPr id="21" name="Phase 4"/>
          <p:cNvSpPr/>
          <p:nvPr/>
        </p:nvSpPr>
        <p:spPr>
          <a:xfrm>
            <a:off x="6766560" y="1325880"/>
            <a:ext cx="1920240" cy="3200400"/>
          </a:xfrm>
          <a:prstGeom prst="roundRect">
            <a:avLst>
              <a:gd name="adj" fmla="val 5714"/>
            </a:avLst>
          </a:prstGeom>
          <a:solidFill>
            <a:schemeClr val="bg2"/>
          </a:solidFill>
          <a:ln/>
        </p:spPr>
      </p:sp>
      <p:sp>
        <p:nvSpPr>
          <p:cNvPr id="22" name="Phase 4 badge"/>
          <p:cNvSpPr/>
          <p:nvPr/>
        </p:nvSpPr>
        <p:spPr>
          <a:xfrm>
            <a:off x="6949440" y="1508760"/>
            <a:ext cx="548640" cy="548640"/>
          </a:xfrm>
          <a:prstGeom prst="ellipse">
            <a:avLst/>
          </a:prstGeom>
          <a:solidFill>
            <a:schemeClr val="accent2"/>
          </a:solidFill>
          <a:ln/>
        </p:spPr>
      </p:sp>
      <p:sp>
        <p:nvSpPr>
          <p:cNvPr id="23" name="Text 21"/>
          <p:cNvSpPr txBox="1"/>
          <p:nvPr/>
        </p:nvSpPr>
        <p:spPr>
          <a:xfrm>
            <a:off x="694944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22"/>
          <p:cNvSpPr txBox="1"/>
          <p:nvPr/>
        </p:nvSpPr>
        <p:spPr>
          <a:xfrm>
            <a:off x="6949440" y="2194560"/>
            <a:ext cx="1645920" cy="365760"/>
          </a:xfrm>
          <a:prstGeom prst="rect">
            <a:avLst/>
          </a:prstGeom>
          <a:noFill/>
          <a:ln/>
        </p:spPr>
        <p:txBody>
          <a:bodyPr wrap="square" lIns="0" tIns="0" rIns="0" bIns="0" rtlCol="0" anchor="ctr"/>
          <a:lstStyle/>
          <a:p>
            <a:pPr indent="0" marL="0">
              <a:buNone/>
            </a:pPr>
            <a:r>
              <a:rPr lang="en-US" sz="1800" b="1" dirty="0">
                <a:solidFill>
                  <a:schemeClr val="tx2"/>
                </a:solidFill>
              </a:rPr>
              <a:t>Optimise</a:t>
            </a:r>
            <a:endParaRPr lang="en-US" sz="1800" dirty="0"/>
          </a:p>
        </p:txBody>
      </p:sp>
      <p:sp>
        <p:nvSpPr>
          <p:cNvPr id="25" name="Text 23"/>
          <p:cNvSpPr txBox="1"/>
          <p:nvPr/>
        </p:nvSpPr>
        <p:spPr>
          <a:xfrm>
            <a:off x="6949440" y="2651760"/>
            <a:ext cx="16459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Track usage and errors</a:t>
            </a:r>
            <a:endParaRPr lang="en-US" sz="1200" dirty="0"/>
          </a:p>
          <a:p>
            <a:pPr marL="342900" indent="-342900">
              <a:spcAft>
                <a:spcPts val="600"/>
              </a:spcAft>
              <a:buSzPct val="100000"/>
              <a:buChar char="•"/>
            </a:pPr>
            <a:r>
              <a:rPr lang="en-US" sz="1200" dirty="0">
                <a:solidFill>
                  <a:schemeClr val="tx1"/>
                </a:solidFill>
              </a:rPr>
              <a:t>Retire unused agents</a:t>
            </a:r>
            <a:endParaRPr lang="en-US" sz="1200" dirty="0"/>
          </a:p>
          <a:p>
            <a:pPr marL="342900" indent="-342900">
              <a:spcAft>
                <a:spcPts val="600"/>
              </a:spcAft>
              <a:buSzPct val="100000"/>
              <a:buChar char="•"/>
            </a:pPr>
            <a:r>
              <a:rPr lang="en-US" sz="1200" dirty="0">
                <a:solidFill>
                  <a:schemeClr val="tx1"/>
                </a:solidFill>
              </a:rPr>
              <a:t>Build with the SDK and MCP tools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Deco circle large"/>
          <p:cNvSpPr/>
          <p:nvPr/>
        </p:nvSpPr>
        <p:spPr>
          <a:xfrm>
            <a:off x="6492240" y="-1097280"/>
            <a:ext cx="3840480" cy="3840480"/>
          </a:xfrm>
          <a:prstGeom prst="ellipse">
            <a:avLst/>
          </a:prstGeom>
          <a:solidFill>
            <a:schemeClr val="accent1">
              <a:alpha val="45000"/>
            </a:schemeClr>
          </a:solidFill>
          <a:ln/>
        </p:spPr>
      </p:sp>
      <p:sp>
        <p:nvSpPr>
          <p:cNvPr id="3" name="Deco circle small"/>
          <p:cNvSpPr/>
          <p:nvPr/>
        </p:nvSpPr>
        <p:spPr>
          <a:xfrm>
            <a:off x="7589520" y="3291840"/>
            <a:ext cx="2011680" cy="2011680"/>
          </a:xfrm>
          <a:prstGeom prst="ellipse">
            <a:avLst/>
          </a:prstGeom>
          <a:solidFill>
            <a:schemeClr val="accent2">
              <a:alpha val="50000"/>
            </a:schemeClr>
          </a:solidFill>
          <a:ln/>
        </p:spPr>
      </p:sp>
      <p:sp>
        <p:nvSpPr>
          <p:cNvPr id="4" name="Text 0"/>
          <p:cNvSpPr/>
          <p:nvPr>
            <p:ph idx="100" type="title" hasCustomPrompt="1"/>
          </p:nvPr>
        </p:nvSpPr>
        <p:spPr>
          <a:xfrm>
            <a:off x="548640" y="1417320"/>
            <a:ext cx="7680960" cy="1371600"/>
          </a:xfrm>
          <a:prstGeom prst="rect">
            <a:avLst/>
          </a:prstGeom>
          <a:noFill/>
          <a:ln/>
        </p:spPr>
        <p:txBody>
          <a:bodyPr wrap="square" lIns="0" tIns="0" rIns="0" bIns="0" rtlCol="0" anchor="b"/>
          <a:lstStyle/>
          <a:p>
            <a:pPr algn="l" indent="0" marL="0">
              <a:buNone/>
            </a:pPr>
            <a:r>
              <a:rPr lang="en-US" sz="4000" b="1" dirty="0">
                <a:solidFill>
                  <a:schemeClr val="bg1"/>
                </a:solidFill>
              </a:rPr>
              <a:t>What we will achieve</a:t>
            </a:r>
            <a:endParaRPr lang="en-US" sz="4000" dirty="0"/>
          </a:p>
        </p:txBody>
      </p:sp>
      <p:sp>
        <p:nvSpPr>
          <p:cNvPr id="5" name="Text 0"/>
          <p:cNvSpPr/>
          <p:nvPr>
            <p:ph idx="101" type="body" hasCustomPrompt="1"/>
          </p:nvPr>
        </p:nvSpPr>
        <p:spPr>
          <a:xfrm>
            <a:off x="548640" y="2926080"/>
            <a:ext cx="7680960" cy="822960"/>
          </a:xfrm>
          <a:prstGeom prst="rect">
            <a:avLst/>
          </a:prstGeom>
          <a:noFill/>
          <a:ln/>
        </p:spPr>
        <p:txBody>
          <a:bodyPr wrap="square" lIns="0" tIns="0" rIns="0" bIns="0" rtlCol="0" anchor="t"/>
          <a:lstStyle/>
          <a:p>
            <a:pPr algn="l" indent="0" marL="0">
              <a:buNone/>
            </a:pPr>
            <a:r>
              <a:rPr lang="en-US" sz="1800" dirty="0">
                <a:solidFill>
                  <a:schemeClr val="bg2"/>
                </a:solidFill>
              </a:rPr>
              <a:t>See every agent  •  Control who builds, uses and owns them  •  Protect our data  •  Prove their value</a:t>
            </a:r>
            <a:endParaRPr lang="en-US" sz="1800" dirty="0"/>
          </a:p>
        </p:txBody>
      </p:sp>
      <p:sp>
        <p:nvSpPr>
          <p:cNvPr id="6" name="Text 4"/>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600" b="1" dirty="0">
                <a:solidFill>
                  <a:schemeClr val="accent2"/>
                </a:solidFill>
              </a:rPr>
              <a:t>Questions &amp; discussion</a:t>
            </a:r>
            <a:endParaRPr lang="en-US" sz="1600" dirty="0"/>
          </a:p>
        </p:txBody>
      </p:sp>
    </p:spTree>
  </p:cSld>
  <p:clrMapOvr>
    <a:masterClrMapping/>
  </p:clrMapOvr>
</p:sld>
</file>

<file path=ppt/theme/theme1.xml><?xml version="1.0" encoding="utf-8"?>
<a:theme xmlns:a="http://schemas.openxmlformats.org/drawingml/2006/main" name="Agent 365">
  <a:themeElements>
    <a:clrScheme name="Agent 365">
      <a:dk1>
        <a:srgbClr val="1A1530"/>
      </a:dk1>
      <a:lt1>
        <a:srgbClr val="FFFFFF"/>
      </a:lt1>
      <a:dk2>
        <a:srgbClr val="221A4D"/>
      </a:dk2>
      <a:lt2>
        <a:srgbClr val="F1EEFF"/>
      </a:lt2>
      <a:accent1>
        <a:srgbClr val="6D4AFF"/>
      </a:accent1>
      <a:accent2>
        <a:srgbClr val="12B5A6"/>
      </a:accent2>
      <a:accent3>
        <a:srgbClr val="F2A93B"/>
      </a:accent3>
      <a:accent4>
        <a:srgbClr val="E2557A"/>
      </a:accent4>
      <a:accent5>
        <a:srgbClr val="3A86FF"/>
      </a:accent5>
      <a:accent6>
        <a:srgbClr val="8A84A8"/>
      </a:accent6>
      <a:hlink>
        <a:srgbClr val="6D4AFF"/>
      </a:hlink>
      <a:folHlink>
        <a:srgbClr val="8A84A8"/>
      </a:folHlink>
    </a:clrScheme>
    <a:fontScheme name="Agent 365">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Agent 365 – What we will achieve</dc:title>
  <dc:subject>PptxGenJS Presentation</dc:subject>
  <dc:creator>IT / Modern Workplace</dc:creator>
  <cp:lastModifiedBy>IT / Modern Workplace</cp:lastModifiedBy>
  <cp:revision>1</cp:revision>
  <dcterms:created xsi:type="dcterms:W3CDTF">2026-10-09T04:19:01Z</dcterms:created>
  <dcterms:modified xsi:type="dcterms:W3CDTF">2026-10-09T04:19:01Z</dcterms:modified>
</cp:coreProperties>
</file>